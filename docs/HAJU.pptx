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 bookmarkIdSeed="2">
  <p:sldMasterIdLst>
    <p:sldMasterId id="2147484049" r:id="rId1"/>
  </p:sldMasterIdLst>
  <p:notesMasterIdLst>
    <p:notesMasterId r:id="rId38"/>
  </p:notesMasterIdLst>
  <p:sldIdLst>
    <p:sldId id="266" r:id="rId2"/>
    <p:sldId id="267" r:id="rId3"/>
    <p:sldId id="257" r:id="rId4"/>
    <p:sldId id="258" r:id="rId5"/>
    <p:sldId id="264" r:id="rId6"/>
    <p:sldId id="259" r:id="rId7"/>
    <p:sldId id="260" r:id="rId8"/>
    <p:sldId id="261" r:id="rId9"/>
    <p:sldId id="262" r:id="rId10"/>
    <p:sldId id="263" r:id="rId11"/>
    <p:sldId id="317" r:id="rId12"/>
    <p:sldId id="313" r:id="rId13"/>
    <p:sldId id="315" r:id="rId14"/>
    <p:sldId id="319" r:id="rId15"/>
    <p:sldId id="318" r:id="rId16"/>
    <p:sldId id="269" r:id="rId17"/>
    <p:sldId id="329" r:id="rId18"/>
    <p:sldId id="330" r:id="rId19"/>
    <p:sldId id="331" r:id="rId20"/>
    <p:sldId id="332" r:id="rId21"/>
    <p:sldId id="328" r:id="rId22"/>
    <p:sldId id="270" r:id="rId23"/>
    <p:sldId id="271" r:id="rId24"/>
    <p:sldId id="272" r:id="rId25"/>
    <p:sldId id="321" r:id="rId26"/>
    <p:sldId id="273" r:id="rId27"/>
    <p:sldId id="320" r:id="rId28"/>
    <p:sldId id="275" r:id="rId29"/>
    <p:sldId id="322" r:id="rId30"/>
    <p:sldId id="277" r:id="rId31"/>
    <p:sldId id="323" r:id="rId32"/>
    <p:sldId id="325" r:id="rId33"/>
    <p:sldId id="324" r:id="rId34"/>
    <p:sldId id="326" r:id="rId35"/>
    <p:sldId id="327" r:id="rId36"/>
    <p:sldId id="289" r:id="rId37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FFFF"/>
    <a:srgbClr val="4472C4"/>
    <a:srgbClr val="3D3DFF"/>
    <a:srgbClr val="6666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10" y="60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Resultados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81F-4473-B971-5655F37ED1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81F-4473-B971-5655F37ED16E}"/>
              </c:ext>
            </c:extLst>
          </c:dPt>
          <c:dPt>
            <c:idx val="2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81F-4473-B971-5655F37ED16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81F-4473-B971-5655F37ED16E}"/>
              </c:ext>
            </c:extLst>
          </c:dPt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5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1F-4473-B971-5655F37ED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Resultados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81F-4473-B971-5655F37ED1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81F-4473-B971-5655F37ED16E}"/>
              </c:ext>
            </c:extLst>
          </c:dPt>
          <c:dPt>
            <c:idx val="2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81F-4473-B971-5655F37ED16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81F-4473-B971-5655F37ED16E}"/>
              </c:ext>
            </c:extLst>
          </c:dPt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1F-4473-B971-5655F37ED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Resultados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81F-4473-B971-5655F37ED1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81F-4473-B971-5655F37ED16E}"/>
              </c:ext>
            </c:extLst>
          </c:dPt>
          <c:dPt>
            <c:idx val="2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81F-4473-B971-5655F37ED16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81F-4473-B971-5655F37ED16E}"/>
              </c:ext>
            </c:extLst>
          </c:dPt>
          <c:cat>
            <c:strRef>
              <c:f>Hoja1!$A$2:$A$5</c:f>
              <c:strCache>
                <c:ptCount val="4"/>
                <c:pt idx="0">
                  <c:v>Agilizando el proceso de registro</c:v>
                </c:pt>
                <c:pt idx="1">
                  <c:v>Reduciendo errores de datos</c:v>
                </c:pt>
                <c:pt idx="2">
                  <c:v>Facilitando acceso a la información</c:v>
                </c:pt>
                <c:pt idx="3">
                  <c:v>Otros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1F-4473-B971-5655F37ED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Resultados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81F-4473-B971-5655F37ED1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81F-4473-B971-5655F37ED16E}"/>
              </c:ext>
            </c:extLst>
          </c:dPt>
          <c:dPt>
            <c:idx val="2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81F-4473-B971-5655F37ED16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81F-4473-B971-5655F37ED16E}"/>
              </c:ext>
            </c:extLst>
          </c:dPt>
          <c:cat>
            <c:strRef>
              <c:f>Hoja1!$A$2:$A$5</c:f>
              <c:strCache>
                <c:ptCount val="4"/>
                <c:pt idx="0">
                  <c:v>Generación de reportes</c:v>
                </c:pt>
                <c:pt idx="1">
                  <c:v>Seguridad y confidencialidad</c:v>
                </c:pt>
                <c:pt idx="2">
                  <c:v>Interfaz amigable e intuitiva</c:v>
                </c:pt>
                <c:pt idx="3">
                  <c:v>Otros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0</c:v>
                </c:pt>
                <c:pt idx="1">
                  <c:v>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1F-4473-B971-5655F37ED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Resultados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81F-4473-B971-5655F37ED1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81F-4473-B971-5655F37ED16E}"/>
              </c:ext>
            </c:extLst>
          </c:dPt>
          <c:dPt>
            <c:idx val="2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81F-4473-B971-5655F37ED16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81F-4473-B971-5655F37ED16E}"/>
              </c:ext>
            </c:extLst>
          </c:dPt>
          <c:cat>
            <c:strRef>
              <c:f>Hoja1!$A$2:$A$5</c:f>
              <c:strCache>
                <c:ptCount val="4"/>
                <c:pt idx="0">
                  <c:v>Falta de tiempo para registrar</c:v>
                </c:pt>
                <c:pt idx="1">
                  <c:v>Dificultad para acceder a la información</c:v>
                </c:pt>
                <c:pt idx="2">
                  <c:v>Errores humanos en el proceso de registro</c:v>
                </c:pt>
                <c:pt idx="3">
                  <c:v>Otros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1F-4473-B971-5655F37ED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Resultados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81F-4473-B971-5655F37ED1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81F-4473-B971-5655F37ED16E}"/>
              </c:ext>
            </c:extLst>
          </c:dPt>
          <c:dPt>
            <c:idx val="2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81F-4473-B971-5655F37ED16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81F-4473-B971-5655F37ED16E}"/>
              </c:ext>
            </c:extLst>
          </c:dPt>
          <c:cat>
            <c:strRef>
              <c:f>Hoja1!$A$2:$A$5</c:f>
              <c:strCache>
                <c:ptCount val="4"/>
                <c:pt idx="0">
                  <c:v>Resistencia al cambio por parte del personal</c:v>
                </c:pt>
                <c:pt idx="1">
                  <c:v>Posible pérdida de información durante la transición</c:v>
                </c:pt>
                <c:pt idx="2">
                  <c:v>Costos asociados a la implementación y mantenimiento del sistema</c:v>
                </c:pt>
                <c:pt idx="3">
                  <c:v>Otros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1F-4473-B971-5655F37ED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image" Target="../media/image30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371BF9-293C-417B-BC32-25AE982DB9EB}" type="doc">
      <dgm:prSet loTypeId="urn:microsoft.com/office/officeart/2008/layout/VerticalCurvedLis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4E1CDB4B-897C-4CBA-BBF7-21D79BF9DF97}">
      <dgm:prSet phldrT="[Texto]"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Capitulo I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9956E974-564D-42D0-B7ED-CA347621395C}" type="parTrans" cxnId="{8A914E92-B401-40E2-9950-E2CEE87C3381}">
      <dgm:prSet/>
      <dgm:spPr/>
      <dgm:t>
        <a:bodyPr/>
        <a:lstStyle/>
        <a:p>
          <a:endParaRPr lang="es-CO" b="1"/>
        </a:p>
      </dgm:t>
    </dgm:pt>
    <dgm:pt modelId="{DA605615-5BD3-4FB2-B9EF-FBFDBA37E5FB}" type="sibTrans" cxnId="{8A914E92-B401-40E2-9950-E2CEE87C3381}">
      <dgm:prSet/>
      <dgm:spPr/>
      <dgm:t>
        <a:bodyPr/>
        <a:lstStyle/>
        <a:p>
          <a:endParaRPr lang="es-CO" b="1"/>
        </a:p>
      </dgm:t>
    </dgm:pt>
    <dgm:pt modelId="{4B36FF9C-4119-47C8-918F-E100DA95980E}">
      <dgm:prSet phldrT="[Texto]"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Capitulo II</a:t>
          </a:r>
        </a:p>
      </dgm:t>
    </dgm:pt>
    <dgm:pt modelId="{01F84601-58BB-41C8-B5E5-BBDE8BD4F400}" type="parTrans" cxnId="{E2005654-CBD6-4F95-B404-227D7777DE34}">
      <dgm:prSet/>
      <dgm:spPr/>
      <dgm:t>
        <a:bodyPr/>
        <a:lstStyle/>
        <a:p>
          <a:endParaRPr lang="es-CO" b="1"/>
        </a:p>
      </dgm:t>
    </dgm:pt>
    <dgm:pt modelId="{94FBAA82-C779-43BF-A4D0-83CF1FC1EF91}" type="sibTrans" cxnId="{E2005654-CBD6-4F95-B404-227D7777DE34}">
      <dgm:prSet/>
      <dgm:spPr/>
      <dgm:t>
        <a:bodyPr/>
        <a:lstStyle/>
        <a:p>
          <a:endParaRPr lang="es-CO" b="1"/>
        </a:p>
      </dgm:t>
    </dgm:pt>
    <dgm:pt modelId="{150DF58C-EB77-48B2-AFAF-FB94B4D0322C}">
      <dgm:prSet phldrT="[Texto]"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Antecedentes Teóricos Y Tecnológicos</a:t>
          </a:r>
        </a:p>
      </dgm:t>
    </dgm:pt>
    <dgm:pt modelId="{B2397D5C-747A-454A-AE4E-E39AED0CAF67}" type="parTrans" cxnId="{D9B91FC4-F9F7-4214-94FB-72DFBED905E5}">
      <dgm:prSet/>
      <dgm:spPr/>
      <dgm:t>
        <a:bodyPr/>
        <a:lstStyle/>
        <a:p>
          <a:endParaRPr lang="es-CO" b="1"/>
        </a:p>
      </dgm:t>
    </dgm:pt>
    <dgm:pt modelId="{CF447EB6-541E-4C84-A53C-EFB1A2E5B9EA}" type="sibTrans" cxnId="{D9B91FC4-F9F7-4214-94FB-72DFBED905E5}">
      <dgm:prSet/>
      <dgm:spPr/>
      <dgm:t>
        <a:bodyPr/>
        <a:lstStyle/>
        <a:p>
          <a:endParaRPr lang="es-CO" b="1"/>
        </a:p>
      </dgm:t>
    </dgm:pt>
    <dgm:pt modelId="{759FA673-3391-4621-92D3-D1AC9DBC67D0}">
      <dgm:prSet phldrT="[Texto]"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Capitulo III</a:t>
          </a:r>
        </a:p>
      </dgm:t>
    </dgm:pt>
    <dgm:pt modelId="{056B4548-9143-41BB-AAB6-C34B68B8CFE7}" type="parTrans" cxnId="{E4E57B1B-6A5F-4C67-B256-CCD1E48646DE}">
      <dgm:prSet/>
      <dgm:spPr/>
      <dgm:t>
        <a:bodyPr/>
        <a:lstStyle/>
        <a:p>
          <a:endParaRPr lang="es-CO" b="1"/>
        </a:p>
      </dgm:t>
    </dgm:pt>
    <dgm:pt modelId="{CB2F2213-C18F-4027-A5AC-14BD1B9EEEF9}" type="sibTrans" cxnId="{E4E57B1B-6A5F-4C67-B256-CCD1E48646DE}">
      <dgm:prSet/>
      <dgm:spPr/>
      <dgm:t>
        <a:bodyPr/>
        <a:lstStyle/>
        <a:p>
          <a:endParaRPr lang="es-CO" b="1"/>
        </a:p>
      </dgm:t>
    </dgm:pt>
    <dgm:pt modelId="{2AC48812-B332-4AA4-A9CD-84E4B61E7DC3}">
      <dgm:prSet phldrT="[Texto]"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Metodología De Investigación</a:t>
          </a:r>
        </a:p>
      </dgm:t>
    </dgm:pt>
    <dgm:pt modelId="{0D6BE546-ED73-44B7-851B-1379BD5A6673}" type="parTrans" cxnId="{CD6C68D8-AD28-4D64-9545-5C1647037912}">
      <dgm:prSet/>
      <dgm:spPr/>
      <dgm:t>
        <a:bodyPr/>
        <a:lstStyle/>
        <a:p>
          <a:endParaRPr lang="es-CO" b="1"/>
        </a:p>
      </dgm:t>
    </dgm:pt>
    <dgm:pt modelId="{502D2460-D858-4912-9E89-43E6836AB1CA}" type="sibTrans" cxnId="{CD6C68D8-AD28-4D64-9545-5C1647037912}">
      <dgm:prSet/>
      <dgm:spPr/>
      <dgm:t>
        <a:bodyPr/>
        <a:lstStyle/>
        <a:p>
          <a:endParaRPr lang="es-CO" b="1"/>
        </a:p>
      </dgm:t>
    </dgm:pt>
    <dgm:pt modelId="{93A4523A-1F3B-4B2D-B2E8-83463E1F2BE3}">
      <dgm:prSet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Capitulo IV</a:t>
          </a:r>
        </a:p>
      </dgm:t>
    </dgm:pt>
    <dgm:pt modelId="{4E91B7E8-85AE-49C8-8FDF-4C236BCC2553}" type="parTrans" cxnId="{E75628BF-7DF1-45F5-AD3F-B39D5F9CFE5B}">
      <dgm:prSet/>
      <dgm:spPr/>
      <dgm:t>
        <a:bodyPr/>
        <a:lstStyle/>
        <a:p>
          <a:endParaRPr lang="es-CO" b="1"/>
        </a:p>
      </dgm:t>
    </dgm:pt>
    <dgm:pt modelId="{EC550A80-BBC0-4BFF-9F3C-43CC74092E08}" type="sibTrans" cxnId="{E75628BF-7DF1-45F5-AD3F-B39D5F9CFE5B}">
      <dgm:prSet/>
      <dgm:spPr/>
      <dgm:t>
        <a:bodyPr/>
        <a:lstStyle/>
        <a:p>
          <a:endParaRPr lang="es-CO" b="1"/>
        </a:p>
      </dgm:t>
    </dgm:pt>
    <dgm:pt modelId="{7DD03660-CB70-4A2B-A760-2FAD9D54E59D}">
      <dgm:prSet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Cuantificación De Resultados</a:t>
          </a:r>
        </a:p>
      </dgm:t>
    </dgm:pt>
    <dgm:pt modelId="{92491C90-F684-443C-B81E-3E79C9682464}" type="parTrans" cxnId="{3FFE6902-4036-4F16-80AD-BB9613F4C8AA}">
      <dgm:prSet/>
      <dgm:spPr/>
      <dgm:t>
        <a:bodyPr/>
        <a:lstStyle/>
        <a:p>
          <a:endParaRPr lang="es-CO" b="1"/>
        </a:p>
      </dgm:t>
    </dgm:pt>
    <dgm:pt modelId="{6472E7E4-4498-4997-B21B-D0676E842665}" type="sibTrans" cxnId="{3FFE6902-4036-4F16-80AD-BB9613F4C8AA}">
      <dgm:prSet/>
      <dgm:spPr/>
      <dgm:t>
        <a:bodyPr/>
        <a:lstStyle/>
        <a:p>
          <a:endParaRPr lang="es-CO" b="1"/>
        </a:p>
      </dgm:t>
    </dgm:pt>
    <dgm:pt modelId="{9323C10D-1A91-4582-A844-9C33C5560978}">
      <dgm:prSet phldrT="[Texto]"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Identificación De La Comunidad</a:t>
          </a:r>
        </a:p>
      </dgm:t>
    </dgm:pt>
    <dgm:pt modelId="{37CAAADD-3B04-4452-9264-F97B61DB75EB}" type="sibTrans" cxnId="{6520E2EA-0D79-4BEB-9BBA-93BE8DE740F8}">
      <dgm:prSet/>
      <dgm:spPr/>
      <dgm:t>
        <a:bodyPr/>
        <a:lstStyle/>
        <a:p>
          <a:endParaRPr lang="es-CO" b="1"/>
        </a:p>
      </dgm:t>
    </dgm:pt>
    <dgm:pt modelId="{11202E35-880C-48D8-8969-A2B8DFA7418B}" type="parTrans" cxnId="{6520E2EA-0D79-4BEB-9BBA-93BE8DE740F8}">
      <dgm:prSet/>
      <dgm:spPr/>
      <dgm:t>
        <a:bodyPr/>
        <a:lstStyle/>
        <a:p>
          <a:endParaRPr lang="es-CO" b="1"/>
        </a:p>
      </dgm:t>
    </dgm:pt>
    <dgm:pt modelId="{5B09AA99-A1E9-455B-9420-E0C03D0685CF}" type="pres">
      <dgm:prSet presAssocID="{38371BF9-293C-417B-BC32-25AE982DB9EB}" presName="Name0" presStyleCnt="0">
        <dgm:presLayoutVars>
          <dgm:chMax val="7"/>
          <dgm:chPref val="7"/>
          <dgm:dir/>
        </dgm:presLayoutVars>
      </dgm:prSet>
      <dgm:spPr/>
    </dgm:pt>
    <dgm:pt modelId="{24B528C2-BB67-4FCF-AB82-1C850DAE9127}" type="pres">
      <dgm:prSet presAssocID="{38371BF9-293C-417B-BC32-25AE982DB9EB}" presName="Name1" presStyleCnt="0"/>
      <dgm:spPr/>
    </dgm:pt>
    <dgm:pt modelId="{207C25DE-C392-4F79-BAFC-65A41590EF66}" type="pres">
      <dgm:prSet presAssocID="{38371BF9-293C-417B-BC32-25AE982DB9EB}" presName="cycle" presStyleCnt="0"/>
      <dgm:spPr/>
    </dgm:pt>
    <dgm:pt modelId="{1D754B4B-9B25-4BB8-83AA-B433E9C97CE9}" type="pres">
      <dgm:prSet presAssocID="{38371BF9-293C-417B-BC32-25AE982DB9EB}" presName="srcNode" presStyleLbl="node1" presStyleIdx="0" presStyleCnt="4"/>
      <dgm:spPr/>
    </dgm:pt>
    <dgm:pt modelId="{7B70BAB9-F192-4ABF-8DE3-0A7249B783BA}" type="pres">
      <dgm:prSet presAssocID="{38371BF9-293C-417B-BC32-25AE982DB9EB}" presName="conn" presStyleLbl="parChTrans1D2" presStyleIdx="0" presStyleCnt="1"/>
      <dgm:spPr/>
    </dgm:pt>
    <dgm:pt modelId="{EDB4695E-477D-4ECF-BF4D-BCD7455DC6E8}" type="pres">
      <dgm:prSet presAssocID="{38371BF9-293C-417B-BC32-25AE982DB9EB}" presName="extraNode" presStyleLbl="node1" presStyleIdx="0" presStyleCnt="4"/>
      <dgm:spPr/>
    </dgm:pt>
    <dgm:pt modelId="{916BA5C5-808E-4322-834D-89E76BBC5999}" type="pres">
      <dgm:prSet presAssocID="{38371BF9-293C-417B-BC32-25AE982DB9EB}" presName="dstNode" presStyleLbl="node1" presStyleIdx="0" presStyleCnt="4"/>
      <dgm:spPr/>
    </dgm:pt>
    <dgm:pt modelId="{E4ADD2A6-95E3-4F9E-8EC4-C82CAC538D0C}" type="pres">
      <dgm:prSet presAssocID="{4E1CDB4B-897C-4CBA-BBF7-21D79BF9DF97}" presName="text_1" presStyleLbl="node1" presStyleIdx="0" presStyleCnt="4" custLinFactNeighborX="86">
        <dgm:presLayoutVars>
          <dgm:bulletEnabled val="1"/>
        </dgm:presLayoutVars>
      </dgm:prSet>
      <dgm:spPr/>
    </dgm:pt>
    <dgm:pt modelId="{8D13B591-5657-4865-87C6-2ACCFEFC528C}" type="pres">
      <dgm:prSet presAssocID="{4E1CDB4B-897C-4CBA-BBF7-21D79BF9DF97}" presName="accent_1" presStyleCnt="0"/>
      <dgm:spPr/>
    </dgm:pt>
    <dgm:pt modelId="{A96EE9D7-26E1-4790-83A7-7F5B2D6337FA}" type="pres">
      <dgm:prSet presAssocID="{4E1CDB4B-897C-4CBA-BBF7-21D79BF9DF97}" presName="accentRepeatNode" presStyleLbl="solidFgAcc1" presStyleIdx="0" presStyleCnt="4"/>
      <dgm:spPr/>
    </dgm:pt>
    <dgm:pt modelId="{D648AA94-D4DF-47F8-8B31-52CBD8A98D47}" type="pres">
      <dgm:prSet presAssocID="{4B36FF9C-4119-47C8-918F-E100DA95980E}" presName="text_2" presStyleLbl="node1" presStyleIdx="1" presStyleCnt="4">
        <dgm:presLayoutVars>
          <dgm:bulletEnabled val="1"/>
        </dgm:presLayoutVars>
      </dgm:prSet>
      <dgm:spPr/>
    </dgm:pt>
    <dgm:pt modelId="{A98223E8-C719-488D-BC24-22AEDF479C7F}" type="pres">
      <dgm:prSet presAssocID="{4B36FF9C-4119-47C8-918F-E100DA95980E}" presName="accent_2" presStyleCnt="0"/>
      <dgm:spPr/>
    </dgm:pt>
    <dgm:pt modelId="{4AFDD6EE-FC5F-4046-9E85-235C1D0C1509}" type="pres">
      <dgm:prSet presAssocID="{4B36FF9C-4119-47C8-918F-E100DA95980E}" presName="accentRepeatNode" presStyleLbl="solidFgAcc1" presStyleIdx="1" presStyleCnt="4"/>
      <dgm:spPr/>
    </dgm:pt>
    <dgm:pt modelId="{BA86CD17-4D88-4438-A8FB-0DB2ACE48767}" type="pres">
      <dgm:prSet presAssocID="{759FA673-3391-4621-92D3-D1AC9DBC67D0}" presName="text_3" presStyleLbl="node1" presStyleIdx="2" presStyleCnt="4">
        <dgm:presLayoutVars>
          <dgm:bulletEnabled val="1"/>
        </dgm:presLayoutVars>
      </dgm:prSet>
      <dgm:spPr/>
    </dgm:pt>
    <dgm:pt modelId="{D7BE7C17-6B41-43FA-8536-627F1C1B7C7B}" type="pres">
      <dgm:prSet presAssocID="{759FA673-3391-4621-92D3-D1AC9DBC67D0}" presName="accent_3" presStyleCnt="0"/>
      <dgm:spPr/>
    </dgm:pt>
    <dgm:pt modelId="{803B559C-DC2A-44F0-A470-6B58938890AD}" type="pres">
      <dgm:prSet presAssocID="{759FA673-3391-4621-92D3-D1AC9DBC67D0}" presName="accentRepeatNode" presStyleLbl="solidFgAcc1" presStyleIdx="2" presStyleCnt="4"/>
      <dgm:spPr/>
    </dgm:pt>
    <dgm:pt modelId="{E597CCB2-5EC6-44EC-A29A-F492B7DDE6AD}" type="pres">
      <dgm:prSet presAssocID="{93A4523A-1F3B-4B2D-B2E8-83463E1F2BE3}" presName="text_4" presStyleLbl="node1" presStyleIdx="3" presStyleCnt="4">
        <dgm:presLayoutVars>
          <dgm:bulletEnabled val="1"/>
        </dgm:presLayoutVars>
      </dgm:prSet>
      <dgm:spPr/>
    </dgm:pt>
    <dgm:pt modelId="{87200642-76F6-46E1-91B5-27631CB3FB4E}" type="pres">
      <dgm:prSet presAssocID="{93A4523A-1F3B-4B2D-B2E8-83463E1F2BE3}" presName="accent_4" presStyleCnt="0"/>
      <dgm:spPr/>
    </dgm:pt>
    <dgm:pt modelId="{32C75A32-8B52-4850-8F7E-B54DBEFE4DE5}" type="pres">
      <dgm:prSet presAssocID="{93A4523A-1F3B-4B2D-B2E8-83463E1F2BE3}" presName="accentRepeatNode" presStyleLbl="solidFgAcc1" presStyleIdx="3" presStyleCnt="4"/>
      <dgm:spPr/>
    </dgm:pt>
  </dgm:ptLst>
  <dgm:cxnLst>
    <dgm:cxn modelId="{3FFE6902-4036-4F16-80AD-BB9613F4C8AA}" srcId="{93A4523A-1F3B-4B2D-B2E8-83463E1F2BE3}" destId="{7DD03660-CB70-4A2B-A760-2FAD9D54E59D}" srcOrd="0" destOrd="0" parTransId="{92491C90-F684-443C-B81E-3E79C9682464}" sibTransId="{6472E7E4-4498-4997-B21B-D0676E842665}"/>
    <dgm:cxn modelId="{DA57BD12-7D78-4337-9DF1-84A4ED844568}" type="presOf" srcId="{4B36FF9C-4119-47C8-918F-E100DA95980E}" destId="{D648AA94-D4DF-47F8-8B31-52CBD8A98D47}" srcOrd="0" destOrd="0" presId="urn:microsoft.com/office/officeart/2008/layout/VerticalCurvedList"/>
    <dgm:cxn modelId="{E4E57B1B-6A5F-4C67-B256-CCD1E48646DE}" srcId="{38371BF9-293C-417B-BC32-25AE982DB9EB}" destId="{759FA673-3391-4621-92D3-D1AC9DBC67D0}" srcOrd="2" destOrd="0" parTransId="{056B4548-9143-41BB-AAB6-C34B68B8CFE7}" sibTransId="{CB2F2213-C18F-4027-A5AC-14BD1B9EEEF9}"/>
    <dgm:cxn modelId="{287FE728-CBC4-478A-A544-10B17F6B5896}" type="presOf" srcId="{759FA673-3391-4621-92D3-D1AC9DBC67D0}" destId="{BA86CD17-4D88-4438-A8FB-0DB2ACE48767}" srcOrd="0" destOrd="0" presId="urn:microsoft.com/office/officeart/2008/layout/VerticalCurvedList"/>
    <dgm:cxn modelId="{88216D35-C9E7-4F5E-80D5-DE9EC1740F3F}" type="presOf" srcId="{37CAAADD-3B04-4452-9264-F97B61DB75EB}" destId="{7B70BAB9-F192-4ABF-8DE3-0A7249B783BA}" srcOrd="0" destOrd="0" presId="urn:microsoft.com/office/officeart/2008/layout/VerticalCurvedList"/>
    <dgm:cxn modelId="{35D12948-909E-4886-A1AF-93EE7A2EB9E1}" type="presOf" srcId="{4E1CDB4B-897C-4CBA-BBF7-21D79BF9DF97}" destId="{E4ADD2A6-95E3-4F9E-8EC4-C82CAC538D0C}" srcOrd="0" destOrd="0" presId="urn:microsoft.com/office/officeart/2008/layout/VerticalCurvedList"/>
    <dgm:cxn modelId="{8279EB6A-C58F-42C0-B92B-2AD6668C519C}" type="presOf" srcId="{38371BF9-293C-417B-BC32-25AE982DB9EB}" destId="{5B09AA99-A1E9-455B-9420-E0C03D0685CF}" srcOrd="0" destOrd="0" presId="urn:microsoft.com/office/officeart/2008/layout/VerticalCurvedList"/>
    <dgm:cxn modelId="{C9B6D96D-DBAE-4489-84B6-C4408862186D}" type="presOf" srcId="{150DF58C-EB77-48B2-AFAF-FB94B4D0322C}" destId="{D648AA94-D4DF-47F8-8B31-52CBD8A98D47}" srcOrd="0" destOrd="1" presId="urn:microsoft.com/office/officeart/2008/layout/VerticalCurvedList"/>
    <dgm:cxn modelId="{E2005654-CBD6-4F95-B404-227D7777DE34}" srcId="{38371BF9-293C-417B-BC32-25AE982DB9EB}" destId="{4B36FF9C-4119-47C8-918F-E100DA95980E}" srcOrd="1" destOrd="0" parTransId="{01F84601-58BB-41C8-B5E5-BBDE8BD4F400}" sibTransId="{94FBAA82-C779-43BF-A4D0-83CF1FC1EF91}"/>
    <dgm:cxn modelId="{8179B254-0250-47C2-AC77-B13E1D46D5E7}" type="presOf" srcId="{93A4523A-1F3B-4B2D-B2E8-83463E1F2BE3}" destId="{E597CCB2-5EC6-44EC-A29A-F492B7DDE6AD}" srcOrd="0" destOrd="0" presId="urn:microsoft.com/office/officeart/2008/layout/VerticalCurvedList"/>
    <dgm:cxn modelId="{95201482-52DD-4686-9CB2-46940B21A159}" type="presOf" srcId="{2AC48812-B332-4AA4-A9CD-84E4B61E7DC3}" destId="{BA86CD17-4D88-4438-A8FB-0DB2ACE48767}" srcOrd="0" destOrd="1" presId="urn:microsoft.com/office/officeart/2008/layout/VerticalCurvedList"/>
    <dgm:cxn modelId="{8A914E92-B401-40E2-9950-E2CEE87C3381}" srcId="{38371BF9-293C-417B-BC32-25AE982DB9EB}" destId="{4E1CDB4B-897C-4CBA-BBF7-21D79BF9DF97}" srcOrd="0" destOrd="0" parTransId="{9956E974-564D-42D0-B7ED-CA347621395C}" sibTransId="{DA605615-5BD3-4FB2-B9EF-FBFDBA37E5FB}"/>
    <dgm:cxn modelId="{E75628BF-7DF1-45F5-AD3F-B39D5F9CFE5B}" srcId="{38371BF9-293C-417B-BC32-25AE982DB9EB}" destId="{93A4523A-1F3B-4B2D-B2E8-83463E1F2BE3}" srcOrd="3" destOrd="0" parTransId="{4E91B7E8-85AE-49C8-8FDF-4C236BCC2553}" sibTransId="{EC550A80-BBC0-4BFF-9F3C-43CC74092E08}"/>
    <dgm:cxn modelId="{D9B91FC4-F9F7-4214-94FB-72DFBED905E5}" srcId="{4B36FF9C-4119-47C8-918F-E100DA95980E}" destId="{150DF58C-EB77-48B2-AFAF-FB94B4D0322C}" srcOrd="0" destOrd="0" parTransId="{B2397D5C-747A-454A-AE4E-E39AED0CAF67}" sibTransId="{CF447EB6-541E-4C84-A53C-EFB1A2E5B9EA}"/>
    <dgm:cxn modelId="{E25BB8CD-0C09-4E60-A0AF-FD0DB7A0654C}" type="presOf" srcId="{9323C10D-1A91-4582-A844-9C33C5560978}" destId="{E4ADD2A6-95E3-4F9E-8EC4-C82CAC538D0C}" srcOrd="0" destOrd="1" presId="urn:microsoft.com/office/officeart/2008/layout/VerticalCurvedList"/>
    <dgm:cxn modelId="{CD6C68D8-AD28-4D64-9545-5C1647037912}" srcId="{759FA673-3391-4621-92D3-D1AC9DBC67D0}" destId="{2AC48812-B332-4AA4-A9CD-84E4B61E7DC3}" srcOrd="0" destOrd="0" parTransId="{0D6BE546-ED73-44B7-851B-1379BD5A6673}" sibTransId="{502D2460-D858-4912-9E89-43E6836AB1CA}"/>
    <dgm:cxn modelId="{6520E2EA-0D79-4BEB-9BBA-93BE8DE740F8}" srcId="{4E1CDB4B-897C-4CBA-BBF7-21D79BF9DF97}" destId="{9323C10D-1A91-4582-A844-9C33C5560978}" srcOrd="0" destOrd="0" parTransId="{11202E35-880C-48D8-8969-A2B8DFA7418B}" sibTransId="{37CAAADD-3B04-4452-9264-F97B61DB75EB}"/>
    <dgm:cxn modelId="{51150EF1-62BC-4516-986B-3552123782DE}" type="presOf" srcId="{7DD03660-CB70-4A2B-A760-2FAD9D54E59D}" destId="{E597CCB2-5EC6-44EC-A29A-F492B7DDE6AD}" srcOrd="0" destOrd="1" presId="urn:microsoft.com/office/officeart/2008/layout/VerticalCurvedList"/>
    <dgm:cxn modelId="{2DB8FF5B-01D9-4F2F-A9E4-97024F2E209E}" type="presParOf" srcId="{5B09AA99-A1E9-455B-9420-E0C03D0685CF}" destId="{24B528C2-BB67-4FCF-AB82-1C850DAE9127}" srcOrd="0" destOrd="0" presId="urn:microsoft.com/office/officeart/2008/layout/VerticalCurvedList"/>
    <dgm:cxn modelId="{A9253A87-37D9-4D27-AA93-7FF6BCDE5D66}" type="presParOf" srcId="{24B528C2-BB67-4FCF-AB82-1C850DAE9127}" destId="{207C25DE-C392-4F79-BAFC-65A41590EF66}" srcOrd="0" destOrd="0" presId="urn:microsoft.com/office/officeart/2008/layout/VerticalCurvedList"/>
    <dgm:cxn modelId="{0DA100A1-DAAD-4525-BBF0-9DFA3450716B}" type="presParOf" srcId="{207C25DE-C392-4F79-BAFC-65A41590EF66}" destId="{1D754B4B-9B25-4BB8-83AA-B433E9C97CE9}" srcOrd="0" destOrd="0" presId="urn:microsoft.com/office/officeart/2008/layout/VerticalCurvedList"/>
    <dgm:cxn modelId="{BD8D4BEC-F45A-45F9-94B2-49ECC5BD5526}" type="presParOf" srcId="{207C25DE-C392-4F79-BAFC-65A41590EF66}" destId="{7B70BAB9-F192-4ABF-8DE3-0A7249B783BA}" srcOrd="1" destOrd="0" presId="urn:microsoft.com/office/officeart/2008/layout/VerticalCurvedList"/>
    <dgm:cxn modelId="{F8B30350-1394-4091-9757-48D4732F7AF9}" type="presParOf" srcId="{207C25DE-C392-4F79-BAFC-65A41590EF66}" destId="{EDB4695E-477D-4ECF-BF4D-BCD7455DC6E8}" srcOrd="2" destOrd="0" presId="urn:microsoft.com/office/officeart/2008/layout/VerticalCurvedList"/>
    <dgm:cxn modelId="{328B07F1-BBD9-4D61-AA07-C9ACC4A0BA99}" type="presParOf" srcId="{207C25DE-C392-4F79-BAFC-65A41590EF66}" destId="{916BA5C5-808E-4322-834D-89E76BBC5999}" srcOrd="3" destOrd="0" presId="urn:microsoft.com/office/officeart/2008/layout/VerticalCurvedList"/>
    <dgm:cxn modelId="{A3E95229-7ED8-49F8-A5EB-21C8D8E346CB}" type="presParOf" srcId="{24B528C2-BB67-4FCF-AB82-1C850DAE9127}" destId="{E4ADD2A6-95E3-4F9E-8EC4-C82CAC538D0C}" srcOrd="1" destOrd="0" presId="urn:microsoft.com/office/officeart/2008/layout/VerticalCurvedList"/>
    <dgm:cxn modelId="{254859FF-ADED-4C91-8164-AC0A6EB77937}" type="presParOf" srcId="{24B528C2-BB67-4FCF-AB82-1C850DAE9127}" destId="{8D13B591-5657-4865-87C6-2ACCFEFC528C}" srcOrd="2" destOrd="0" presId="urn:microsoft.com/office/officeart/2008/layout/VerticalCurvedList"/>
    <dgm:cxn modelId="{B87E6021-29B3-493B-8A3A-1E1D40713909}" type="presParOf" srcId="{8D13B591-5657-4865-87C6-2ACCFEFC528C}" destId="{A96EE9D7-26E1-4790-83A7-7F5B2D6337FA}" srcOrd="0" destOrd="0" presId="urn:microsoft.com/office/officeart/2008/layout/VerticalCurvedList"/>
    <dgm:cxn modelId="{9DAE20F7-C76C-421F-B893-30187E455463}" type="presParOf" srcId="{24B528C2-BB67-4FCF-AB82-1C850DAE9127}" destId="{D648AA94-D4DF-47F8-8B31-52CBD8A98D47}" srcOrd="3" destOrd="0" presId="urn:microsoft.com/office/officeart/2008/layout/VerticalCurvedList"/>
    <dgm:cxn modelId="{A8A4E480-9716-4759-8292-9F293688E24C}" type="presParOf" srcId="{24B528C2-BB67-4FCF-AB82-1C850DAE9127}" destId="{A98223E8-C719-488D-BC24-22AEDF479C7F}" srcOrd="4" destOrd="0" presId="urn:microsoft.com/office/officeart/2008/layout/VerticalCurvedList"/>
    <dgm:cxn modelId="{C5F2C404-84E6-4630-B719-E91C226E6524}" type="presParOf" srcId="{A98223E8-C719-488D-BC24-22AEDF479C7F}" destId="{4AFDD6EE-FC5F-4046-9E85-235C1D0C1509}" srcOrd="0" destOrd="0" presId="urn:microsoft.com/office/officeart/2008/layout/VerticalCurvedList"/>
    <dgm:cxn modelId="{A658AA6E-ADEF-4049-BFFC-C2054D8AC71E}" type="presParOf" srcId="{24B528C2-BB67-4FCF-AB82-1C850DAE9127}" destId="{BA86CD17-4D88-4438-A8FB-0DB2ACE48767}" srcOrd="5" destOrd="0" presId="urn:microsoft.com/office/officeart/2008/layout/VerticalCurvedList"/>
    <dgm:cxn modelId="{4EC95DD4-FF73-46AF-82B5-A4D1C5D10C9A}" type="presParOf" srcId="{24B528C2-BB67-4FCF-AB82-1C850DAE9127}" destId="{D7BE7C17-6B41-43FA-8536-627F1C1B7C7B}" srcOrd="6" destOrd="0" presId="urn:microsoft.com/office/officeart/2008/layout/VerticalCurvedList"/>
    <dgm:cxn modelId="{5FC1F02E-4E39-4F34-8059-BAF7DC6E330E}" type="presParOf" srcId="{D7BE7C17-6B41-43FA-8536-627F1C1B7C7B}" destId="{803B559C-DC2A-44F0-A470-6B58938890AD}" srcOrd="0" destOrd="0" presId="urn:microsoft.com/office/officeart/2008/layout/VerticalCurvedList"/>
    <dgm:cxn modelId="{29BB803F-9C74-4248-822D-CC03C9DC85CC}" type="presParOf" srcId="{24B528C2-BB67-4FCF-AB82-1C850DAE9127}" destId="{E597CCB2-5EC6-44EC-A29A-F492B7DDE6AD}" srcOrd="7" destOrd="0" presId="urn:microsoft.com/office/officeart/2008/layout/VerticalCurvedList"/>
    <dgm:cxn modelId="{4411B76B-B559-4CAB-9D31-279ECA5A7DDD}" type="presParOf" srcId="{24B528C2-BB67-4FCF-AB82-1C850DAE9127}" destId="{87200642-76F6-46E1-91B5-27631CB3FB4E}" srcOrd="8" destOrd="0" presId="urn:microsoft.com/office/officeart/2008/layout/VerticalCurvedList"/>
    <dgm:cxn modelId="{10F369B4-7F86-40C6-96F4-6629A6682343}" type="presParOf" srcId="{87200642-76F6-46E1-91B5-27631CB3FB4E}" destId="{32C75A32-8B52-4850-8F7E-B54DBEFE4DE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DE6C7F-859D-4AFE-83CF-74DAC5865909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A30A1AB4-3F12-460C-8504-BBD26812C87B}">
      <dgm:prSet phldrT="[Texto]"/>
      <dgm:spPr>
        <a:solidFill>
          <a:srgbClr val="3D3DFF"/>
        </a:solidFill>
      </dgm:spPr>
      <dgm:t>
        <a:bodyPr/>
        <a:lstStyle/>
        <a:p>
          <a:r>
            <a:rPr lang="es-VE" noProof="0" dirty="0"/>
            <a:t>Análisis del problema </a:t>
          </a:r>
        </a:p>
      </dgm:t>
    </dgm:pt>
    <dgm:pt modelId="{4976526F-5636-4ED2-AD8A-009F01BFA7F7}" type="parTrans" cxnId="{63CEC0B1-B50E-4278-A6CE-9C0063C1801B}">
      <dgm:prSet/>
      <dgm:spPr/>
      <dgm:t>
        <a:bodyPr/>
        <a:lstStyle/>
        <a:p>
          <a:endParaRPr lang="es-VE"/>
        </a:p>
      </dgm:t>
    </dgm:pt>
    <dgm:pt modelId="{1C629996-0B45-4F81-AE35-38CF191FA852}" type="sibTrans" cxnId="{63CEC0B1-B50E-4278-A6CE-9C0063C1801B}">
      <dgm:prSet/>
      <dgm:spPr/>
      <dgm:t>
        <a:bodyPr/>
        <a:lstStyle/>
        <a:p>
          <a:endParaRPr lang="es-VE"/>
        </a:p>
      </dgm:t>
    </dgm:pt>
    <dgm:pt modelId="{8375AAD4-39DE-4FA3-A4D0-89F173BA0E3B}">
      <dgm:prSet phldrT="[Texto]"/>
      <dgm:spPr>
        <a:solidFill>
          <a:srgbClr val="3D3DFF"/>
        </a:solidFill>
      </dgm:spPr>
      <dgm:t>
        <a:bodyPr/>
        <a:lstStyle/>
        <a:p>
          <a:r>
            <a:rPr lang="es-VE" noProof="0" dirty="0"/>
            <a:t>Análisis de los objetivos</a:t>
          </a:r>
        </a:p>
      </dgm:t>
    </dgm:pt>
    <dgm:pt modelId="{11B02124-4ABD-4AD3-86A1-DF4275CFD62B}" type="parTrans" cxnId="{1274B6BB-2AAA-40A5-A627-3DBAF001F665}">
      <dgm:prSet/>
      <dgm:spPr/>
      <dgm:t>
        <a:bodyPr/>
        <a:lstStyle/>
        <a:p>
          <a:endParaRPr lang="es-VE"/>
        </a:p>
      </dgm:t>
    </dgm:pt>
    <dgm:pt modelId="{3F50C469-55D3-4B34-8E4F-4BFD64E0DB85}" type="sibTrans" cxnId="{1274B6BB-2AAA-40A5-A627-3DBAF001F665}">
      <dgm:prSet/>
      <dgm:spPr/>
      <dgm:t>
        <a:bodyPr/>
        <a:lstStyle/>
        <a:p>
          <a:endParaRPr lang="es-VE"/>
        </a:p>
      </dgm:t>
    </dgm:pt>
    <dgm:pt modelId="{639DCA59-C028-46F0-ACAE-6BCD3154CCAE}">
      <dgm:prSet phldrT="[Texto]"/>
      <dgm:spPr>
        <a:solidFill>
          <a:srgbClr val="3D3DFF"/>
        </a:solidFill>
      </dgm:spPr>
      <dgm:t>
        <a:bodyPr/>
        <a:lstStyle/>
        <a:p>
          <a:r>
            <a:rPr lang="es-VE" noProof="0" dirty="0"/>
            <a:t>Análisis de las alternativas</a:t>
          </a:r>
        </a:p>
      </dgm:t>
    </dgm:pt>
    <dgm:pt modelId="{1DD22E38-AA1E-4507-A91B-6D5BD47921E4}" type="parTrans" cxnId="{02E0140C-8E0A-470B-B0FE-51D6294024DF}">
      <dgm:prSet/>
      <dgm:spPr/>
      <dgm:t>
        <a:bodyPr/>
        <a:lstStyle/>
        <a:p>
          <a:endParaRPr lang="es-VE"/>
        </a:p>
      </dgm:t>
    </dgm:pt>
    <dgm:pt modelId="{4F33B728-05EF-499C-A208-07DE58ABBB41}" type="sibTrans" cxnId="{02E0140C-8E0A-470B-B0FE-51D6294024DF}">
      <dgm:prSet/>
      <dgm:spPr/>
      <dgm:t>
        <a:bodyPr/>
        <a:lstStyle/>
        <a:p>
          <a:endParaRPr lang="es-VE"/>
        </a:p>
      </dgm:t>
    </dgm:pt>
    <dgm:pt modelId="{876C0E7F-1E4B-4CD2-855F-A9816F2EA4DE}" type="pres">
      <dgm:prSet presAssocID="{39DE6C7F-859D-4AFE-83CF-74DAC5865909}" presName="CompostProcess" presStyleCnt="0">
        <dgm:presLayoutVars>
          <dgm:dir/>
          <dgm:resizeHandles val="exact"/>
        </dgm:presLayoutVars>
      </dgm:prSet>
      <dgm:spPr/>
    </dgm:pt>
    <dgm:pt modelId="{9C8CFEC1-93B5-4E51-B1D9-65F5D1EBAC6E}" type="pres">
      <dgm:prSet presAssocID="{39DE6C7F-859D-4AFE-83CF-74DAC5865909}" presName="arrow" presStyleLbl="bgShp" presStyleIdx="0" presStyleCnt="1"/>
      <dgm:spPr/>
    </dgm:pt>
    <dgm:pt modelId="{2666EA83-67D7-4EF7-BBB8-27BAD18907AC}" type="pres">
      <dgm:prSet presAssocID="{39DE6C7F-859D-4AFE-83CF-74DAC5865909}" presName="linearProcess" presStyleCnt="0"/>
      <dgm:spPr/>
    </dgm:pt>
    <dgm:pt modelId="{487C3799-121D-4464-AE78-899D7719493D}" type="pres">
      <dgm:prSet presAssocID="{A30A1AB4-3F12-460C-8504-BBD26812C87B}" presName="textNode" presStyleLbl="node1" presStyleIdx="0" presStyleCnt="3">
        <dgm:presLayoutVars>
          <dgm:bulletEnabled val="1"/>
        </dgm:presLayoutVars>
      </dgm:prSet>
      <dgm:spPr/>
    </dgm:pt>
    <dgm:pt modelId="{1788C853-7D08-430E-AB47-94934E712173}" type="pres">
      <dgm:prSet presAssocID="{1C629996-0B45-4F81-AE35-38CF191FA852}" presName="sibTrans" presStyleCnt="0"/>
      <dgm:spPr/>
    </dgm:pt>
    <dgm:pt modelId="{23974E02-73D4-4CB6-8151-7713260E3C8D}" type="pres">
      <dgm:prSet presAssocID="{8375AAD4-39DE-4FA3-A4D0-89F173BA0E3B}" presName="textNode" presStyleLbl="node1" presStyleIdx="1" presStyleCnt="3">
        <dgm:presLayoutVars>
          <dgm:bulletEnabled val="1"/>
        </dgm:presLayoutVars>
      </dgm:prSet>
      <dgm:spPr/>
    </dgm:pt>
    <dgm:pt modelId="{EB794D2C-013F-4531-BFC3-8A2F2F1F06CF}" type="pres">
      <dgm:prSet presAssocID="{3F50C469-55D3-4B34-8E4F-4BFD64E0DB85}" presName="sibTrans" presStyleCnt="0"/>
      <dgm:spPr/>
    </dgm:pt>
    <dgm:pt modelId="{4BB7E33D-CF28-481D-9716-D8B06816FA2B}" type="pres">
      <dgm:prSet presAssocID="{639DCA59-C028-46F0-ACAE-6BCD3154CCAE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02E0140C-8E0A-470B-B0FE-51D6294024DF}" srcId="{39DE6C7F-859D-4AFE-83CF-74DAC5865909}" destId="{639DCA59-C028-46F0-ACAE-6BCD3154CCAE}" srcOrd="2" destOrd="0" parTransId="{1DD22E38-AA1E-4507-A91B-6D5BD47921E4}" sibTransId="{4F33B728-05EF-499C-A208-07DE58ABBB41}"/>
    <dgm:cxn modelId="{55E5652E-55BA-4B10-A693-0589D482D6CA}" type="presOf" srcId="{39DE6C7F-859D-4AFE-83CF-74DAC5865909}" destId="{876C0E7F-1E4B-4CD2-855F-A9816F2EA4DE}" srcOrd="0" destOrd="0" presId="urn:microsoft.com/office/officeart/2005/8/layout/hProcess9"/>
    <dgm:cxn modelId="{B556B46F-930E-41E3-B11C-538AC976C6A3}" type="presOf" srcId="{8375AAD4-39DE-4FA3-A4D0-89F173BA0E3B}" destId="{23974E02-73D4-4CB6-8151-7713260E3C8D}" srcOrd="0" destOrd="0" presId="urn:microsoft.com/office/officeart/2005/8/layout/hProcess9"/>
    <dgm:cxn modelId="{0355BD92-A437-4937-B6F9-12DEBBD0404C}" type="presOf" srcId="{639DCA59-C028-46F0-ACAE-6BCD3154CCAE}" destId="{4BB7E33D-CF28-481D-9716-D8B06816FA2B}" srcOrd="0" destOrd="0" presId="urn:microsoft.com/office/officeart/2005/8/layout/hProcess9"/>
    <dgm:cxn modelId="{DF5BDBB0-66B5-4190-BF5D-699B31A8C473}" type="presOf" srcId="{A30A1AB4-3F12-460C-8504-BBD26812C87B}" destId="{487C3799-121D-4464-AE78-899D7719493D}" srcOrd="0" destOrd="0" presId="urn:microsoft.com/office/officeart/2005/8/layout/hProcess9"/>
    <dgm:cxn modelId="{63CEC0B1-B50E-4278-A6CE-9C0063C1801B}" srcId="{39DE6C7F-859D-4AFE-83CF-74DAC5865909}" destId="{A30A1AB4-3F12-460C-8504-BBD26812C87B}" srcOrd="0" destOrd="0" parTransId="{4976526F-5636-4ED2-AD8A-009F01BFA7F7}" sibTransId="{1C629996-0B45-4F81-AE35-38CF191FA852}"/>
    <dgm:cxn modelId="{1274B6BB-2AAA-40A5-A627-3DBAF001F665}" srcId="{39DE6C7F-859D-4AFE-83CF-74DAC5865909}" destId="{8375AAD4-39DE-4FA3-A4D0-89F173BA0E3B}" srcOrd="1" destOrd="0" parTransId="{11B02124-4ABD-4AD3-86A1-DF4275CFD62B}" sibTransId="{3F50C469-55D3-4B34-8E4F-4BFD64E0DB85}"/>
    <dgm:cxn modelId="{1EEAD9B8-64C0-4363-A500-67763738544B}" type="presParOf" srcId="{876C0E7F-1E4B-4CD2-855F-A9816F2EA4DE}" destId="{9C8CFEC1-93B5-4E51-B1D9-65F5D1EBAC6E}" srcOrd="0" destOrd="0" presId="urn:microsoft.com/office/officeart/2005/8/layout/hProcess9"/>
    <dgm:cxn modelId="{8E3DCC2D-A44D-44DE-AB8F-C1EBA987A218}" type="presParOf" srcId="{876C0E7F-1E4B-4CD2-855F-A9816F2EA4DE}" destId="{2666EA83-67D7-4EF7-BBB8-27BAD18907AC}" srcOrd="1" destOrd="0" presId="urn:microsoft.com/office/officeart/2005/8/layout/hProcess9"/>
    <dgm:cxn modelId="{C8C970D3-2CFF-42F1-9B26-23D6258A8C17}" type="presParOf" srcId="{2666EA83-67D7-4EF7-BBB8-27BAD18907AC}" destId="{487C3799-121D-4464-AE78-899D7719493D}" srcOrd="0" destOrd="0" presId="urn:microsoft.com/office/officeart/2005/8/layout/hProcess9"/>
    <dgm:cxn modelId="{2B4B6BFE-85EE-463D-8DAA-A92CD164B3CB}" type="presParOf" srcId="{2666EA83-67D7-4EF7-BBB8-27BAD18907AC}" destId="{1788C853-7D08-430E-AB47-94934E712173}" srcOrd="1" destOrd="0" presId="urn:microsoft.com/office/officeart/2005/8/layout/hProcess9"/>
    <dgm:cxn modelId="{9DB11ED6-BBF7-45E1-83D0-4B3EB8B07AE3}" type="presParOf" srcId="{2666EA83-67D7-4EF7-BBB8-27BAD18907AC}" destId="{23974E02-73D4-4CB6-8151-7713260E3C8D}" srcOrd="2" destOrd="0" presId="urn:microsoft.com/office/officeart/2005/8/layout/hProcess9"/>
    <dgm:cxn modelId="{7B6032F2-C747-4E35-B52E-AE78320C3235}" type="presParOf" srcId="{2666EA83-67D7-4EF7-BBB8-27BAD18907AC}" destId="{EB794D2C-013F-4531-BFC3-8A2F2F1F06CF}" srcOrd="3" destOrd="0" presId="urn:microsoft.com/office/officeart/2005/8/layout/hProcess9"/>
    <dgm:cxn modelId="{7FD1E9CF-ABB9-4267-8930-9F899156CFBE}" type="presParOf" srcId="{2666EA83-67D7-4EF7-BBB8-27BAD18907AC}" destId="{4BB7E33D-CF28-481D-9716-D8B06816FA2B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6920F0-7F42-4A59-A863-B7DE9AB74F98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VE"/>
        </a:p>
      </dgm:t>
    </dgm:pt>
    <dgm:pt modelId="{923AE9CE-BCBD-4530-A802-704187E729FC}">
      <dgm:prSet phldrT="[Texto]"/>
      <dgm:spPr>
        <a:solidFill>
          <a:srgbClr val="3D3DFF"/>
        </a:solidFill>
      </dgm:spPr>
      <dgm:t>
        <a:bodyPr/>
        <a:lstStyle/>
        <a:p>
          <a:r>
            <a:rPr lang="es-VE" noProof="0" dirty="0"/>
            <a:t>Fase de inicio</a:t>
          </a:r>
        </a:p>
      </dgm:t>
    </dgm:pt>
    <dgm:pt modelId="{3B100B43-1CE2-4CAF-849B-0A62183C5A93}" type="parTrans" cxnId="{AE90D0E1-38EC-4EEB-A08E-C5B4DD67B019}">
      <dgm:prSet/>
      <dgm:spPr/>
      <dgm:t>
        <a:bodyPr/>
        <a:lstStyle/>
        <a:p>
          <a:endParaRPr lang="es-VE"/>
        </a:p>
      </dgm:t>
    </dgm:pt>
    <dgm:pt modelId="{CBE2DA1E-0827-4C18-828C-01469D6E9111}" type="sibTrans" cxnId="{AE90D0E1-38EC-4EEB-A08E-C5B4DD67B019}">
      <dgm:prSet/>
      <dgm:spPr/>
      <dgm:t>
        <a:bodyPr/>
        <a:lstStyle/>
        <a:p>
          <a:endParaRPr lang="es-VE"/>
        </a:p>
      </dgm:t>
    </dgm:pt>
    <dgm:pt modelId="{F614E298-C4D1-43C8-8CB7-CAD947B0B86F}">
      <dgm:prSet phldrT="[Texto]"/>
      <dgm:spPr/>
      <dgm:t>
        <a:bodyPr/>
        <a:lstStyle/>
        <a:p>
          <a:r>
            <a:rPr lang="es-VE" noProof="0" dirty="0"/>
            <a:t>Funciones, alcances y objetivos</a:t>
          </a:r>
        </a:p>
      </dgm:t>
    </dgm:pt>
    <dgm:pt modelId="{A79AD8F0-896D-466C-ADCA-AB22D2368704}" type="parTrans" cxnId="{5144FFC4-45A3-42C5-96D9-5745EEC142B5}">
      <dgm:prSet/>
      <dgm:spPr/>
      <dgm:t>
        <a:bodyPr/>
        <a:lstStyle/>
        <a:p>
          <a:endParaRPr lang="es-VE"/>
        </a:p>
      </dgm:t>
    </dgm:pt>
    <dgm:pt modelId="{585430D0-AB6D-4337-BDF1-649BF990ACD8}" type="sibTrans" cxnId="{5144FFC4-45A3-42C5-96D9-5745EEC142B5}">
      <dgm:prSet/>
      <dgm:spPr/>
      <dgm:t>
        <a:bodyPr/>
        <a:lstStyle/>
        <a:p>
          <a:endParaRPr lang="es-VE"/>
        </a:p>
      </dgm:t>
    </dgm:pt>
    <dgm:pt modelId="{25349EAE-F48E-4040-B0D4-A636DA99DD35}">
      <dgm:prSet phldrT="[Texto]"/>
      <dgm:spPr>
        <a:solidFill>
          <a:srgbClr val="3D3DFF"/>
        </a:solidFill>
      </dgm:spPr>
      <dgm:t>
        <a:bodyPr/>
        <a:lstStyle/>
        <a:p>
          <a:r>
            <a:rPr lang="es-VE" noProof="0" dirty="0"/>
            <a:t>Fase de elaboración </a:t>
          </a:r>
        </a:p>
      </dgm:t>
    </dgm:pt>
    <dgm:pt modelId="{A9DE188B-03E5-47D3-8C53-DCDAD75EF3F0}" type="parTrans" cxnId="{F68AECFC-296B-4721-80C9-70BD91BB34A8}">
      <dgm:prSet/>
      <dgm:spPr/>
      <dgm:t>
        <a:bodyPr/>
        <a:lstStyle/>
        <a:p>
          <a:endParaRPr lang="es-VE"/>
        </a:p>
      </dgm:t>
    </dgm:pt>
    <dgm:pt modelId="{DE257BA3-B053-44D2-A126-ECC1E893284F}" type="sibTrans" cxnId="{F68AECFC-296B-4721-80C9-70BD91BB34A8}">
      <dgm:prSet/>
      <dgm:spPr/>
      <dgm:t>
        <a:bodyPr/>
        <a:lstStyle/>
        <a:p>
          <a:endParaRPr lang="es-VE"/>
        </a:p>
      </dgm:t>
    </dgm:pt>
    <dgm:pt modelId="{1F0B4187-A730-495B-A1DB-EBDB07E8A601}">
      <dgm:prSet phldrT="[Texto]"/>
      <dgm:spPr/>
      <dgm:t>
        <a:bodyPr/>
        <a:lstStyle/>
        <a:p>
          <a:r>
            <a:rPr lang="es-VE" noProof="0" dirty="0"/>
            <a:t>Comportamiento y estructura </a:t>
          </a:r>
        </a:p>
      </dgm:t>
    </dgm:pt>
    <dgm:pt modelId="{2AC7AA08-44BE-4537-8C68-BE9F6261C72E}" type="parTrans" cxnId="{4C6785EB-BD6E-4CDF-B613-42ADF9EA05EF}">
      <dgm:prSet/>
      <dgm:spPr/>
      <dgm:t>
        <a:bodyPr/>
        <a:lstStyle/>
        <a:p>
          <a:endParaRPr lang="es-VE"/>
        </a:p>
      </dgm:t>
    </dgm:pt>
    <dgm:pt modelId="{ECBF0209-22FB-4F10-8B6E-6D20EE547F98}" type="sibTrans" cxnId="{4C6785EB-BD6E-4CDF-B613-42ADF9EA05EF}">
      <dgm:prSet/>
      <dgm:spPr/>
      <dgm:t>
        <a:bodyPr/>
        <a:lstStyle/>
        <a:p>
          <a:endParaRPr lang="es-VE"/>
        </a:p>
      </dgm:t>
    </dgm:pt>
    <dgm:pt modelId="{9EF958C4-17A6-45F1-A0D4-97EA327FCD5D}">
      <dgm:prSet phldrT="[Texto]"/>
      <dgm:spPr>
        <a:solidFill>
          <a:srgbClr val="3D3DFF"/>
        </a:solidFill>
      </dgm:spPr>
      <dgm:t>
        <a:bodyPr/>
        <a:lstStyle/>
        <a:p>
          <a:r>
            <a:rPr lang="es-VE" noProof="0" dirty="0"/>
            <a:t>Fase de construcción </a:t>
          </a:r>
        </a:p>
      </dgm:t>
    </dgm:pt>
    <dgm:pt modelId="{19666A18-09A1-4D44-96A7-4BC345BEE33C}" type="parTrans" cxnId="{D9DB30BC-DAF8-49DA-9D88-B695C077BB4D}">
      <dgm:prSet/>
      <dgm:spPr/>
      <dgm:t>
        <a:bodyPr/>
        <a:lstStyle/>
        <a:p>
          <a:endParaRPr lang="es-VE"/>
        </a:p>
      </dgm:t>
    </dgm:pt>
    <dgm:pt modelId="{87B4C1BF-A25B-46D8-A8A3-758B0A6E9DD5}" type="sibTrans" cxnId="{D9DB30BC-DAF8-49DA-9D88-B695C077BB4D}">
      <dgm:prSet/>
      <dgm:spPr/>
      <dgm:t>
        <a:bodyPr/>
        <a:lstStyle/>
        <a:p>
          <a:endParaRPr lang="es-VE"/>
        </a:p>
      </dgm:t>
    </dgm:pt>
    <dgm:pt modelId="{F23E3160-1B71-42D5-8EEE-255BDEC4A3F2}">
      <dgm:prSet phldrT="[Texto]"/>
      <dgm:spPr/>
      <dgm:t>
        <a:bodyPr/>
        <a:lstStyle/>
        <a:p>
          <a:r>
            <a:rPr lang="es-VE" noProof="0" dirty="0"/>
            <a:t>Estructurar la base de datos</a:t>
          </a:r>
        </a:p>
      </dgm:t>
    </dgm:pt>
    <dgm:pt modelId="{31A1FD6E-150E-4F13-B1BA-BD85331C5DCA}" type="parTrans" cxnId="{CD91DBBA-FDAF-4080-9729-441411005B2D}">
      <dgm:prSet/>
      <dgm:spPr/>
      <dgm:t>
        <a:bodyPr/>
        <a:lstStyle/>
        <a:p>
          <a:endParaRPr lang="es-VE"/>
        </a:p>
      </dgm:t>
    </dgm:pt>
    <dgm:pt modelId="{B07CD084-5CD8-4F80-AEFB-7C70D442A318}" type="sibTrans" cxnId="{CD91DBBA-FDAF-4080-9729-441411005B2D}">
      <dgm:prSet/>
      <dgm:spPr/>
      <dgm:t>
        <a:bodyPr/>
        <a:lstStyle/>
        <a:p>
          <a:endParaRPr lang="es-VE"/>
        </a:p>
      </dgm:t>
    </dgm:pt>
    <dgm:pt modelId="{02A06B43-B731-4055-9584-9188833216B7}">
      <dgm:prSet phldrT="[Texto]"/>
      <dgm:spPr/>
      <dgm:t>
        <a:bodyPr/>
        <a:lstStyle/>
        <a:p>
          <a:r>
            <a:rPr lang="es-VE" noProof="0" dirty="0"/>
            <a:t>PHP, TypeScript, SQLite</a:t>
          </a:r>
        </a:p>
      </dgm:t>
    </dgm:pt>
    <dgm:pt modelId="{12126689-EDF6-4F9C-9F7A-22467B5AFDD1}" type="parTrans" cxnId="{0322CB41-5B7F-425E-A8A1-7F7EF8BE00D1}">
      <dgm:prSet/>
      <dgm:spPr/>
      <dgm:t>
        <a:bodyPr/>
        <a:lstStyle/>
        <a:p>
          <a:endParaRPr lang="es-VE"/>
        </a:p>
      </dgm:t>
    </dgm:pt>
    <dgm:pt modelId="{18F40237-3464-4582-AE2B-37F3C858FC89}" type="sibTrans" cxnId="{0322CB41-5B7F-425E-A8A1-7F7EF8BE00D1}">
      <dgm:prSet/>
      <dgm:spPr/>
      <dgm:t>
        <a:bodyPr/>
        <a:lstStyle/>
        <a:p>
          <a:endParaRPr lang="es-VE"/>
        </a:p>
      </dgm:t>
    </dgm:pt>
    <dgm:pt modelId="{DF7723A4-DCA5-4D7C-9C32-CA528DDDFAC9}" type="pres">
      <dgm:prSet presAssocID="{306920F0-7F42-4A59-A863-B7DE9AB74F98}" presName="linearFlow" presStyleCnt="0">
        <dgm:presLayoutVars>
          <dgm:dir/>
          <dgm:animLvl val="lvl"/>
          <dgm:resizeHandles val="exact"/>
        </dgm:presLayoutVars>
      </dgm:prSet>
      <dgm:spPr/>
    </dgm:pt>
    <dgm:pt modelId="{824DA337-A728-4D21-B9F2-6668146FAF14}" type="pres">
      <dgm:prSet presAssocID="{923AE9CE-BCBD-4530-A802-704187E729FC}" presName="composite" presStyleCnt="0"/>
      <dgm:spPr/>
    </dgm:pt>
    <dgm:pt modelId="{30CB63FA-B453-441C-92D1-D60D2ABC1982}" type="pres">
      <dgm:prSet presAssocID="{923AE9CE-BCBD-4530-A802-704187E729FC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31F6AABD-6463-41F6-A1C0-6EF6849CF0FF}" type="pres">
      <dgm:prSet presAssocID="{923AE9CE-BCBD-4530-A802-704187E729FC}" presName="descendantText" presStyleLbl="alignAcc1" presStyleIdx="0" presStyleCnt="3">
        <dgm:presLayoutVars>
          <dgm:bulletEnabled val="1"/>
        </dgm:presLayoutVars>
      </dgm:prSet>
      <dgm:spPr/>
    </dgm:pt>
    <dgm:pt modelId="{50413BE6-3ECE-4FBA-8D16-758623C775B2}" type="pres">
      <dgm:prSet presAssocID="{CBE2DA1E-0827-4C18-828C-01469D6E9111}" presName="sp" presStyleCnt="0"/>
      <dgm:spPr/>
    </dgm:pt>
    <dgm:pt modelId="{16C9A77B-30A3-497C-9C5D-C3975E360360}" type="pres">
      <dgm:prSet presAssocID="{25349EAE-F48E-4040-B0D4-A636DA99DD35}" presName="composite" presStyleCnt="0"/>
      <dgm:spPr/>
    </dgm:pt>
    <dgm:pt modelId="{450B2CE3-3FD0-47EA-B23C-6A51EBDBD630}" type="pres">
      <dgm:prSet presAssocID="{25349EAE-F48E-4040-B0D4-A636DA99DD35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7DA889B0-0890-4796-8020-FD6C1591AFA0}" type="pres">
      <dgm:prSet presAssocID="{25349EAE-F48E-4040-B0D4-A636DA99DD35}" presName="descendantText" presStyleLbl="alignAcc1" presStyleIdx="1" presStyleCnt="3">
        <dgm:presLayoutVars>
          <dgm:bulletEnabled val="1"/>
        </dgm:presLayoutVars>
      </dgm:prSet>
      <dgm:spPr/>
    </dgm:pt>
    <dgm:pt modelId="{BF95435C-F311-4654-80FF-AE7A847AF53A}" type="pres">
      <dgm:prSet presAssocID="{DE257BA3-B053-44D2-A126-ECC1E893284F}" presName="sp" presStyleCnt="0"/>
      <dgm:spPr/>
    </dgm:pt>
    <dgm:pt modelId="{750E187A-4172-4058-996A-645305D72668}" type="pres">
      <dgm:prSet presAssocID="{9EF958C4-17A6-45F1-A0D4-97EA327FCD5D}" presName="composite" presStyleCnt="0"/>
      <dgm:spPr/>
    </dgm:pt>
    <dgm:pt modelId="{1DEFF585-D2A2-425D-9A7B-723AEBE14326}" type="pres">
      <dgm:prSet presAssocID="{9EF958C4-17A6-45F1-A0D4-97EA327FCD5D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096E670B-1E84-4EA0-B231-6AA81F666CC1}" type="pres">
      <dgm:prSet presAssocID="{9EF958C4-17A6-45F1-A0D4-97EA327FCD5D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5784F817-1E6D-4693-9A2E-35570CB54175}" type="presOf" srcId="{923AE9CE-BCBD-4530-A802-704187E729FC}" destId="{30CB63FA-B453-441C-92D1-D60D2ABC1982}" srcOrd="0" destOrd="0" presId="urn:microsoft.com/office/officeart/2005/8/layout/chevron2"/>
    <dgm:cxn modelId="{FA0EEE35-0128-4877-9DCE-20DA97539B03}" type="presOf" srcId="{306920F0-7F42-4A59-A863-B7DE9AB74F98}" destId="{DF7723A4-DCA5-4D7C-9C32-CA528DDDFAC9}" srcOrd="0" destOrd="0" presId="urn:microsoft.com/office/officeart/2005/8/layout/chevron2"/>
    <dgm:cxn modelId="{0322CB41-5B7F-425E-A8A1-7F7EF8BE00D1}" srcId="{9EF958C4-17A6-45F1-A0D4-97EA327FCD5D}" destId="{02A06B43-B731-4055-9584-9188833216B7}" srcOrd="1" destOrd="0" parTransId="{12126689-EDF6-4F9C-9F7A-22467B5AFDD1}" sibTransId="{18F40237-3464-4582-AE2B-37F3C858FC89}"/>
    <dgm:cxn modelId="{6921C374-926D-40E2-8B57-8628B54B3371}" type="presOf" srcId="{9EF958C4-17A6-45F1-A0D4-97EA327FCD5D}" destId="{1DEFF585-D2A2-425D-9A7B-723AEBE14326}" srcOrd="0" destOrd="0" presId="urn:microsoft.com/office/officeart/2005/8/layout/chevron2"/>
    <dgm:cxn modelId="{6B774D81-1FFF-41F8-AB80-118A42F4E754}" type="presOf" srcId="{02A06B43-B731-4055-9584-9188833216B7}" destId="{096E670B-1E84-4EA0-B231-6AA81F666CC1}" srcOrd="0" destOrd="1" presId="urn:microsoft.com/office/officeart/2005/8/layout/chevron2"/>
    <dgm:cxn modelId="{E975519B-52A6-44FC-AEF7-EE00AB055528}" type="presOf" srcId="{1F0B4187-A730-495B-A1DB-EBDB07E8A601}" destId="{7DA889B0-0890-4796-8020-FD6C1591AFA0}" srcOrd="0" destOrd="0" presId="urn:microsoft.com/office/officeart/2005/8/layout/chevron2"/>
    <dgm:cxn modelId="{669C7BA2-05E0-42E9-9D49-95BD4113D449}" type="presOf" srcId="{25349EAE-F48E-4040-B0D4-A636DA99DD35}" destId="{450B2CE3-3FD0-47EA-B23C-6A51EBDBD630}" srcOrd="0" destOrd="0" presId="urn:microsoft.com/office/officeart/2005/8/layout/chevron2"/>
    <dgm:cxn modelId="{CD91DBBA-FDAF-4080-9729-441411005B2D}" srcId="{9EF958C4-17A6-45F1-A0D4-97EA327FCD5D}" destId="{F23E3160-1B71-42D5-8EEE-255BDEC4A3F2}" srcOrd="0" destOrd="0" parTransId="{31A1FD6E-150E-4F13-B1BA-BD85331C5DCA}" sibTransId="{B07CD084-5CD8-4F80-AEFB-7C70D442A318}"/>
    <dgm:cxn modelId="{D9DB30BC-DAF8-49DA-9D88-B695C077BB4D}" srcId="{306920F0-7F42-4A59-A863-B7DE9AB74F98}" destId="{9EF958C4-17A6-45F1-A0D4-97EA327FCD5D}" srcOrd="2" destOrd="0" parTransId="{19666A18-09A1-4D44-96A7-4BC345BEE33C}" sibTransId="{87B4C1BF-A25B-46D8-A8A3-758B0A6E9DD5}"/>
    <dgm:cxn modelId="{5144FFC4-45A3-42C5-96D9-5745EEC142B5}" srcId="{923AE9CE-BCBD-4530-A802-704187E729FC}" destId="{F614E298-C4D1-43C8-8CB7-CAD947B0B86F}" srcOrd="0" destOrd="0" parTransId="{A79AD8F0-896D-466C-ADCA-AB22D2368704}" sibTransId="{585430D0-AB6D-4337-BDF1-649BF990ACD8}"/>
    <dgm:cxn modelId="{6C4675D0-F5A1-49C3-BAAF-1DAEA66FF761}" type="presOf" srcId="{F614E298-C4D1-43C8-8CB7-CAD947B0B86F}" destId="{31F6AABD-6463-41F6-A1C0-6EF6849CF0FF}" srcOrd="0" destOrd="0" presId="urn:microsoft.com/office/officeart/2005/8/layout/chevron2"/>
    <dgm:cxn modelId="{F857CEE0-57D4-420B-959C-9B76B744F7BA}" type="presOf" srcId="{F23E3160-1B71-42D5-8EEE-255BDEC4A3F2}" destId="{096E670B-1E84-4EA0-B231-6AA81F666CC1}" srcOrd="0" destOrd="0" presId="urn:microsoft.com/office/officeart/2005/8/layout/chevron2"/>
    <dgm:cxn modelId="{AE90D0E1-38EC-4EEB-A08E-C5B4DD67B019}" srcId="{306920F0-7F42-4A59-A863-B7DE9AB74F98}" destId="{923AE9CE-BCBD-4530-A802-704187E729FC}" srcOrd="0" destOrd="0" parTransId="{3B100B43-1CE2-4CAF-849B-0A62183C5A93}" sibTransId="{CBE2DA1E-0827-4C18-828C-01469D6E9111}"/>
    <dgm:cxn modelId="{4C6785EB-BD6E-4CDF-B613-42ADF9EA05EF}" srcId="{25349EAE-F48E-4040-B0D4-A636DA99DD35}" destId="{1F0B4187-A730-495B-A1DB-EBDB07E8A601}" srcOrd="0" destOrd="0" parTransId="{2AC7AA08-44BE-4537-8C68-BE9F6261C72E}" sibTransId="{ECBF0209-22FB-4F10-8B6E-6D20EE547F98}"/>
    <dgm:cxn modelId="{F68AECFC-296B-4721-80C9-70BD91BB34A8}" srcId="{306920F0-7F42-4A59-A863-B7DE9AB74F98}" destId="{25349EAE-F48E-4040-B0D4-A636DA99DD35}" srcOrd="1" destOrd="0" parTransId="{A9DE188B-03E5-47D3-8C53-DCDAD75EF3F0}" sibTransId="{DE257BA3-B053-44D2-A126-ECC1E893284F}"/>
    <dgm:cxn modelId="{F9DE03D3-026D-48E6-A154-F01CB94CACD7}" type="presParOf" srcId="{DF7723A4-DCA5-4D7C-9C32-CA528DDDFAC9}" destId="{824DA337-A728-4D21-B9F2-6668146FAF14}" srcOrd="0" destOrd="0" presId="urn:microsoft.com/office/officeart/2005/8/layout/chevron2"/>
    <dgm:cxn modelId="{59139EA7-4917-44BF-8894-F7E1C7317309}" type="presParOf" srcId="{824DA337-A728-4D21-B9F2-6668146FAF14}" destId="{30CB63FA-B453-441C-92D1-D60D2ABC1982}" srcOrd="0" destOrd="0" presId="urn:microsoft.com/office/officeart/2005/8/layout/chevron2"/>
    <dgm:cxn modelId="{2416B6E4-9D87-4430-8898-79F9C08A3F41}" type="presParOf" srcId="{824DA337-A728-4D21-B9F2-6668146FAF14}" destId="{31F6AABD-6463-41F6-A1C0-6EF6849CF0FF}" srcOrd="1" destOrd="0" presId="urn:microsoft.com/office/officeart/2005/8/layout/chevron2"/>
    <dgm:cxn modelId="{0BDEC416-7515-4F65-A409-EB031EA3CF7D}" type="presParOf" srcId="{DF7723A4-DCA5-4D7C-9C32-CA528DDDFAC9}" destId="{50413BE6-3ECE-4FBA-8D16-758623C775B2}" srcOrd="1" destOrd="0" presId="urn:microsoft.com/office/officeart/2005/8/layout/chevron2"/>
    <dgm:cxn modelId="{E1C6A8C3-190A-48C7-A09F-4938A201F615}" type="presParOf" srcId="{DF7723A4-DCA5-4D7C-9C32-CA528DDDFAC9}" destId="{16C9A77B-30A3-497C-9C5D-C3975E360360}" srcOrd="2" destOrd="0" presId="urn:microsoft.com/office/officeart/2005/8/layout/chevron2"/>
    <dgm:cxn modelId="{231CE3B1-57E0-4588-AE58-C0F14A4E11AC}" type="presParOf" srcId="{16C9A77B-30A3-497C-9C5D-C3975E360360}" destId="{450B2CE3-3FD0-47EA-B23C-6A51EBDBD630}" srcOrd="0" destOrd="0" presId="urn:microsoft.com/office/officeart/2005/8/layout/chevron2"/>
    <dgm:cxn modelId="{FE33AD82-7965-4460-A47E-EE7395A18BC8}" type="presParOf" srcId="{16C9A77B-30A3-497C-9C5D-C3975E360360}" destId="{7DA889B0-0890-4796-8020-FD6C1591AFA0}" srcOrd="1" destOrd="0" presId="urn:microsoft.com/office/officeart/2005/8/layout/chevron2"/>
    <dgm:cxn modelId="{F1749299-BA81-4746-B466-CC11B227F759}" type="presParOf" srcId="{DF7723A4-DCA5-4D7C-9C32-CA528DDDFAC9}" destId="{BF95435C-F311-4654-80FF-AE7A847AF53A}" srcOrd="3" destOrd="0" presId="urn:microsoft.com/office/officeart/2005/8/layout/chevron2"/>
    <dgm:cxn modelId="{84C004B3-64F9-4323-B3CC-8F43A93C7891}" type="presParOf" srcId="{DF7723A4-DCA5-4D7C-9C32-CA528DDDFAC9}" destId="{750E187A-4172-4058-996A-645305D72668}" srcOrd="4" destOrd="0" presId="urn:microsoft.com/office/officeart/2005/8/layout/chevron2"/>
    <dgm:cxn modelId="{ECB2969A-A3F6-4259-8A9E-9A2DF76E0E02}" type="presParOf" srcId="{750E187A-4172-4058-996A-645305D72668}" destId="{1DEFF585-D2A2-425D-9A7B-723AEBE14326}" srcOrd="0" destOrd="0" presId="urn:microsoft.com/office/officeart/2005/8/layout/chevron2"/>
    <dgm:cxn modelId="{0257BB0A-88A6-4114-AFE3-37FC7101CCF6}" type="presParOf" srcId="{750E187A-4172-4058-996A-645305D72668}" destId="{096E670B-1E84-4EA0-B231-6AA81F666CC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6920F0-7F42-4A59-A863-B7DE9AB74F98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VE"/>
        </a:p>
      </dgm:t>
    </dgm:pt>
    <dgm:pt modelId="{25349EAE-F48E-4040-B0D4-A636DA99DD35}">
      <dgm:prSet phldrT="[Texto]"/>
      <dgm:spPr>
        <a:solidFill>
          <a:srgbClr val="3D3DFF"/>
        </a:solidFill>
      </dgm:spPr>
      <dgm:t>
        <a:bodyPr/>
        <a:lstStyle/>
        <a:p>
          <a:r>
            <a:rPr lang="es-VE" noProof="0" dirty="0"/>
            <a:t>Fase de transición</a:t>
          </a:r>
        </a:p>
      </dgm:t>
    </dgm:pt>
    <dgm:pt modelId="{A9DE188B-03E5-47D3-8C53-DCDAD75EF3F0}" type="parTrans" cxnId="{F68AECFC-296B-4721-80C9-70BD91BB34A8}">
      <dgm:prSet/>
      <dgm:spPr/>
      <dgm:t>
        <a:bodyPr/>
        <a:lstStyle/>
        <a:p>
          <a:endParaRPr lang="es-VE"/>
        </a:p>
      </dgm:t>
    </dgm:pt>
    <dgm:pt modelId="{DE257BA3-B053-44D2-A126-ECC1E893284F}" type="sibTrans" cxnId="{F68AECFC-296B-4721-80C9-70BD91BB34A8}">
      <dgm:prSet/>
      <dgm:spPr/>
      <dgm:t>
        <a:bodyPr/>
        <a:lstStyle/>
        <a:p>
          <a:endParaRPr lang="es-VE"/>
        </a:p>
      </dgm:t>
    </dgm:pt>
    <dgm:pt modelId="{1F0B4187-A730-495B-A1DB-EBDB07E8A601}">
      <dgm:prSet phldrT="[Texto]" custT="1"/>
      <dgm:spPr/>
      <dgm:t>
        <a:bodyPr/>
        <a:lstStyle/>
        <a:p>
          <a:r>
            <a:rPr lang="es-VE" sz="3200" noProof="0" dirty="0">
              <a:latin typeface="Arial" panose="020B0604020202020204" pitchFamily="34" charset="0"/>
              <a:cs typeface="Arial" panose="020B0604020202020204" pitchFamily="34" charset="0"/>
            </a:rPr>
            <a:t>Aceptación y verificación </a:t>
          </a:r>
        </a:p>
      </dgm:t>
    </dgm:pt>
    <dgm:pt modelId="{2AC7AA08-44BE-4537-8C68-BE9F6261C72E}" type="parTrans" cxnId="{4C6785EB-BD6E-4CDF-B613-42ADF9EA05EF}">
      <dgm:prSet/>
      <dgm:spPr/>
      <dgm:t>
        <a:bodyPr/>
        <a:lstStyle/>
        <a:p>
          <a:endParaRPr lang="es-VE"/>
        </a:p>
      </dgm:t>
    </dgm:pt>
    <dgm:pt modelId="{ECBF0209-22FB-4F10-8B6E-6D20EE547F98}" type="sibTrans" cxnId="{4C6785EB-BD6E-4CDF-B613-42ADF9EA05EF}">
      <dgm:prSet/>
      <dgm:spPr/>
      <dgm:t>
        <a:bodyPr/>
        <a:lstStyle/>
        <a:p>
          <a:endParaRPr lang="es-VE"/>
        </a:p>
      </dgm:t>
    </dgm:pt>
    <dgm:pt modelId="{DF7723A4-DCA5-4D7C-9C32-CA528DDDFAC9}" type="pres">
      <dgm:prSet presAssocID="{306920F0-7F42-4A59-A863-B7DE9AB74F98}" presName="linearFlow" presStyleCnt="0">
        <dgm:presLayoutVars>
          <dgm:dir/>
          <dgm:animLvl val="lvl"/>
          <dgm:resizeHandles val="exact"/>
        </dgm:presLayoutVars>
      </dgm:prSet>
      <dgm:spPr/>
    </dgm:pt>
    <dgm:pt modelId="{16C9A77B-30A3-497C-9C5D-C3975E360360}" type="pres">
      <dgm:prSet presAssocID="{25349EAE-F48E-4040-B0D4-A636DA99DD35}" presName="composite" presStyleCnt="0"/>
      <dgm:spPr/>
    </dgm:pt>
    <dgm:pt modelId="{450B2CE3-3FD0-47EA-B23C-6A51EBDBD630}" type="pres">
      <dgm:prSet presAssocID="{25349EAE-F48E-4040-B0D4-A636DA99DD35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7DA889B0-0890-4796-8020-FD6C1591AFA0}" type="pres">
      <dgm:prSet presAssocID="{25349EAE-F48E-4040-B0D4-A636DA99DD35}" presName="descendantText" presStyleLbl="alignAcc1" presStyleIdx="0" presStyleCnt="1">
        <dgm:presLayoutVars>
          <dgm:bulletEnabled val="1"/>
        </dgm:presLayoutVars>
      </dgm:prSet>
      <dgm:spPr/>
    </dgm:pt>
  </dgm:ptLst>
  <dgm:cxnLst>
    <dgm:cxn modelId="{32590522-1079-4E5A-B9E6-6BBF18ECAC26}" type="presOf" srcId="{306920F0-7F42-4A59-A863-B7DE9AB74F98}" destId="{DF7723A4-DCA5-4D7C-9C32-CA528DDDFAC9}" srcOrd="0" destOrd="0" presId="urn:microsoft.com/office/officeart/2005/8/layout/chevron2"/>
    <dgm:cxn modelId="{2A8A5E4C-6342-47E2-A098-9AF36F588E23}" type="presOf" srcId="{25349EAE-F48E-4040-B0D4-A636DA99DD35}" destId="{450B2CE3-3FD0-47EA-B23C-6A51EBDBD630}" srcOrd="0" destOrd="0" presId="urn:microsoft.com/office/officeart/2005/8/layout/chevron2"/>
    <dgm:cxn modelId="{A9E6CAA1-8A88-462B-ADFF-0207EEFFEFC5}" type="presOf" srcId="{1F0B4187-A730-495B-A1DB-EBDB07E8A601}" destId="{7DA889B0-0890-4796-8020-FD6C1591AFA0}" srcOrd="0" destOrd="0" presId="urn:microsoft.com/office/officeart/2005/8/layout/chevron2"/>
    <dgm:cxn modelId="{4C6785EB-BD6E-4CDF-B613-42ADF9EA05EF}" srcId="{25349EAE-F48E-4040-B0D4-A636DA99DD35}" destId="{1F0B4187-A730-495B-A1DB-EBDB07E8A601}" srcOrd="0" destOrd="0" parTransId="{2AC7AA08-44BE-4537-8C68-BE9F6261C72E}" sibTransId="{ECBF0209-22FB-4F10-8B6E-6D20EE547F98}"/>
    <dgm:cxn modelId="{F68AECFC-296B-4721-80C9-70BD91BB34A8}" srcId="{306920F0-7F42-4A59-A863-B7DE9AB74F98}" destId="{25349EAE-F48E-4040-B0D4-A636DA99DD35}" srcOrd="0" destOrd="0" parTransId="{A9DE188B-03E5-47D3-8C53-DCDAD75EF3F0}" sibTransId="{DE257BA3-B053-44D2-A126-ECC1E893284F}"/>
    <dgm:cxn modelId="{098A2E6F-75CC-4D3C-BA67-23EC940658F5}" type="presParOf" srcId="{DF7723A4-DCA5-4D7C-9C32-CA528DDDFAC9}" destId="{16C9A77B-30A3-497C-9C5D-C3975E360360}" srcOrd="0" destOrd="0" presId="urn:microsoft.com/office/officeart/2005/8/layout/chevron2"/>
    <dgm:cxn modelId="{329EC091-597A-45D3-B7EC-11594359524F}" type="presParOf" srcId="{16C9A77B-30A3-497C-9C5D-C3975E360360}" destId="{450B2CE3-3FD0-47EA-B23C-6A51EBDBD630}" srcOrd="0" destOrd="0" presId="urn:microsoft.com/office/officeart/2005/8/layout/chevron2"/>
    <dgm:cxn modelId="{4ED0B923-0807-4D6B-B6B2-3D9C22C1E58E}" type="presParOf" srcId="{16C9A77B-30A3-497C-9C5D-C3975E360360}" destId="{7DA889B0-0890-4796-8020-FD6C1591AFA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1EAC13-67B2-484D-9108-56A3B4846183}" type="doc">
      <dgm:prSet loTypeId="urn:microsoft.com/office/officeart/2005/8/layout/hList7" loCatId="list" qsTypeId="urn:microsoft.com/office/officeart/2005/8/quickstyle/3d1" qsCatId="3D" csTypeId="urn:microsoft.com/office/officeart/2005/8/colors/accent1_2" csCatId="accent1" phldr="1"/>
      <dgm:spPr/>
    </dgm:pt>
    <dgm:pt modelId="{A84980E4-1236-4AC6-A1C2-96DBB61C2BDE}">
      <dgm:prSet phldrT="[Texto]"/>
      <dgm:spPr>
        <a:gradFill rotWithShape="0">
          <a:gsLst>
            <a:gs pos="0">
              <a:schemeClr val="accent5">
                <a:lumMod val="60000"/>
                <a:lumOff val="4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s-VE" b="1" noProof="0" dirty="0"/>
            <a:t>Factibilidad económica</a:t>
          </a:r>
          <a:endParaRPr lang="es-VE" noProof="0" dirty="0"/>
        </a:p>
      </dgm:t>
    </dgm:pt>
    <dgm:pt modelId="{9F2AF80B-5B8D-43FC-9066-8517241B3BDE}" type="parTrans" cxnId="{542B1A21-DE5B-4796-92C1-AEC337985795}">
      <dgm:prSet/>
      <dgm:spPr/>
      <dgm:t>
        <a:bodyPr/>
        <a:lstStyle/>
        <a:p>
          <a:endParaRPr lang="es-VE"/>
        </a:p>
      </dgm:t>
    </dgm:pt>
    <dgm:pt modelId="{4F36C5C6-5028-4725-A476-18E7E30E4C99}" type="sibTrans" cxnId="{542B1A21-DE5B-4796-92C1-AEC337985795}">
      <dgm:prSet/>
      <dgm:spPr/>
      <dgm:t>
        <a:bodyPr/>
        <a:lstStyle/>
        <a:p>
          <a:endParaRPr lang="es-VE"/>
        </a:p>
      </dgm:t>
    </dgm:pt>
    <dgm:pt modelId="{AEF0B3B8-B6D2-450F-B412-79DB71A2A647}">
      <dgm:prSet phldrT="[Texto]"/>
      <dgm:spPr>
        <a:gradFill rotWithShape="0">
          <a:gsLst>
            <a:gs pos="0">
              <a:srgbClr val="6666FF"/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s-VE" b="1" noProof="0" dirty="0"/>
            <a:t>Factibilidad técnica  </a:t>
          </a:r>
          <a:endParaRPr lang="es-VE" noProof="0" dirty="0"/>
        </a:p>
      </dgm:t>
    </dgm:pt>
    <dgm:pt modelId="{E5449622-2053-4525-8187-810ADED19A80}" type="parTrans" cxnId="{9AB023B8-1EEC-4854-9C82-3DE9668CEB05}">
      <dgm:prSet/>
      <dgm:spPr/>
      <dgm:t>
        <a:bodyPr/>
        <a:lstStyle/>
        <a:p>
          <a:endParaRPr lang="es-VE"/>
        </a:p>
      </dgm:t>
    </dgm:pt>
    <dgm:pt modelId="{ADB31F09-4F36-45A2-8B4B-951ED5FE68FD}" type="sibTrans" cxnId="{9AB023B8-1EEC-4854-9C82-3DE9668CEB05}">
      <dgm:prSet/>
      <dgm:spPr/>
      <dgm:t>
        <a:bodyPr/>
        <a:lstStyle/>
        <a:p>
          <a:endParaRPr lang="es-VE"/>
        </a:p>
      </dgm:t>
    </dgm:pt>
    <dgm:pt modelId="{B781769D-5B71-47A0-8BD5-D18E2ADF6588}">
      <dgm:prSet phldrT="[Texto]"/>
      <dgm:spPr>
        <a:gradFill rotWithShape="0">
          <a:gsLst>
            <a:gs pos="0">
              <a:srgbClr val="9966FF"/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s-VE" b="1" noProof="0" dirty="0"/>
            <a:t>Factibilidad humana </a:t>
          </a:r>
          <a:endParaRPr lang="es-VE" noProof="0" dirty="0"/>
        </a:p>
      </dgm:t>
    </dgm:pt>
    <dgm:pt modelId="{0BAE0B78-DEDA-4F1F-A37B-5FE4302DAB0A}" type="parTrans" cxnId="{ED1B9F74-EF51-4BB1-9A61-668BE67A8008}">
      <dgm:prSet/>
      <dgm:spPr/>
      <dgm:t>
        <a:bodyPr/>
        <a:lstStyle/>
        <a:p>
          <a:endParaRPr lang="es-VE"/>
        </a:p>
      </dgm:t>
    </dgm:pt>
    <dgm:pt modelId="{8558D048-0CAC-4CC3-BD94-29BB59C5360F}" type="sibTrans" cxnId="{ED1B9F74-EF51-4BB1-9A61-668BE67A8008}">
      <dgm:prSet/>
      <dgm:spPr/>
      <dgm:t>
        <a:bodyPr/>
        <a:lstStyle/>
        <a:p>
          <a:endParaRPr lang="es-VE"/>
        </a:p>
      </dgm:t>
    </dgm:pt>
    <dgm:pt modelId="{7A66A7C9-F2F2-4A05-B033-0457154291AB}" type="pres">
      <dgm:prSet presAssocID="{2E1EAC13-67B2-484D-9108-56A3B4846183}" presName="Name0" presStyleCnt="0">
        <dgm:presLayoutVars>
          <dgm:dir/>
          <dgm:resizeHandles val="exact"/>
        </dgm:presLayoutVars>
      </dgm:prSet>
      <dgm:spPr/>
    </dgm:pt>
    <dgm:pt modelId="{9D6351F1-3B61-4BD7-A038-25695BB31779}" type="pres">
      <dgm:prSet presAssocID="{2E1EAC13-67B2-484D-9108-56A3B4846183}" presName="fgShape" presStyleLbl="fgShp" presStyleIdx="0" presStyleCnt="1"/>
      <dgm:spPr/>
    </dgm:pt>
    <dgm:pt modelId="{AF1C46B2-52F4-4F81-882A-CCE2FC3BD0F4}" type="pres">
      <dgm:prSet presAssocID="{2E1EAC13-67B2-484D-9108-56A3B4846183}" presName="linComp" presStyleCnt="0"/>
      <dgm:spPr/>
    </dgm:pt>
    <dgm:pt modelId="{380C1E8F-4D3F-4A62-A9A4-CDD86641D805}" type="pres">
      <dgm:prSet presAssocID="{A84980E4-1236-4AC6-A1C2-96DBB61C2BDE}" presName="compNode" presStyleCnt="0"/>
      <dgm:spPr/>
    </dgm:pt>
    <dgm:pt modelId="{AB553A36-BEFF-46B1-9855-DF7B059D3422}" type="pres">
      <dgm:prSet presAssocID="{A84980E4-1236-4AC6-A1C2-96DBB61C2BDE}" presName="bkgdShape" presStyleLbl="node1" presStyleIdx="0" presStyleCnt="3"/>
      <dgm:spPr/>
    </dgm:pt>
    <dgm:pt modelId="{D41F3EA6-FA30-413F-92E7-3DC97F4071DA}" type="pres">
      <dgm:prSet presAssocID="{A84980E4-1236-4AC6-A1C2-96DBB61C2BDE}" presName="nodeTx" presStyleLbl="node1" presStyleIdx="0" presStyleCnt="3">
        <dgm:presLayoutVars>
          <dgm:bulletEnabled val="1"/>
        </dgm:presLayoutVars>
      </dgm:prSet>
      <dgm:spPr/>
    </dgm:pt>
    <dgm:pt modelId="{EE1C52C0-74A3-477D-864A-77FBC2BBDCA6}" type="pres">
      <dgm:prSet presAssocID="{A84980E4-1236-4AC6-A1C2-96DBB61C2BDE}" presName="invisiNode" presStyleLbl="node1" presStyleIdx="0" presStyleCnt="3"/>
      <dgm:spPr/>
    </dgm:pt>
    <dgm:pt modelId="{794AEBFC-58DF-4888-B78C-05319FEE5EFA}" type="pres">
      <dgm:prSet presAssocID="{A84980E4-1236-4AC6-A1C2-96DBB61C2BDE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A60DF849-F22A-4C11-950E-6168EF38D841}" type="pres">
      <dgm:prSet presAssocID="{4F36C5C6-5028-4725-A476-18E7E30E4C99}" presName="sibTrans" presStyleLbl="sibTrans2D1" presStyleIdx="0" presStyleCnt="0"/>
      <dgm:spPr/>
    </dgm:pt>
    <dgm:pt modelId="{6924F441-CED2-474E-9ABA-B4973FF6F4E9}" type="pres">
      <dgm:prSet presAssocID="{AEF0B3B8-B6D2-450F-B412-79DB71A2A647}" presName="compNode" presStyleCnt="0"/>
      <dgm:spPr/>
    </dgm:pt>
    <dgm:pt modelId="{062AE145-637E-4187-AB35-B6BBBF90FD62}" type="pres">
      <dgm:prSet presAssocID="{AEF0B3B8-B6D2-450F-B412-79DB71A2A647}" presName="bkgdShape" presStyleLbl="node1" presStyleIdx="1" presStyleCnt="3"/>
      <dgm:spPr/>
    </dgm:pt>
    <dgm:pt modelId="{2CF71E3D-A4D5-4328-B73A-7675B9E0473D}" type="pres">
      <dgm:prSet presAssocID="{AEF0B3B8-B6D2-450F-B412-79DB71A2A647}" presName="nodeTx" presStyleLbl="node1" presStyleIdx="1" presStyleCnt="3">
        <dgm:presLayoutVars>
          <dgm:bulletEnabled val="1"/>
        </dgm:presLayoutVars>
      </dgm:prSet>
      <dgm:spPr/>
    </dgm:pt>
    <dgm:pt modelId="{C8FD168B-DE8A-421F-8E10-6352EFF1D15C}" type="pres">
      <dgm:prSet presAssocID="{AEF0B3B8-B6D2-450F-B412-79DB71A2A647}" presName="invisiNode" presStyleLbl="node1" presStyleIdx="1" presStyleCnt="3"/>
      <dgm:spPr/>
    </dgm:pt>
    <dgm:pt modelId="{EED5BB6C-8180-45C4-BA26-565861BB0056}" type="pres">
      <dgm:prSet presAssocID="{AEF0B3B8-B6D2-450F-B412-79DB71A2A647}" presName="imagNode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8000" r="-8000"/>
          </a:stretch>
        </a:blipFill>
      </dgm:spPr>
    </dgm:pt>
    <dgm:pt modelId="{1E1BE016-8069-4E50-8C97-C247CB9BE322}" type="pres">
      <dgm:prSet presAssocID="{ADB31F09-4F36-45A2-8B4B-951ED5FE68FD}" presName="sibTrans" presStyleLbl="sibTrans2D1" presStyleIdx="0" presStyleCnt="0"/>
      <dgm:spPr/>
    </dgm:pt>
    <dgm:pt modelId="{866A977D-D6B3-40AB-9B21-37373156DBA8}" type="pres">
      <dgm:prSet presAssocID="{B781769D-5B71-47A0-8BD5-D18E2ADF6588}" presName="compNode" presStyleCnt="0"/>
      <dgm:spPr/>
    </dgm:pt>
    <dgm:pt modelId="{AAD4772E-E587-4F13-A4DC-BCFD310720FE}" type="pres">
      <dgm:prSet presAssocID="{B781769D-5B71-47A0-8BD5-D18E2ADF6588}" presName="bkgdShape" presStyleLbl="node1" presStyleIdx="2" presStyleCnt="3" custLinFactNeighborX="23617" custLinFactNeighborY="300"/>
      <dgm:spPr/>
    </dgm:pt>
    <dgm:pt modelId="{2C21083E-01B6-4A0A-8039-807B2070406D}" type="pres">
      <dgm:prSet presAssocID="{B781769D-5B71-47A0-8BD5-D18E2ADF6588}" presName="nodeTx" presStyleLbl="node1" presStyleIdx="2" presStyleCnt="3">
        <dgm:presLayoutVars>
          <dgm:bulletEnabled val="1"/>
        </dgm:presLayoutVars>
      </dgm:prSet>
      <dgm:spPr/>
    </dgm:pt>
    <dgm:pt modelId="{B0B20C54-B8A9-47DC-AAFB-D690A29453D1}" type="pres">
      <dgm:prSet presAssocID="{B781769D-5B71-47A0-8BD5-D18E2ADF6588}" presName="invisiNode" presStyleLbl="node1" presStyleIdx="2" presStyleCnt="3"/>
      <dgm:spPr/>
    </dgm:pt>
    <dgm:pt modelId="{AD012975-9B4A-4A5E-9072-663A7F31C9BF}" type="pres">
      <dgm:prSet presAssocID="{B781769D-5B71-47A0-8BD5-D18E2ADF6588}" presName="imagNode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l="-16000" r="-16000"/>
          </a:stretch>
        </a:blipFill>
      </dgm:spPr>
    </dgm:pt>
  </dgm:ptLst>
  <dgm:cxnLst>
    <dgm:cxn modelId="{604E0412-5CEA-4114-86FA-913044848751}" type="presOf" srcId="{ADB31F09-4F36-45A2-8B4B-951ED5FE68FD}" destId="{1E1BE016-8069-4E50-8C97-C247CB9BE322}" srcOrd="0" destOrd="0" presId="urn:microsoft.com/office/officeart/2005/8/layout/hList7"/>
    <dgm:cxn modelId="{542B1A21-DE5B-4796-92C1-AEC337985795}" srcId="{2E1EAC13-67B2-484D-9108-56A3B4846183}" destId="{A84980E4-1236-4AC6-A1C2-96DBB61C2BDE}" srcOrd="0" destOrd="0" parTransId="{9F2AF80B-5B8D-43FC-9066-8517241B3BDE}" sibTransId="{4F36C5C6-5028-4725-A476-18E7E30E4C99}"/>
    <dgm:cxn modelId="{94C9E028-BA92-41E4-AA95-5022290B2F23}" type="presOf" srcId="{A84980E4-1236-4AC6-A1C2-96DBB61C2BDE}" destId="{D41F3EA6-FA30-413F-92E7-3DC97F4071DA}" srcOrd="1" destOrd="0" presId="urn:microsoft.com/office/officeart/2005/8/layout/hList7"/>
    <dgm:cxn modelId="{F8A82543-BCC6-449D-80E4-05C6FAF8D687}" type="presOf" srcId="{B781769D-5B71-47A0-8BD5-D18E2ADF6588}" destId="{AAD4772E-E587-4F13-A4DC-BCFD310720FE}" srcOrd="0" destOrd="0" presId="urn:microsoft.com/office/officeart/2005/8/layout/hList7"/>
    <dgm:cxn modelId="{05CB7867-BBBB-4148-A86B-A2D6B23A42C8}" type="presOf" srcId="{AEF0B3B8-B6D2-450F-B412-79DB71A2A647}" destId="{2CF71E3D-A4D5-4328-B73A-7675B9E0473D}" srcOrd="1" destOrd="0" presId="urn:microsoft.com/office/officeart/2005/8/layout/hList7"/>
    <dgm:cxn modelId="{2E4A4E4C-2887-42BC-B53C-B59FDC5ED3B6}" type="presOf" srcId="{AEF0B3B8-B6D2-450F-B412-79DB71A2A647}" destId="{062AE145-637E-4187-AB35-B6BBBF90FD62}" srcOrd="0" destOrd="0" presId="urn:microsoft.com/office/officeart/2005/8/layout/hList7"/>
    <dgm:cxn modelId="{D9D6DE72-FD33-46CA-A5A6-B5FFCB5159F1}" type="presOf" srcId="{B781769D-5B71-47A0-8BD5-D18E2ADF6588}" destId="{2C21083E-01B6-4A0A-8039-807B2070406D}" srcOrd="1" destOrd="0" presId="urn:microsoft.com/office/officeart/2005/8/layout/hList7"/>
    <dgm:cxn modelId="{ED1B9F74-EF51-4BB1-9A61-668BE67A8008}" srcId="{2E1EAC13-67B2-484D-9108-56A3B4846183}" destId="{B781769D-5B71-47A0-8BD5-D18E2ADF6588}" srcOrd="2" destOrd="0" parTransId="{0BAE0B78-DEDA-4F1F-A37B-5FE4302DAB0A}" sibTransId="{8558D048-0CAC-4CC3-BD94-29BB59C5360F}"/>
    <dgm:cxn modelId="{7DB31187-F26A-4D97-A1AF-67DDE120B8DA}" type="presOf" srcId="{4F36C5C6-5028-4725-A476-18E7E30E4C99}" destId="{A60DF849-F22A-4C11-950E-6168EF38D841}" srcOrd="0" destOrd="0" presId="urn:microsoft.com/office/officeart/2005/8/layout/hList7"/>
    <dgm:cxn modelId="{B1F84E99-41B0-4FCB-AD9A-72D18598E200}" type="presOf" srcId="{2E1EAC13-67B2-484D-9108-56A3B4846183}" destId="{7A66A7C9-F2F2-4A05-B033-0457154291AB}" srcOrd="0" destOrd="0" presId="urn:microsoft.com/office/officeart/2005/8/layout/hList7"/>
    <dgm:cxn modelId="{DDD160A3-7809-4246-A977-6B7AC2394822}" type="presOf" srcId="{A84980E4-1236-4AC6-A1C2-96DBB61C2BDE}" destId="{AB553A36-BEFF-46B1-9855-DF7B059D3422}" srcOrd="0" destOrd="0" presId="urn:microsoft.com/office/officeart/2005/8/layout/hList7"/>
    <dgm:cxn modelId="{9AB023B8-1EEC-4854-9C82-3DE9668CEB05}" srcId="{2E1EAC13-67B2-484D-9108-56A3B4846183}" destId="{AEF0B3B8-B6D2-450F-B412-79DB71A2A647}" srcOrd="1" destOrd="0" parTransId="{E5449622-2053-4525-8187-810ADED19A80}" sibTransId="{ADB31F09-4F36-45A2-8B4B-951ED5FE68FD}"/>
    <dgm:cxn modelId="{66224C0A-72B1-417E-947A-5C84BA1AE225}" type="presParOf" srcId="{7A66A7C9-F2F2-4A05-B033-0457154291AB}" destId="{9D6351F1-3B61-4BD7-A038-25695BB31779}" srcOrd="0" destOrd="0" presId="urn:microsoft.com/office/officeart/2005/8/layout/hList7"/>
    <dgm:cxn modelId="{41EEC0C8-131A-49E9-B5EA-AD3496EAC11F}" type="presParOf" srcId="{7A66A7C9-F2F2-4A05-B033-0457154291AB}" destId="{AF1C46B2-52F4-4F81-882A-CCE2FC3BD0F4}" srcOrd="1" destOrd="0" presId="urn:microsoft.com/office/officeart/2005/8/layout/hList7"/>
    <dgm:cxn modelId="{9676A11D-0606-4F23-B1EE-3BA88461529B}" type="presParOf" srcId="{AF1C46B2-52F4-4F81-882A-CCE2FC3BD0F4}" destId="{380C1E8F-4D3F-4A62-A9A4-CDD86641D805}" srcOrd="0" destOrd="0" presId="urn:microsoft.com/office/officeart/2005/8/layout/hList7"/>
    <dgm:cxn modelId="{2A6E400C-B078-42B1-AF2D-1007987451E9}" type="presParOf" srcId="{380C1E8F-4D3F-4A62-A9A4-CDD86641D805}" destId="{AB553A36-BEFF-46B1-9855-DF7B059D3422}" srcOrd="0" destOrd="0" presId="urn:microsoft.com/office/officeart/2005/8/layout/hList7"/>
    <dgm:cxn modelId="{96AEDE73-8F9B-4E48-8F15-6B98D27C3B52}" type="presParOf" srcId="{380C1E8F-4D3F-4A62-A9A4-CDD86641D805}" destId="{D41F3EA6-FA30-413F-92E7-3DC97F4071DA}" srcOrd="1" destOrd="0" presId="urn:microsoft.com/office/officeart/2005/8/layout/hList7"/>
    <dgm:cxn modelId="{C3F04EEA-C256-4FF8-8857-97921C3C0E44}" type="presParOf" srcId="{380C1E8F-4D3F-4A62-A9A4-CDD86641D805}" destId="{EE1C52C0-74A3-477D-864A-77FBC2BBDCA6}" srcOrd="2" destOrd="0" presId="urn:microsoft.com/office/officeart/2005/8/layout/hList7"/>
    <dgm:cxn modelId="{1B4F89CC-0793-48A7-B38D-CE22FF4CCC04}" type="presParOf" srcId="{380C1E8F-4D3F-4A62-A9A4-CDD86641D805}" destId="{794AEBFC-58DF-4888-B78C-05319FEE5EFA}" srcOrd="3" destOrd="0" presId="urn:microsoft.com/office/officeart/2005/8/layout/hList7"/>
    <dgm:cxn modelId="{ED6BAFE7-C4C7-401D-9E51-EC2CA3D039C8}" type="presParOf" srcId="{AF1C46B2-52F4-4F81-882A-CCE2FC3BD0F4}" destId="{A60DF849-F22A-4C11-950E-6168EF38D841}" srcOrd="1" destOrd="0" presId="urn:microsoft.com/office/officeart/2005/8/layout/hList7"/>
    <dgm:cxn modelId="{BDADF7C0-6174-43A5-A61E-00F134AE77AD}" type="presParOf" srcId="{AF1C46B2-52F4-4F81-882A-CCE2FC3BD0F4}" destId="{6924F441-CED2-474E-9ABA-B4973FF6F4E9}" srcOrd="2" destOrd="0" presId="urn:microsoft.com/office/officeart/2005/8/layout/hList7"/>
    <dgm:cxn modelId="{32945001-8932-45B4-B7D3-7154BD3452B8}" type="presParOf" srcId="{6924F441-CED2-474E-9ABA-B4973FF6F4E9}" destId="{062AE145-637E-4187-AB35-B6BBBF90FD62}" srcOrd="0" destOrd="0" presId="urn:microsoft.com/office/officeart/2005/8/layout/hList7"/>
    <dgm:cxn modelId="{E9ABAB5C-5C45-4017-9B48-94EEA9327E9D}" type="presParOf" srcId="{6924F441-CED2-474E-9ABA-B4973FF6F4E9}" destId="{2CF71E3D-A4D5-4328-B73A-7675B9E0473D}" srcOrd="1" destOrd="0" presId="urn:microsoft.com/office/officeart/2005/8/layout/hList7"/>
    <dgm:cxn modelId="{8010C072-0428-40B0-913E-EE4351243378}" type="presParOf" srcId="{6924F441-CED2-474E-9ABA-B4973FF6F4E9}" destId="{C8FD168B-DE8A-421F-8E10-6352EFF1D15C}" srcOrd="2" destOrd="0" presId="urn:microsoft.com/office/officeart/2005/8/layout/hList7"/>
    <dgm:cxn modelId="{F2B9100A-8D9A-4F33-9C46-2F74A9DF8EB9}" type="presParOf" srcId="{6924F441-CED2-474E-9ABA-B4973FF6F4E9}" destId="{EED5BB6C-8180-45C4-BA26-565861BB0056}" srcOrd="3" destOrd="0" presId="urn:microsoft.com/office/officeart/2005/8/layout/hList7"/>
    <dgm:cxn modelId="{26CE84A0-2D3C-4480-9C0B-3CBE0BD03BCF}" type="presParOf" srcId="{AF1C46B2-52F4-4F81-882A-CCE2FC3BD0F4}" destId="{1E1BE016-8069-4E50-8C97-C247CB9BE322}" srcOrd="3" destOrd="0" presId="urn:microsoft.com/office/officeart/2005/8/layout/hList7"/>
    <dgm:cxn modelId="{E684751C-8774-43A9-8A26-827A6A61F263}" type="presParOf" srcId="{AF1C46B2-52F4-4F81-882A-CCE2FC3BD0F4}" destId="{866A977D-D6B3-40AB-9B21-37373156DBA8}" srcOrd="4" destOrd="0" presId="urn:microsoft.com/office/officeart/2005/8/layout/hList7"/>
    <dgm:cxn modelId="{2881CCB6-3DE9-4DEA-BE6F-8CF091B38D7E}" type="presParOf" srcId="{866A977D-D6B3-40AB-9B21-37373156DBA8}" destId="{AAD4772E-E587-4F13-A4DC-BCFD310720FE}" srcOrd="0" destOrd="0" presId="urn:microsoft.com/office/officeart/2005/8/layout/hList7"/>
    <dgm:cxn modelId="{13327CD1-5FDB-4987-A23F-EC83D4FE0D57}" type="presParOf" srcId="{866A977D-D6B3-40AB-9B21-37373156DBA8}" destId="{2C21083E-01B6-4A0A-8039-807B2070406D}" srcOrd="1" destOrd="0" presId="urn:microsoft.com/office/officeart/2005/8/layout/hList7"/>
    <dgm:cxn modelId="{DE052789-DABC-4A4E-9452-8181D301E987}" type="presParOf" srcId="{866A977D-D6B3-40AB-9B21-37373156DBA8}" destId="{B0B20C54-B8A9-47DC-AAFB-D690A29453D1}" srcOrd="2" destOrd="0" presId="urn:microsoft.com/office/officeart/2005/8/layout/hList7"/>
    <dgm:cxn modelId="{F170CDAD-8952-4209-B966-EACBA7D78F7F}" type="presParOf" srcId="{866A977D-D6B3-40AB-9B21-37373156DBA8}" destId="{AD012975-9B4A-4A5E-9072-663A7F31C9BF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37B8F59-33BD-4E9D-89C2-E84BE5902116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B8E2910C-7A42-4AE2-97F6-2D26E576B478}">
      <dgm:prSet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Director del Hospital Antonio José Uzcátegui</a:t>
          </a:r>
          <a:endParaRPr lang="es-VE" noProof="0" dirty="0"/>
        </a:p>
      </dgm:t>
    </dgm:pt>
    <dgm:pt modelId="{BE5D6C37-7DD2-4D32-A337-2EE4966516B2}" type="parTrans" cxnId="{282C1F57-1904-49C5-83D1-A0F46F661EDF}">
      <dgm:prSet/>
      <dgm:spPr/>
      <dgm:t>
        <a:bodyPr/>
        <a:lstStyle/>
        <a:p>
          <a:endParaRPr lang="en-US"/>
        </a:p>
      </dgm:t>
    </dgm:pt>
    <dgm:pt modelId="{4F537BCE-62B2-4AB2-BC65-14BCF97676E2}" type="sibTrans" cxnId="{282C1F57-1904-49C5-83D1-A0F46F661EDF}">
      <dgm:prSet/>
      <dgm:spPr/>
      <dgm:t>
        <a:bodyPr/>
        <a:lstStyle/>
        <a:p>
          <a:endParaRPr lang="en-US"/>
        </a:p>
      </dgm:t>
    </dgm:pt>
    <dgm:pt modelId="{CE3369D8-DB27-4C9A-8C43-5E5A6AADC6DC}">
      <dgm:prSet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Coordinador del departamento de Estadística</a:t>
          </a:r>
          <a:endParaRPr lang="es-VE" noProof="0" dirty="0"/>
        </a:p>
      </dgm:t>
    </dgm:pt>
    <dgm:pt modelId="{E1F15AA5-DFF9-4170-8EE2-74F7C62EB160}" type="parTrans" cxnId="{CD66C8C4-663C-4297-ACE4-58A9164B06C6}">
      <dgm:prSet/>
      <dgm:spPr/>
      <dgm:t>
        <a:bodyPr/>
        <a:lstStyle/>
        <a:p>
          <a:endParaRPr lang="en-US"/>
        </a:p>
      </dgm:t>
    </dgm:pt>
    <dgm:pt modelId="{342E2EBA-4317-4B85-9196-B4E361079567}" type="sibTrans" cxnId="{CD66C8C4-663C-4297-ACE4-58A9164B06C6}">
      <dgm:prSet/>
      <dgm:spPr/>
      <dgm:t>
        <a:bodyPr/>
        <a:lstStyle/>
        <a:p>
          <a:endParaRPr lang="en-US"/>
        </a:p>
      </dgm:t>
    </dgm:pt>
    <dgm:pt modelId="{173561F7-2C49-4EBB-BE3B-15AE759D10A4}">
      <dgm:prSet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Coordinador del departamento de Emergencia y Hospitalización</a:t>
          </a:r>
          <a:endParaRPr lang="es-VE" noProof="0" dirty="0"/>
        </a:p>
      </dgm:t>
    </dgm:pt>
    <dgm:pt modelId="{A577DB01-A452-425A-9EDA-ED485A6F66BF}" type="parTrans" cxnId="{3854D923-2721-4382-81F3-0DC5FDE8647F}">
      <dgm:prSet/>
      <dgm:spPr/>
      <dgm:t>
        <a:bodyPr/>
        <a:lstStyle/>
        <a:p>
          <a:endParaRPr lang="en-US"/>
        </a:p>
      </dgm:t>
    </dgm:pt>
    <dgm:pt modelId="{6C6D390B-EA23-4791-B8B4-0226B91E70D6}" type="sibTrans" cxnId="{3854D923-2721-4382-81F3-0DC5FDE8647F}">
      <dgm:prSet/>
      <dgm:spPr/>
      <dgm:t>
        <a:bodyPr/>
        <a:lstStyle/>
        <a:p>
          <a:endParaRPr lang="en-US"/>
        </a:p>
      </dgm:t>
    </dgm:pt>
    <dgm:pt modelId="{6EC1ACCB-84B4-40E8-9C87-8DF575B350E9}">
      <dgm:prSet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Secretario/a</a:t>
          </a:r>
          <a:endParaRPr lang="es-VE" noProof="0" dirty="0"/>
        </a:p>
      </dgm:t>
    </dgm:pt>
    <dgm:pt modelId="{0FACE284-F489-4250-9EFF-6F3F307727E2}" type="parTrans" cxnId="{7183FA96-8278-4168-B07F-0C8C72935C5A}">
      <dgm:prSet/>
      <dgm:spPr/>
      <dgm:t>
        <a:bodyPr/>
        <a:lstStyle/>
        <a:p>
          <a:endParaRPr lang="en-US"/>
        </a:p>
      </dgm:t>
    </dgm:pt>
    <dgm:pt modelId="{19EFF474-3444-4F87-BA1D-CE62A71BBEEC}" type="sibTrans" cxnId="{7183FA96-8278-4168-B07F-0C8C72935C5A}">
      <dgm:prSet/>
      <dgm:spPr/>
      <dgm:t>
        <a:bodyPr/>
        <a:lstStyle/>
        <a:p>
          <a:endParaRPr lang="en-US"/>
        </a:p>
      </dgm:t>
    </dgm:pt>
    <dgm:pt modelId="{208EA62D-825B-41A7-BD77-A55EE54712F8}">
      <dgm:prSet/>
      <dgm:spPr>
        <a:solidFill>
          <a:srgbClr val="3D3DFF"/>
        </a:solidFill>
      </dgm:spPr>
      <dgm:t>
        <a:bodyPr/>
        <a:lstStyle/>
        <a:p>
          <a:r>
            <a:rPr lang="es-VE" b="1" noProof="0" dirty="0"/>
            <a:t>CORPOSALUD</a:t>
          </a:r>
          <a:endParaRPr lang="es-VE" noProof="0" dirty="0"/>
        </a:p>
      </dgm:t>
    </dgm:pt>
    <dgm:pt modelId="{2465A7D5-4023-4F1D-9DF6-321D707DD8FB}" type="parTrans" cxnId="{0AC5CBC5-1ECD-4EE2-8E57-29DD298253A9}">
      <dgm:prSet/>
      <dgm:spPr/>
      <dgm:t>
        <a:bodyPr/>
        <a:lstStyle/>
        <a:p>
          <a:endParaRPr lang="en-US"/>
        </a:p>
      </dgm:t>
    </dgm:pt>
    <dgm:pt modelId="{B7F398D7-4A72-4985-B67A-E3A9BE35B21F}" type="sibTrans" cxnId="{0AC5CBC5-1ECD-4EE2-8E57-29DD298253A9}">
      <dgm:prSet/>
      <dgm:spPr/>
      <dgm:t>
        <a:bodyPr/>
        <a:lstStyle/>
        <a:p>
          <a:endParaRPr lang="en-US"/>
        </a:p>
      </dgm:t>
    </dgm:pt>
    <dgm:pt modelId="{7C6D634C-EA95-49E9-B9B4-43661CEE5FEA}" type="pres">
      <dgm:prSet presAssocID="{537B8F59-33BD-4E9D-89C2-E84BE5902116}" presName="linear" presStyleCnt="0">
        <dgm:presLayoutVars>
          <dgm:animLvl val="lvl"/>
          <dgm:resizeHandles val="exact"/>
        </dgm:presLayoutVars>
      </dgm:prSet>
      <dgm:spPr/>
    </dgm:pt>
    <dgm:pt modelId="{02545C94-A6AA-4884-82D4-B321E02C64D8}" type="pres">
      <dgm:prSet presAssocID="{B8E2910C-7A42-4AE2-97F6-2D26E576B47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1B18ABB-3250-4882-A4AF-963B273508FA}" type="pres">
      <dgm:prSet presAssocID="{4F537BCE-62B2-4AB2-BC65-14BCF97676E2}" presName="spacer" presStyleCnt="0"/>
      <dgm:spPr/>
    </dgm:pt>
    <dgm:pt modelId="{5F011507-B2F3-421B-ABB1-A706939DFFD6}" type="pres">
      <dgm:prSet presAssocID="{CE3369D8-DB27-4C9A-8C43-5E5A6AADC6D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9910A31-AD58-4A71-86E5-CDE944D7F67B}" type="pres">
      <dgm:prSet presAssocID="{342E2EBA-4317-4B85-9196-B4E361079567}" presName="spacer" presStyleCnt="0"/>
      <dgm:spPr/>
    </dgm:pt>
    <dgm:pt modelId="{27502D58-8C15-414E-BE2A-508B7431210F}" type="pres">
      <dgm:prSet presAssocID="{173561F7-2C49-4EBB-BE3B-15AE759D10A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62A35E5-CB62-4760-AFB3-D4916AB9CFD7}" type="pres">
      <dgm:prSet presAssocID="{6C6D390B-EA23-4791-B8B4-0226B91E70D6}" presName="spacer" presStyleCnt="0"/>
      <dgm:spPr/>
    </dgm:pt>
    <dgm:pt modelId="{AAAD50DC-AB4C-4213-8B9B-51CD70572A38}" type="pres">
      <dgm:prSet presAssocID="{6EC1ACCB-84B4-40E8-9C87-8DF575B350E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542D53F-B6CD-4EA6-9F9C-3F6ECDE7209D}" type="pres">
      <dgm:prSet presAssocID="{19EFF474-3444-4F87-BA1D-CE62A71BBEEC}" presName="spacer" presStyleCnt="0"/>
      <dgm:spPr/>
    </dgm:pt>
    <dgm:pt modelId="{7F1B775A-A790-47A0-A053-7ECF85D1956B}" type="pres">
      <dgm:prSet presAssocID="{208EA62D-825B-41A7-BD77-A55EE54712F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73A5505-0D99-40D0-87A7-F954C390E88D}" type="presOf" srcId="{537B8F59-33BD-4E9D-89C2-E84BE5902116}" destId="{7C6D634C-EA95-49E9-B9B4-43661CEE5FEA}" srcOrd="0" destOrd="0" presId="urn:microsoft.com/office/officeart/2005/8/layout/vList2"/>
    <dgm:cxn modelId="{3854D923-2721-4382-81F3-0DC5FDE8647F}" srcId="{537B8F59-33BD-4E9D-89C2-E84BE5902116}" destId="{173561F7-2C49-4EBB-BE3B-15AE759D10A4}" srcOrd="2" destOrd="0" parTransId="{A577DB01-A452-425A-9EDA-ED485A6F66BF}" sibTransId="{6C6D390B-EA23-4791-B8B4-0226B91E70D6}"/>
    <dgm:cxn modelId="{DA028127-9516-4B3F-8D67-A0A48236FAAA}" type="presOf" srcId="{173561F7-2C49-4EBB-BE3B-15AE759D10A4}" destId="{27502D58-8C15-414E-BE2A-508B7431210F}" srcOrd="0" destOrd="0" presId="urn:microsoft.com/office/officeart/2005/8/layout/vList2"/>
    <dgm:cxn modelId="{282C1F57-1904-49C5-83D1-A0F46F661EDF}" srcId="{537B8F59-33BD-4E9D-89C2-E84BE5902116}" destId="{B8E2910C-7A42-4AE2-97F6-2D26E576B478}" srcOrd="0" destOrd="0" parTransId="{BE5D6C37-7DD2-4D32-A337-2EE4966516B2}" sibTransId="{4F537BCE-62B2-4AB2-BC65-14BCF97676E2}"/>
    <dgm:cxn modelId="{7183FA96-8278-4168-B07F-0C8C72935C5A}" srcId="{537B8F59-33BD-4E9D-89C2-E84BE5902116}" destId="{6EC1ACCB-84B4-40E8-9C87-8DF575B350E9}" srcOrd="3" destOrd="0" parTransId="{0FACE284-F489-4250-9EFF-6F3F307727E2}" sibTransId="{19EFF474-3444-4F87-BA1D-CE62A71BBEEC}"/>
    <dgm:cxn modelId="{71EE419E-04E9-418D-97C0-437578F6562F}" type="presOf" srcId="{CE3369D8-DB27-4C9A-8C43-5E5A6AADC6DC}" destId="{5F011507-B2F3-421B-ABB1-A706939DFFD6}" srcOrd="0" destOrd="0" presId="urn:microsoft.com/office/officeart/2005/8/layout/vList2"/>
    <dgm:cxn modelId="{47DB99A9-8BE7-40AA-9C9B-1BE85790FB4A}" type="presOf" srcId="{B8E2910C-7A42-4AE2-97F6-2D26E576B478}" destId="{02545C94-A6AA-4884-82D4-B321E02C64D8}" srcOrd="0" destOrd="0" presId="urn:microsoft.com/office/officeart/2005/8/layout/vList2"/>
    <dgm:cxn modelId="{CD66C8C4-663C-4297-ACE4-58A9164B06C6}" srcId="{537B8F59-33BD-4E9D-89C2-E84BE5902116}" destId="{CE3369D8-DB27-4C9A-8C43-5E5A6AADC6DC}" srcOrd="1" destOrd="0" parTransId="{E1F15AA5-DFF9-4170-8EE2-74F7C62EB160}" sibTransId="{342E2EBA-4317-4B85-9196-B4E361079567}"/>
    <dgm:cxn modelId="{0AC5CBC5-1ECD-4EE2-8E57-29DD298253A9}" srcId="{537B8F59-33BD-4E9D-89C2-E84BE5902116}" destId="{208EA62D-825B-41A7-BD77-A55EE54712F8}" srcOrd="4" destOrd="0" parTransId="{2465A7D5-4023-4F1D-9DF6-321D707DD8FB}" sibTransId="{B7F398D7-4A72-4985-B67A-E3A9BE35B21F}"/>
    <dgm:cxn modelId="{61552DEA-A949-4447-A4FE-117B9EB08C78}" type="presOf" srcId="{6EC1ACCB-84B4-40E8-9C87-8DF575B350E9}" destId="{AAAD50DC-AB4C-4213-8B9B-51CD70572A38}" srcOrd="0" destOrd="0" presId="urn:microsoft.com/office/officeart/2005/8/layout/vList2"/>
    <dgm:cxn modelId="{EE0C79EE-8D1E-4A99-9A8A-F216B88C0051}" type="presOf" srcId="{208EA62D-825B-41A7-BD77-A55EE54712F8}" destId="{7F1B775A-A790-47A0-A053-7ECF85D1956B}" srcOrd="0" destOrd="0" presId="urn:microsoft.com/office/officeart/2005/8/layout/vList2"/>
    <dgm:cxn modelId="{CFE4B2D4-3E82-4583-9FD5-8C2B77D8C84F}" type="presParOf" srcId="{7C6D634C-EA95-49E9-B9B4-43661CEE5FEA}" destId="{02545C94-A6AA-4884-82D4-B321E02C64D8}" srcOrd="0" destOrd="0" presId="urn:microsoft.com/office/officeart/2005/8/layout/vList2"/>
    <dgm:cxn modelId="{41B048DF-8B7E-4B0D-882D-9FBC84BE53F8}" type="presParOf" srcId="{7C6D634C-EA95-49E9-B9B4-43661CEE5FEA}" destId="{81B18ABB-3250-4882-A4AF-963B273508FA}" srcOrd="1" destOrd="0" presId="urn:microsoft.com/office/officeart/2005/8/layout/vList2"/>
    <dgm:cxn modelId="{BC942226-50D7-4059-A927-82EF5D271D6B}" type="presParOf" srcId="{7C6D634C-EA95-49E9-B9B4-43661CEE5FEA}" destId="{5F011507-B2F3-421B-ABB1-A706939DFFD6}" srcOrd="2" destOrd="0" presId="urn:microsoft.com/office/officeart/2005/8/layout/vList2"/>
    <dgm:cxn modelId="{AE99B5FF-2301-4BC4-BF63-83804DBE8DA8}" type="presParOf" srcId="{7C6D634C-EA95-49E9-B9B4-43661CEE5FEA}" destId="{49910A31-AD58-4A71-86E5-CDE944D7F67B}" srcOrd="3" destOrd="0" presId="urn:microsoft.com/office/officeart/2005/8/layout/vList2"/>
    <dgm:cxn modelId="{AC7800CF-6F2B-4744-A562-3FCDF3E94324}" type="presParOf" srcId="{7C6D634C-EA95-49E9-B9B4-43661CEE5FEA}" destId="{27502D58-8C15-414E-BE2A-508B7431210F}" srcOrd="4" destOrd="0" presId="urn:microsoft.com/office/officeart/2005/8/layout/vList2"/>
    <dgm:cxn modelId="{CFE57EC7-65E0-4E4E-90D7-38C408E8F4DF}" type="presParOf" srcId="{7C6D634C-EA95-49E9-B9B4-43661CEE5FEA}" destId="{762A35E5-CB62-4760-AFB3-D4916AB9CFD7}" srcOrd="5" destOrd="0" presId="urn:microsoft.com/office/officeart/2005/8/layout/vList2"/>
    <dgm:cxn modelId="{1CE56F40-9EC2-43E8-9CAE-0B143A7A9810}" type="presParOf" srcId="{7C6D634C-EA95-49E9-B9B4-43661CEE5FEA}" destId="{AAAD50DC-AB4C-4213-8B9B-51CD70572A38}" srcOrd="6" destOrd="0" presId="urn:microsoft.com/office/officeart/2005/8/layout/vList2"/>
    <dgm:cxn modelId="{E6D7B4AE-1577-480E-9D51-9DC398A1F3AB}" type="presParOf" srcId="{7C6D634C-EA95-49E9-B9B4-43661CEE5FEA}" destId="{4542D53F-B6CD-4EA6-9F9C-3F6ECDE7209D}" srcOrd="7" destOrd="0" presId="urn:microsoft.com/office/officeart/2005/8/layout/vList2"/>
    <dgm:cxn modelId="{F0BD4381-7C4C-46EA-9EA7-FC32D76698E1}" type="presParOf" srcId="{7C6D634C-EA95-49E9-B9B4-43661CEE5FEA}" destId="{7F1B775A-A790-47A0-A053-7ECF85D1956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70BAB9-F192-4ABF-8DE3-0A7249B783BA}">
      <dsp:nvSpPr>
        <dsp:cNvPr id="0" name=""/>
        <dsp:cNvSpPr/>
      </dsp:nvSpPr>
      <dsp:spPr>
        <a:xfrm>
          <a:off x="-9022722" y="-1377640"/>
          <a:ext cx="10733420" cy="10733420"/>
        </a:xfrm>
        <a:prstGeom prst="blockArc">
          <a:avLst>
            <a:gd name="adj1" fmla="val 18900000"/>
            <a:gd name="adj2" fmla="val 2700000"/>
            <a:gd name="adj3" fmla="val 20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DD2A6-95E3-4F9E-8EC4-C82CAC538D0C}">
      <dsp:nvSpPr>
        <dsp:cNvPr id="0" name=""/>
        <dsp:cNvSpPr/>
      </dsp:nvSpPr>
      <dsp:spPr>
        <a:xfrm>
          <a:off x="906203" y="613359"/>
          <a:ext cx="13467042" cy="1227357"/>
        </a:xfrm>
        <a:prstGeom prst="rect">
          <a:avLst/>
        </a:prstGeom>
        <a:solidFill>
          <a:srgbClr val="3D3DFF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74215" tIns="86360" rIns="86360" bIns="8636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3400" b="1" kern="1200" noProof="0" dirty="0"/>
            <a:t>Capitulo I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VE" sz="2700" b="1" kern="1200" noProof="0" dirty="0"/>
            <a:t>Identificación De La Comunidad</a:t>
          </a:r>
        </a:p>
      </dsp:txBody>
      <dsp:txXfrm>
        <a:off x="906203" y="613359"/>
        <a:ext cx="13467042" cy="1227357"/>
      </dsp:txXfrm>
    </dsp:sp>
    <dsp:sp modelId="{A96EE9D7-26E1-4790-83A7-7F5B2D6337FA}">
      <dsp:nvSpPr>
        <dsp:cNvPr id="0" name=""/>
        <dsp:cNvSpPr/>
      </dsp:nvSpPr>
      <dsp:spPr>
        <a:xfrm>
          <a:off x="127523" y="459939"/>
          <a:ext cx="1534196" cy="15341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648AA94-D4DF-47F8-8B31-52CBD8A98D47}">
      <dsp:nvSpPr>
        <dsp:cNvPr id="0" name=""/>
        <dsp:cNvSpPr/>
      </dsp:nvSpPr>
      <dsp:spPr>
        <a:xfrm>
          <a:off x="1598293" y="2454714"/>
          <a:ext cx="12763370" cy="1227357"/>
        </a:xfrm>
        <a:prstGeom prst="rect">
          <a:avLst/>
        </a:prstGeom>
        <a:solidFill>
          <a:srgbClr val="3D3DFF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74215" tIns="86360" rIns="86360" bIns="8636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3400" b="1" kern="1200" noProof="0" dirty="0"/>
            <a:t>Capitulo II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VE" sz="2700" b="1" kern="1200" noProof="0" dirty="0"/>
            <a:t>Antecedentes Teóricos Y Tecnológicos</a:t>
          </a:r>
        </a:p>
      </dsp:txBody>
      <dsp:txXfrm>
        <a:off x="1598293" y="2454714"/>
        <a:ext cx="12763370" cy="1227357"/>
      </dsp:txXfrm>
    </dsp:sp>
    <dsp:sp modelId="{4AFDD6EE-FC5F-4046-9E85-235C1D0C1509}">
      <dsp:nvSpPr>
        <dsp:cNvPr id="0" name=""/>
        <dsp:cNvSpPr/>
      </dsp:nvSpPr>
      <dsp:spPr>
        <a:xfrm>
          <a:off x="831195" y="2301294"/>
          <a:ext cx="1534196" cy="15341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A86CD17-4D88-4438-A8FB-0DB2ACE48767}">
      <dsp:nvSpPr>
        <dsp:cNvPr id="0" name=""/>
        <dsp:cNvSpPr/>
      </dsp:nvSpPr>
      <dsp:spPr>
        <a:xfrm>
          <a:off x="1598293" y="4296068"/>
          <a:ext cx="12763370" cy="1227357"/>
        </a:xfrm>
        <a:prstGeom prst="rect">
          <a:avLst/>
        </a:prstGeom>
        <a:solidFill>
          <a:srgbClr val="3D3DFF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74215" tIns="86360" rIns="86360" bIns="8636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3400" b="1" kern="1200" noProof="0" dirty="0"/>
            <a:t>Capitulo III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VE" sz="2700" b="1" kern="1200" noProof="0" dirty="0"/>
            <a:t>Metodología De Investigación</a:t>
          </a:r>
        </a:p>
      </dsp:txBody>
      <dsp:txXfrm>
        <a:off x="1598293" y="4296068"/>
        <a:ext cx="12763370" cy="1227357"/>
      </dsp:txXfrm>
    </dsp:sp>
    <dsp:sp modelId="{803B559C-DC2A-44F0-A470-6B58938890AD}">
      <dsp:nvSpPr>
        <dsp:cNvPr id="0" name=""/>
        <dsp:cNvSpPr/>
      </dsp:nvSpPr>
      <dsp:spPr>
        <a:xfrm>
          <a:off x="831195" y="4142649"/>
          <a:ext cx="1534196" cy="15341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597CCB2-5EC6-44EC-A29A-F492B7DDE6AD}">
      <dsp:nvSpPr>
        <dsp:cNvPr id="0" name=""/>
        <dsp:cNvSpPr/>
      </dsp:nvSpPr>
      <dsp:spPr>
        <a:xfrm>
          <a:off x="894621" y="6137423"/>
          <a:ext cx="13467042" cy="1227357"/>
        </a:xfrm>
        <a:prstGeom prst="rect">
          <a:avLst/>
        </a:prstGeom>
        <a:solidFill>
          <a:srgbClr val="3D3DFF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74215" tIns="86360" rIns="86360" bIns="8636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3400" b="1" kern="1200" noProof="0" dirty="0"/>
            <a:t>Capitulo IV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VE" sz="2700" b="1" kern="1200" noProof="0" dirty="0"/>
            <a:t>Cuantificación De Resultados</a:t>
          </a:r>
        </a:p>
      </dsp:txBody>
      <dsp:txXfrm>
        <a:off x="894621" y="6137423"/>
        <a:ext cx="13467042" cy="1227357"/>
      </dsp:txXfrm>
    </dsp:sp>
    <dsp:sp modelId="{32C75A32-8B52-4850-8F7E-B54DBEFE4DE5}">
      <dsp:nvSpPr>
        <dsp:cNvPr id="0" name=""/>
        <dsp:cNvSpPr/>
      </dsp:nvSpPr>
      <dsp:spPr>
        <a:xfrm>
          <a:off x="127523" y="5984003"/>
          <a:ext cx="1534196" cy="15341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8CFEC1-93B5-4E51-B1D9-65F5D1EBAC6E}">
      <dsp:nvSpPr>
        <dsp:cNvPr id="0" name=""/>
        <dsp:cNvSpPr/>
      </dsp:nvSpPr>
      <dsp:spPr>
        <a:xfrm>
          <a:off x="497724" y="0"/>
          <a:ext cx="5640877" cy="226772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C3799-121D-4464-AE78-899D7719493D}">
      <dsp:nvSpPr>
        <dsp:cNvPr id="0" name=""/>
        <dsp:cNvSpPr/>
      </dsp:nvSpPr>
      <dsp:spPr>
        <a:xfrm>
          <a:off x="224883" y="680316"/>
          <a:ext cx="1990897" cy="907088"/>
        </a:xfrm>
        <a:prstGeom prst="roundRect">
          <a:avLst/>
        </a:prstGeom>
        <a:solidFill>
          <a:srgbClr val="3D3D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2300" kern="1200" noProof="0" dirty="0"/>
            <a:t>Análisis del problema </a:t>
          </a:r>
        </a:p>
      </dsp:txBody>
      <dsp:txXfrm>
        <a:off x="269163" y="724596"/>
        <a:ext cx="1902337" cy="818528"/>
      </dsp:txXfrm>
    </dsp:sp>
    <dsp:sp modelId="{23974E02-73D4-4CB6-8151-7713260E3C8D}">
      <dsp:nvSpPr>
        <dsp:cNvPr id="0" name=""/>
        <dsp:cNvSpPr/>
      </dsp:nvSpPr>
      <dsp:spPr>
        <a:xfrm>
          <a:off x="2322714" y="680316"/>
          <a:ext cx="1990897" cy="907088"/>
        </a:xfrm>
        <a:prstGeom prst="roundRect">
          <a:avLst/>
        </a:prstGeom>
        <a:solidFill>
          <a:srgbClr val="3D3D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2300" kern="1200" noProof="0" dirty="0"/>
            <a:t>Análisis de los objetivos</a:t>
          </a:r>
        </a:p>
      </dsp:txBody>
      <dsp:txXfrm>
        <a:off x="2366994" y="724596"/>
        <a:ext cx="1902337" cy="818528"/>
      </dsp:txXfrm>
    </dsp:sp>
    <dsp:sp modelId="{4BB7E33D-CF28-481D-9716-D8B06816FA2B}">
      <dsp:nvSpPr>
        <dsp:cNvPr id="0" name=""/>
        <dsp:cNvSpPr/>
      </dsp:nvSpPr>
      <dsp:spPr>
        <a:xfrm>
          <a:off x="4420544" y="680316"/>
          <a:ext cx="1990897" cy="907088"/>
        </a:xfrm>
        <a:prstGeom prst="roundRect">
          <a:avLst/>
        </a:prstGeom>
        <a:solidFill>
          <a:srgbClr val="3D3D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2300" kern="1200" noProof="0" dirty="0"/>
            <a:t>Análisis de las alternativas</a:t>
          </a:r>
        </a:p>
      </dsp:txBody>
      <dsp:txXfrm>
        <a:off x="4464824" y="724596"/>
        <a:ext cx="1902337" cy="8185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B63FA-B453-441C-92D1-D60D2ABC1982}">
      <dsp:nvSpPr>
        <dsp:cNvPr id="0" name=""/>
        <dsp:cNvSpPr/>
      </dsp:nvSpPr>
      <dsp:spPr>
        <a:xfrm rot="5400000">
          <a:off x="-269290" y="269799"/>
          <a:ext cx="1795270" cy="1256689"/>
        </a:xfrm>
        <a:prstGeom prst="chevron">
          <a:avLst/>
        </a:prstGeom>
        <a:solidFill>
          <a:srgbClr val="3D3DFF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1800" kern="1200" noProof="0" dirty="0"/>
            <a:t>Fase de inicio</a:t>
          </a:r>
        </a:p>
      </dsp:txBody>
      <dsp:txXfrm rot="-5400000">
        <a:off x="1" y="628854"/>
        <a:ext cx="1256689" cy="538581"/>
      </dsp:txXfrm>
    </dsp:sp>
    <dsp:sp modelId="{31F6AABD-6463-41F6-A1C0-6EF6849CF0FF}">
      <dsp:nvSpPr>
        <dsp:cNvPr id="0" name=""/>
        <dsp:cNvSpPr/>
      </dsp:nvSpPr>
      <dsp:spPr>
        <a:xfrm rot="5400000">
          <a:off x="6785080" y="-5527882"/>
          <a:ext cx="1166925" cy="122237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VE" sz="3300" kern="1200" noProof="0" dirty="0"/>
            <a:t>Funciones, alcances y objetivos</a:t>
          </a:r>
        </a:p>
      </dsp:txBody>
      <dsp:txXfrm rot="-5400000">
        <a:off x="1256690" y="57473"/>
        <a:ext cx="12166742" cy="1052995"/>
      </dsp:txXfrm>
    </dsp:sp>
    <dsp:sp modelId="{450B2CE3-3FD0-47EA-B23C-6A51EBDBD630}">
      <dsp:nvSpPr>
        <dsp:cNvPr id="0" name=""/>
        <dsp:cNvSpPr/>
      </dsp:nvSpPr>
      <dsp:spPr>
        <a:xfrm rot="5400000">
          <a:off x="-269290" y="1872820"/>
          <a:ext cx="1795270" cy="1256689"/>
        </a:xfrm>
        <a:prstGeom prst="chevron">
          <a:avLst/>
        </a:prstGeom>
        <a:solidFill>
          <a:srgbClr val="3D3DFF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1800" kern="1200" noProof="0" dirty="0"/>
            <a:t>Fase de elaboración </a:t>
          </a:r>
        </a:p>
      </dsp:txBody>
      <dsp:txXfrm rot="-5400000">
        <a:off x="1" y="2231875"/>
        <a:ext cx="1256689" cy="538581"/>
      </dsp:txXfrm>
    </dsp:sp>
    <dsp:sp modelId="{7DA889B0-0890-4796-8020-FD6C1591AFA0}">
      <dsp:nvSpPr>
        <dsp:cNvPr id="0" name=""/>
        <dsp:cNvSpPr/>
      </dsp:nvSpPr>
      <dsp:spPr>
        <a:xfrm rot="5400000">
          <a:off x="6785080" y="-3924860"/>
          <a:ext cx="1166925" cy="122237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VE" sz="3300" kern="1200" noProof="0" dirty="0"/>
            <a:t>Comportamiento y estructura </a:t>
          </a:r>
        </a:p>
      </dsp:txBody>
      <dsp:txXfrm rot="-5400000">
        <a:off x="1256690" y="1660495"/>
        <a:ext cx="12166742" cy="1052995"/>
      </dsp:txXfrm>
    </dsp:sp>
    <dsp:sp modelId="{1DEFF585-D2A2-425D-9A7B-723AEBE14326}">
      <dsp:nvSpPr>
        <dsp:cNvPr id="0" name=""/>
        <dsp:cNvSpPr/>
      </dsp:nvSpPr>
      <dsp:spPr>
        <a:xfrm rot="5400000">
          <a:off x="-269290" y="3475842"/>
          <a:ext cx="1795270" cy="1256689"/>
        </a:xfrm>
        <a:prstGeom prst="chevron">
          <a:avLst/>
        </a:prstGeom>
        <a:solidFill>
          <a:srgbClr val="3D3DFF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1800" kern="1200" noProof="0" dirty="0"/>
            <a:t>Fase de construcción </a:t>
          </a:r>
        </a:p>
      </dsp:txBody>
      <dsp:txXfrm rot="-5400000">
        <a:off x="1" y="3834897"/>
        <a:ext cx="1256689" cy="538581"/>
      </dsp:txXfrm>
    </dsp:sp>
    <dsp:sp modelId="{096E670B-1E84-4EA0-B231-6AA81F666CC1}">
      <dsp:nvSpPr>
        <dsp:cNvPr id="0" name=""/>
        <dsp:cNvSpPr/>
      </dsp:nvSpPr>
      <dsp:spPr>
        <a:xfrm rot="5400000">
          <a:off x="6785080" y="-2321839"/>
          <a:ext cx="1166925" cy="122237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VE" sz="3300" kern="1200" noProof="0" dirty="0"/>
            <a:t>Estructurar la base de datos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VE" sz="3300" kern="1200" noProof="0" dirty="0"/>
            <a:t>PHP, TypeScript, SQLite</a:t>
          </a:r>
        </a:p>
      </dsp:txBody>
      <dsp:txXfrm rot="-5400000">
        <a:off x="1256690" y="3263516"/>
        <a:ext cx="12166742" cy="10529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B2CE3-3FD0-47EA-B23C-6A51EBDBD630}">
      <dsp:nvSpPr>
        <dsp:cNvPr id="0" name=""/>
        <dsp:cNvSpPr/>
      </dsp:nvSpPr>
      <dsp:spPr>
        <a:xfrm rot="5400000">
          <a:off x="-284566" y="284566"/>
          <a:ext cx="1897110" cy="1327977"/>
        </a:xfrm>
        <a:prstGeom prst="chevron">
          <a:avLst/>
        </a:prstGeom>
        <a:solidFill>
          <a:srgbClr val="3D3DFF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1900" kern="1200" noProof="0" dirty="0"/>
            <a:t>Fase de transición</a:t>
          </a:r>
        </a:p>
      </dsp:txBody>
      <dsp:txXfrm rot="-5400000">
        <a:off x="1" y="663989"/>
        <a:ext cx="1327977" cy="569133"/>
      </dsp:txXfrm>
    </dsp:sp>
    <dsp:sp modelId="{7DA889B0-0890-4796-8020-FD6C1591AFA0}">
      <dsp:nvSpPr>
        <dsp:cNvPr id="0" name=""/>
        <dsp:cNvSpPr/>
      </dsp:nvSpPr>
      <dsp:spPr>
        <a:xfrm rot="5400000">
          <a:off x="6782456" y="-5454479"/>
          <a:ext cx="1233121" cy="1214208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VE" sz="3200" kern="1200" noProof="0" dirty="0">
              <a:latin typeface="Arial" panose="020B0604020202020204" pitchFamily="34" charset="0"/>
              <a:cs typeface="Arial" panose="020B0604020202020204" pitchFamily="34" charset="0"/>
            </a:rPr>
            <a:t>Aceptación y verificación </a:t>
          </a:r>
        </a:p>
      </dsp:txBody>
      <dsp:txXfrm rot="-5400000">
        <a:off x="1327976" y="60197"/>
        <a:ext cx="12081885" cy="11127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53A36-BEFF-46B1-9855-DF7B059D3422}">
      <dsp:nvSpPr>
        <dsp:cNvPr id="0" name=""/>
        <dsp:cNvSpPr/>
      </dsp:nvSpPr>
      <dsp:spPr>
        <a:xfrm>
          <a:off x="2523" y="0"/>
          <a:ext cx="3926681" cy="5918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lumMod val="60000"/>
                <a:lumOff val="4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9824" tIns="369824" rIns="369824" bIns="369824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5200" b="1" kern="1200" noProof="0" dirty="0"/>
            <a:t>Factibilidad económica</a:t>
          </a:r>
          <a:endParaRPr lang="es-VE" sz="5200" kern="1200" noProof="0" dirty="0"/>
        </a:p>
      </dsp:txBody>
      <dsp:txXfrm>
        <a:off x="2523" y="2367280"/>
        <a:ext cx="3926681" cy="2367280"/>
      </dsp:txXfrm>
    </dsp:sp>
    <dsp:sp modelId="{794AEBFC-58DF-4888-B78C-05319FEE5EFA}">
      <dsp:nvSpPr>
        <dsp:cNvPr id="0" name=""/>
        <dsp:cNvSpPr/>
      </dsp:nvSpPr>
      <dsp:spPr>
        <a:xfrm>
          <a:off x="980484" y="355092"/>
          <a:ext cx="1970760" cy="197076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62AE145-637E-4187-AB35-B6BBBF90FD62}">
      <dsp:nvSpPr>
        <dsp:cNvPr id="0" name=""/>
        <dsp:cNvSpPr/>
      </dsp:nvSpPr>
      <dsp:spPr>
        <a:xfrm>
          <a:off x="4047006" y="0"/>
          <a:ext cx="3926681" cy="5918200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6666FF"/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9824" tIns="369824" rIns="369824" bIns="369824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5200" b="1" kern="1200" noProof="0" dirty="0"/>
            <a:t>Factibilidad técnica  </a:t>
          </a:r>
          <a:endParaRPr lang="es-VE" sz="5200" kern="1200" noProof="0" dirty="0"/>
        </a:p>
      </dsp:txBody>
      <dsp:txXfrm>
        <a:off x="4047006" y="2367280"/>
        <a:ext cx="3926681" cy="2367280"/>
      </dsp:txXfrm>
    </dsp:sp>
    <dsp:sp modelId="{EED5BB6C-8180-45C4-BA26-565861BB0056}">
      <dsp:nvSpPr>
        <dsp:cNvPr id="0" name=""/>
        <dsp:cNvSpPr/>
      </dsp:nvSpPr>
      <dsp:spPr>
        <a:xfrm>
          <a:off x="5024966" y="355092"/>
          <a:ext cx="1970760" cy="1970760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8000" r="-8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AAD4772E-E587-4F13-A4DC-BCFD310720FE}">
      <dsp:nvSpPr>
        <dsp:cNvPr id="0" name=""/>
        <dsp:cNvSpPr/>
      </dsp:nvSpPr>
      <dsp:spPr>
        <a:xfrm>
          <a:off x="8094012" y="0"/>
          <a:ext cx="3926681" cy="5918200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9966FF"/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9824" tIns="369824" rIns="369824" bIns="369824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5200" b="1" kern="1200" noProof="0" dirty="0"/>
            <a:t>Factibilidad humana </a:t>
          </a:r>
          <a:endParaRPr lang="es-VE" sz="5200" kern="1200" noProof="0" dirty="0"/>
        </a:p>
      </dsp:txBody>
      <dsp:txXfrm>
        <a:off x="8094012" y="2367280"/>
        <a:ext cx="3926681" cy="2367280"/>
      </dsp:txXfrm>
    </dsp:sp>
    <dsp:sp modelId="{AD012975-9B4A-4A5E-9072-663A7F31C9BF}">
      <dsp:nvSpPr>
        <dsp:cNvPr id="0" name=""/>
        <dsp:cNvSpPr/>
      </dsp:nvSpPr>
      <dsp:spPr>
        <a:xfrm>
          <a:off x="9069448" y="355092"/>
          <a:ext cx="1970760" cy="1970760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16000" r="-16000"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9D6351F1-3B61-4BD7-A038-25695BB31779}">
      <dsp:nvSpPr>
        <dsp:cNvPr id="0" name=""/>
        <dsp:cNvSpPr/>
      </dsp:nvSpPr>
      <dsp:spPr>
        <a:xfrm>
          <a:off x="480827" y="4734560"/>
          <a:ext cx="11059038" cy="887730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45C94-A6AA-4884-82D4-B321E02C64D8}">
      <dsp:nvSpPr>
        <dsp:cNvPr id="0" name=""/>
        <dsp:cNvSpPr/>
      </dsp:nvSpPr>
      <dsp:spPr>
        <a:xfrm>
          <a:off x="0" y="87206"/>
          <a:ext cx="7406640" cy="1072579"/>
        </a:xfrm>
        <a:prstGeom prst="roundRect">
          <a:avLst/>
        </a:prstGeom>
        <a:solidFill>
          <a:srgbClr val="3D3D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2700" b="1" kern="1200" noProof="0" dirty="0"/>
            <a:t>Director del Hospital Antonio José Uzcátegui</a:t>
          </a:r>
          <a:endParaRPr lang="es-VE" sz="2700" kern="1200" noProof="0" dirty="0"/>
        </a:p>
      </dsp:txBody>
      <dsp:txXfrm>
        <a:off x="52359" y="139565"/>
        <a:ext cx="7301922" cy="967861"/>
      </dsp:txXfrm>
    </dsp:sp>
    <dsp:sp modelId="{5F011507-B2F3-421B-ABB1-A706939DFFD6}">
      <dsp:nvSpPr>
        <dsp:cNvPr id="0" name=""/>
        <dsp:cNvSpPr/>
      </dsp:nvSpPr>
      <dsp:spPr>
        <a:xfrm>
          <a:off x="0" y="1237546"/>
          <a:ext cx="7406640" cy="1072579"/>
        </a:xfrm>
        <a:prstGeom prst="roundRect">
          <a:avLst/>
        </a:prstGeom>
        <a:solidFill>
          <a:srgbClr val="3D3D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2700" b="1" kern="1200" noProof="0" dirty="0"/>
            <a:t>Coordinador del departamento de Estadística</a:t>
          </a:r>
          <a:endParaRPr lang="es-VE" sz="2700" kern="1200" noProof="0" dirty="0"/>
        </a:p>
      </dsp:txBody>
      <dsp:txXfrm>
        <a:off x="52359" y="1289905"/>
        <a:ext cx="7301922" cy="967861"/>
      </dsp:txXfrm>
    </dsp:sp>
    <dsp:sp modelId="{27502D58-8C15-414E-BE2A-508B7431210F}">
      <dsp:nvSpPr>
        <dsp:cNvPr id="0" name=""/>
        <dsp:cNvSpPr/>
      </dsp:nvSpPr>
      <dsp:spPr>
        <a:xfrm>
          <a:off x="0" y="2387885"/>
          <a:ext cx="7406640" cy="1072579"/>
        </a:xfrm>
        <a:prstGeom prst="roundRect">
          <a:avLst/>
        </a:prstGeom>
        <a:solidFill>
          <a:srgbClr val="3D3D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2700" b="1" kern="1200" noProof="0" dirty="0"/>
            <a:t>Coordinador del departamento de Emergencia y Hospitalización</a:t>
          </a:r>
          <a:endParaRPr lang="es-VE" sz="2700" kern="1200" noProof="0" dirty="0"/>
        </a:p>
      </dsp:txBody>
      <dsp:txXfrm>
        <a:off x="52359" y="2440244"/>
        <a:ext cx="7301922" cy="967861"/>
      </dsp:txXfrm>
    </dsp:sp>
    <dsp:sp modelId="{AAAD50DC-AB4C-4213-8B9B-51CD70572A38}">
      <dsp:nvSpPr>
        <dsp:cNvPr id="0" name=""/>
        <dsp:cNvSpPr/>
      </dsp:nvSpPr>
      <dsp:spPr>
        <a:xfrm>
          <a:off x="0" y="3538224"/>
          <a:ext cx="7406640" cy="1072579"/>
        </a:xfrm>
        <a:prstGeom prst="roundRect">
          <a:avLst/>
        </a:prstGeom>
        <a:solidFill>
          <a:srgbClr val="3D3D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2700" b="1" kern="1200" noProof="0" dirty="0"/>
            <a:t>Secretario/a</a:t>
          </a:r>
          <a:endParaRPr lang="es-VE" sz="2700" kern="1200" noProof="0" dirty="0"/>
        </a:p>
      </dsp:txBody>
      <dsp:txXfrm>
        <a:off x="52359" y="3590583"/>
        <a:ext cx="7301922" cy="967861"/>
      </dsp:txXfrm>
    </dsp:sp>
    <dsp:sp modelId="{7F1B775A-A790-47A0-A053-7ECF85D1956B}">
      <dsp:nvSpPr>
        <dsp:cNvPr id="0" name=""/>
        <dsp:cNvSpPr/>
      </dsp:nvSpPr>
      <dsp:spPr>
        <a:xfrm>
          <a:off x="0" y="4688563"/>
          <a:ext cx="7406640" cy="1072579"/>
        </a:xfrm>
        <a:prstGeom prst="roundRect">
          <a:avLst/>
        </a:prstGeom>
        <a:solidFill>
          <a:srgbClr val="3D3D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2700" b="1" kern="1200" noProof="0" dirty="0"/>
            <a:t>CORPOSALUD</a:t>
          </a:r>
          <a:endParaRPr lang="es-VE" sz="2700" kern="1200" noProof="0" dirty="0"/>
        </a:p>
      </dsp:txBody>
      <dsp:txXfrm>
        <a:off x="52359" y="4740922"/>
        <a:ext cx="7301922" cy="967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7681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fb8fbd9d01_4_19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fb8fbd9d01_4_19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fb8fbd9d0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fb8fbd9d0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fb8fbd9d0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fb8fbd9d0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fb8fbd9d01_4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fb8fbd9d01_4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6A98-573C-4769-A69D-35E668D878BC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66F7-EEDF-4763-8C48-4EC56CD31C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17555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6A98-573C-4769-A69D-35E668D878BC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66F7-EEDF-4763-8C48-4EC56CD31C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23369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6A98-573C-4769-A69D-35E668D878BC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66F7-EEDF-4763-8C48-4EC56CD31C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53426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6A98-573C-4769-A69D-35E668D878BC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66F7-EEDF-4763-8C48-4EC56CD31C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07786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6A98-573C-4769-A69D-35E668D878BC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66F7-EEDF-4763-8C48-4EC56CD31C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92998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6A98-573C-4769-A69D-35E668D878BC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66F7-EEDF-4763-8C48-4EC56CD31C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60525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6A98-573C-4769-A69D-35E668D878BC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66F7-EEDF-4763-8C48-4EC56CD31C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28468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6A98-573C-4769-A69D-35E668D878BC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66F7-EEDF-4763-8C48-4EC56CD31C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05963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6A98-573C-4769-A69D-35E668D878BC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66F7-EEDF-4763-8C48-4EC56CD31C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13645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6A98-573C-4769-A69D-35E668D878BC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66F7-EEDF-4763-8C48-4EC56CD31C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71757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6A98-573C-4769-A69D-35E668D878BC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66F7-EEDF-4763-8C48-4EC56CD31C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90023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401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86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350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27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5634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8292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79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182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3203760" y="2791200"/>
            <a:ext cx="8222880" cy="3528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731520" lvl="0" indent="-48768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463040" lvl="1" indent="-48768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2pPr>
            <a:lvl3pPr marL="2194560" lvl="2" indent="-48768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3pPr>
            <a:lvl4pPr marL="2926080" lvl="3" indent="-48768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4pPr>
            <a:lvl5pPr marL="3657600" lvl="4" indent="-48768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1689360" y="863200"/>
            <a:ext cx="11251680" cy="9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2880"/>
              </a:spcBef>
              <a:spcAft>
                <a:spcPts val="0"/>
              </a:spcAft>
              <a:buSzPts val="3700"/>
              <a:buNone/>
              <a:defRPr sz="5920" b="1">
                <a:solidFill>
                  <a:schemeClr val="lt1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60623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>
            <a:spLocks noGrp="1"/>
          </p:cNvSpPr>
          <p:nvPr>
            <p:ph type="subTitle" idx="1"/>
          </p:nvPr>
        </p:nvSpPr>
        <p:spPr>
          <a:xfrm>
            <a:off x="1749930" y="4828960"/>
            <a:ext cx="336288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40">
                <a:solidFill>
                  <a:schemeClr val="lt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  <p:sp>
        <p:nvSpPr>
          <p:cNvPr id="220" name="Google Shape;220;p15"/>
          <p:cNvSpPr txBox="1">
            <a:spLocks noGrp="1"/>
          </p:cNvSpPr>
          <p:nvPr>
            <p:ph type="subTitle" idx="2"/>
          </p:nvPr>
        </p:nvSpPr>
        <p:spPr>
          <a:xfrm>
            <a:off x="1964970" y="4014221"/>
            <a:ext cx="2932800" cy="60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 b="1">
                <a:solidFill>
                  <a:schemeClr val="lt1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9pPr>
          </a:lstStyle>
          <a:p>
            <a:endParaRPr/>
          </a:p>
        </p:txBody>
      </p:sp>
      <p:sp>
        <p:nvSpPr>
          <p:cNvPr id="221" name="Google Shape;221;p15"/>
          <p:cNvSpPr txBox="1">
            <a:spLocks noGrp="1"/>
          </p:cNvSpPr>
          <p:nvPr>
            <p:ph type="subTitle" idx="3"/>
          </p:nvPr>
        </p:nvSpPr>
        <p:spPr>
          <a:xfrm>
            <a:off x="5633760" y="4828960"/>
            <a:ext cx="3362880" cy="119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40">
                <a:solidFill>
                  <a:schemeClr val="lt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  <p:sp>
        <p:nvSpPr>
          <p:cNvPr id="222" name="Google Shape;222;p15"/>
          <p:cNvSpPr txBox="1">
            <a:spLocks noGrp="1"/>
          </p:cNvSpPr>
          <p:nvPr>
            <p:ph type="subTitle" idx="4"/>
          </p:nvPr>
        </p:nvSpPr>
        <p:spPr>
          <a:xfrm>
            <a:off x="5853840" y="4014221"/>
            <a:ext cx="2926080" cy="60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 b="1">
                <a:solidFill>
                  <a:schemeClr val="lt1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9pPr>
          </a:lstStyle>
          <a:p>
            <a:endParaRPr/>
          </a:p>
        </p:txBody>
      </p:sp>
      <p:sp>
        <p:nvSpPr>
          <p:cNvPr id="223" name="Google Shape;223;p15"/>
          <p:cNvSpPr txBox="1">
            <a:spLocks noGrp="1"/>
          </p:cNvSpPr>
          <p:nvPr>
            <p:ph type="subTitle" idx="5"/>
          </p:nvPr>
        </p:nvSpPr>
        <p:spPr>
          <a:xfrm>
            <a:off x="9517590" y="4831034"/>
            <a:ext cx="3362880" cy="119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40">
                <a:solidFill>
                  <a:schemeClr val="lt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  <p:sp>
        <p:nvSpPr>
          <p:cNvPr id="224" name="Google Shape;224;p15"/>
          <p:cNvSpPr txBox="1">
            <a:spLocks noGrp="1"/>
          </p:cNvSpPr>
          <p:nvPr>
            <p:ph type="subTitle" idx="6"/>
          </p:nvPr>
        </p:nvSpPr>
        <p:spPr>
          <a:xfrm>
            <a:off x="9735990" y="4014221"/>
            <a:ext cx="2926080" cy="60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 b="1">
                <a:solidFill>
                  <a:schemeClr val="lt1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360"/>
            </a:lvl9pPr>
          </a:lstStyle>
          <a:p>
            <a:endParaRPr/>
          </a:p>
        </p:txBody>
      </p:sp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1689360" y="863200"/>
            <a:ext cx="11251680" cy="9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2880"/>
              </a:spcBef>
              <a:spcAft>
                <a:spcPts val="0"/>
              </a:spcAft>
              <a:buSzPts val="3700"/>
              <a:buNone/>
              <a:defRPr sz="5920" b="1">
                <a:solidFill>
                  <a:schemeClr val="lt1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366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D6A98-573C-4769-A69D-35E668D878BC}" type="datetimeFigureOut">
              <a:rPr lang="es-CO" smtClean="0"/>
              <a:t>2/07/2025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F66F7-EEDF-4763-8C48-4EC56CD31C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938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51" r:id="rId2"/>
    <p:sldLayoutId id="2147484052" r:id="rId3"/>
    <p:sldLayoutId id="2147484053" r:id="rId4"/>
    <p:sldLayoutId id="2147484054" r:id="rId5"/>
    <p:sldLayoutId id="2147484055" r:id="rId6"/>
    <p:sldLayoutId id="2147484056" r:id="rId7"/>
    <p:sldLayoutId id="2147484057" r:id="rId8"/>
    <p:sldLayoutId id="2147484058" r:id="rId9"/>
    <p:sldLayoutId id="2147484059" r:id="rId10"/>
    <p:sldLayoutId id="2147484060" r:id="rId11"/>
    <p:sldLayoutId id="2147484061" r:id="rId12"/>
    <p:sldLayoutId id="2147484062" r:id="rId13"/>
    <p:sldLayoutId id="2147484063" r:id="rId14"/>
    <p:sldLayoutId id="2147484064" r:id="rId15"/>
    <p:sldLayoutId id="2147484065" r:id="rId16"/>
    <p:sldLayoutId id="2147484066" r:id="rId17"/>
    <p:sldLayoutId id="2147484067" r:id="rId18"/>
    <p:sldLayoutId id="2147484068" r:id="rId19"/>
    <p:sldLayoutId id="2147484069" r:id="rId20"/>
    <p:sldLayoutId id="2147484070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5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microsoft.com/office/2007/relationships/hdphoto" Target="../media/hdphoto4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microsoft.com/office/2007/relationships/hdphoto" Target="../media/hdphoto3.wdp"/><Relationship Id="rId4" Type="http://schemas.openxmlformats.org/officeDocument/2006/relationships/image" Target="../media/image15.png"/><Relationship Id="rId9" Type="http://schemas.microsoft.com/office/2007/relationships/hdphoto" Target="../media/hdphoto5.wdp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microsoft.com/office/2007/relationships/hdphoto" Target="../media/hdphoto7.wdp"/><Relationship Id="rId5" Type="http://schemas.openxmlformats.org/officeDocument/2006/relationships/image" Target="../media/image19.png"/><Relationship Id="rId10" Type="http://schemas.microsoft.com/office/2007/relationships/hdphoto" Target="../media/hdphoto9.wdp"/><Relationship Id="rId4" Type="http://schemas.microsoft.com/office/2007/relationships/hdphoto" Target="../media/hdphoto6.wdp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29.sv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28.png"/><Relationship Id="rId4" Type="http://schemas.openxmlformats.org/officeDocument/2006/relationships/diagramLayout" Target="../diagrams/layout2.xml"/><Relationship Id="rId9" Type="http://schemas.microsoft.com/office/2007/relationships/hdphoto" Target="../media/hdphoto10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microsoft.com/office/2007/relationships/hdphoto" Target="../media/hdphoto11.wdp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openxmlformats.org/officeDocument/2006/relationships/diagramLayout" Target="../diagrams/layout6.xml"/><Relationship Id="rId7" Type="http://schemas.openxmlformats.org/officeDocument/2006/relationships/image" Target="../media/image49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357939C-5A58-031C-E67D-7878C0D0A14C}"/>
              </a:ext>
            </a:extLst>
          </p:cNvPr>
          <p:cNvSpPr txBox="1"/>
          <p:nvPr/>
        </p:nvSpPr>
        <p:spPr>
          <a:xfrm>
            <a:off x="3007664" y="273951"/>
            <a:ext cx="86150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República Bolivariana de Venezuela</a:t>
            </a:r>
          </a:p>
          <a:p>
            <a:pPr algn="ctr"/>
            <a:r>
              <a:rPr lang="es-VE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Ministerio del Poder Popular para la Educación Universitaria </a:t>
            </a:r>
          </a:p>
          <a:p>
            <a:pPr algn="ctr"/>
            <a:r>
              <a:rPr lang="es-VE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Ciencia y Tecnología</a:t>
            </a:r>
          </a:p>
          <a:p>
            <a:pPr algn="ctr"/>
            <a:r>
              <a:rPr lang="es-VE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Universidad Politécnica Territorial del Estado Mérida Kléber Ramírez</a:t>
            </a:r>
          </a:p>
          <a:p>
            <a:pPr algn="ctr"/>
            <a:r>
              <a:rPr lang="es-VE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Programa Nacional de Formación en Informática</a:t>
            </a:r>
          </a:p>
          <a:p>
            <a:pPr algn="ctr"/>
            <a:r>
              <a:rPr lang="es-VE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Estado Mérida - Núcleo Tucaní </a:t>
            </a:r>
          </a:p>
          <a:p>
            <a:pPr algn="ctr"/>
            <a:endParaRPr lang="es-VE" sz="2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9587BF-6B59-CB29-67C6-9AABC68AE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4865" y="197997"/>
            <a:ext cx="1119139" cy="111913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63F5860-D4D7-F159-A7A6-E2DF5705A0E7}"/>
              </a:ext>
            </a:extLst>
          </p:cNvPr>
          <p:cNvSpPr txBox="1"/>
          <p:nvPr/>
        </p:nvSpPr>
        <p:spPr>
          <a:xfrm>
            <a:off x="1369695" y="3251950"/>
            <a:ext cx="11765168" cy="1384995"/>
          </a:xfrm>
          <a:prstGeom prst="rect">
            <a:avLst/>
          </a:prstGeom>
          <a:noFill/>
          <a:effectLst>
            <a:reflection endPos="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s-VE" sz="2800" b="1" noProof="0" dirty="0">
                <a:ln w="0"/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IMPLEMENTAR UN SISTEMA AUTOMATIZADO PARA EL REGISTRO Y CONTROL DEL DEPARTAMENTO DE ESTADÍSTICA DE SALUD DEL HOSPITAL ANTONIO JOSÉ UZCÁTEGUI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75D4D30-4B7C-14D1-1689-E48BAFD823C5}"/>
              </a:ext>
            </a:extLst>
          </p:cNvPr>
          <p:cNvSpPr txBox="1"/>
          <p:nvPr/>
        </p:nvSpPr>
        <p:spPr>
          <a:xfrm>
            <a:off x="3038304" y="5224182"/>
            <a:ext cx="37731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s-VE" dirty="0"/>
              <a:t>Tutor Metodológico:</a:t>
            </a:r>
          </a:p>
          <a:p>
            <a:pPr algn="l"/>
            <a:r>
              <a:rPr lang="es-VE" dirty="0"/>
              <a:t>Ing. Elsa Fandiño</a:t>
            </a:r>
          </a:p>
          <a:p>
            <a:pPr algn="l"/>
            <a:endParaRPr lang="es-VE" dirty="0"/>
          </a:p>
          <a:p>
            <a:pPr algn="l"/>
            <a:r>
              <a:rPr lang="es-VE" dirty="0"/>
              <a:t>Tutor Tecnológico:</a:t>
            </a:r>
          </a:p>
          <a:p>
            <a:pPr algn="l"/>
            <a:r>
              <a:rPr lang="es-VE" dirty="0"/>
              <a:t>Ing. Enrique Mora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03CF3D7-2AC9-57EA-39F6-7DBEFE350C3B}"/>
              </a:ext>
            </a:extLst>
          </p:cNvPr>
          <p:cNvSpPr txBox="1"/>
          <p:nvPr/>
        </p:nvSpPr>
        <p:spPr>
          <a:xfrm>
            <a:off x="7977643" y="5224182"/>
            <a:ext cx="37760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VE" dirty="0"/>
              <a:t>Autores:</a:t>
            </a:r>
          </a:p>
          <a:p>
            <a:r>
              <a:rPr lang="es-VE" dirty="0"/>
              <a:t>Daniel Mancilla	27.668.711</a:t>
            </a:r>
          </a:p>
          <a:p>
            <a:r>
              <a:rPr lang="es-VE" dirty="0"/>
              <a:t>Jenifer Lázaro		29.794.519</a:t>
            </a:r>
          </a:p>
          <a:p>
            <a:r>
              <a:rPr lang="es-VE" dirty="0"/>
              <a:t>Franyer Sánchez	28.072.391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18DD9FB-84A4-CD40-58CD-DFE9AC83DE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45" y="90173"/>
            <a:ext cx="1255867" cy="1119139"/>
          </a:xfrm>
          <a:prstGeom prst="rect">
            <a:avLst/>
          </a:prstGeom>
          <a:ln>
            <a:noFill/>
          </a:ln>
          <a:effectLst/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686FAD2-0BBA-FC8F-74A9-C846DE35EC45}"/>
              </a:ext>
            </a:extLst>
          </p:cNvPr>
          <p:cNvSpPr txBox="1"/>
          <p:nvPr/>
        </p:nvSpPr>
        <p:spPr>
          <a:xfrm>
            <a:off x="5771631" y="7316915"/>
            <a:ext cx="2978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000" b="1" dirty="0">
                <a:latin typeface="Arial" panose="020B0604020202020204" pitchFamily="34" charset="0"/>
                <a:cs typeface="Arial" panose="020B0604020202020204" pitchFamily="34" charset="0"/>
              </a:rPr>
              <a:t>Tucaní, junio del 2025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7E4B6F81-AB98-4540-93CD-9DD97FC3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3971250">
            <a:off x="10088493" y="3385440"/>
            <a:ext cx="8948964" cy="12105059"/>
            <a:chOff x="4855953" y="-2833465"/>
            <a:chExt cx="8948964" cy="1210505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B446C93-E89E-4B4E-D75B-661A631DF025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E062F81-4469-691E-B64D-E748D2BA0875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9402F46-7E97-5C20-FF57-756E429BA10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grpSp>
        <p:nvGrpSpPr>
          <p:cNvPr id="13" name="Group 1">
            <a:extLst>
              <a:ext uri="{FF2B5EF4-FFF2-40B4-BE49-F238E27FC236}">
                <a16:creationId xmlns:a16="http://schemas.microsoft.com/office/drawing/2014/main" id="{44E874A2-22D3-1F2B-B746-AAD88E75A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8809481">
            <a:off x="-4351158" y="3311092"/>
            <a:ext cx="8948964" cy="12105059"/>
            <a:chOff x="4855953" y="-2833465"/>
            <a:chExt cx="8948964" cy="12105059"/>
          </a:xfrm>
        </p:grpSpPr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168552D-D5CA-F692-0565-450BB1D694F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F98376D-AF6D-68DB-6559-733F926A0CB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1B7A55DC-B0C9-7B7B-3B99-41202BB5063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42580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1E883FC-234C-326A-AFA0-70CA8CD477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3201371"/>
              </p:ext>
            </p:extLst>
          </p:nvPr>
        </p:nvGraphicFramePr>
        <p:xfrm>
          <a:off x="-91441" y="160020"/>
          <a:ext cx="14478671" cy="7978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E34860BB-63CF-063C-98AB-56232CE8D1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9144" y="596646"/>
            <a:ext cx="1609344" cy="160934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0F81122-4319-B2B5-EC15-EBFB8C7C45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960" y="2551182"/>
            <a:ext cx="1415621" cy="13578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EE9FE22-216F-34D6-CF59-317CBE2F3F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934" y="4433280"/>
            <a:ext cx="1127577" cy="116742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819F3D2-3001-0C5D-132F-8F2027CC4B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3176" y="6300222"/>
            <a:ext cx="1127577" cy="112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44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15" y="2611840"/>
            <a:ext cx="1228712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s-VE" sz="4451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Identificación Y Ubicación De La Comunidad</a:t>
            </a:r>
            <a:endParaRPr lang="es-VE" sz="4451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16" y="386603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800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Nombre</a:t>
            </a:r>
            <a:endParaRPr lang="es-VE" sz="2800" b="1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15" y="4438853"/>
            <a:ext cx="6292572" cy="34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2000" b="1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Hospital Antonio José Uzcátegui</a:t>
            </a:r>
            <a:endParaRPr lang="es-VE" sz="2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316" y="50021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800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Ubicación</a:t>
            </a:r>
            <a:endParaRPr lang="es-VE" sz="2800" b="1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8315" y="5574948"/>
            <a:ext cx="6292572" cy="810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2000" b="1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Estado Mérida, Municipio Caracciolo Parra y Olmedo</a:t>
            </a:r>
          </a:p>
          <a:p>
            <a:pPr>
              <a:lnSpc>
                <a:spcPts val="2700"/>
              </a:lnSpc>
            </a:pPr>
            <a:r>
              <a:rPr lang="es-VE" sz="2000" b="1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Parroquia Tucaní, Sector Andrés Bello, Calle Principal</a:t>
            </a:r>
            <a:endParaRPr lang="es-V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3912" t="7563" r="3086" b="9097"/>
          <a:stretch>
            <a:fillRect/>
          </a:stretch>
        </p:blipFill>
        <p:spPr>
          <a:xfrm>
            <a:off x="7356879" y="3546021"/>
            <a:ext cx="7041875" cy="4363539"/>
          </a:xfrm>
          <a:prstGeom prst="rect">
            <a:avLst/>
          </a:prstGeom>
          <a:ln w="15875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0"/>
          </a:effectLst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30563589-7F72-5205-3C23-062F12FBC72E}"/>
              </a:ext>
            </a:extLst>
          </p:cNvPr>
          <p:cNvSpPr/>
          <p:nvPr/>
        </p:nvSpPr>
        <p:spPr>
          <a:xfrm>
            <a:off x="3871921" y="1070916"/>
            <a:ext cx="635793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s-VE" sz="8600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CAPITULO</a:t>
            </a:r>
            <a:r>
              <a:rPr lang="es-VE" sz="9600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 I</a:t>
            </a:r>
            <a:endParaRPr lang="es-VE" sz="9600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88230" y="3665225"/>
            <a:ext cx="694813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s-VE" sz="4451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Misión Y Visión</a:t>
            </a:r>
            <a:endParaRPr lang="es-VE" sz="4451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712839" y="5346385"/>
            <a:ext cx="487443" cy="487443"/>
          </a:xfrm>
          <a:prstGeom prst="roundRect">
            <a:avLst>
              <a:gd name="adj" fmla="val 40004"/>
            </a:avLst>
          </a:prstGeom>
          <a:solidFill>
            <a:srgbClr val="3D3DFF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VE" sz="2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416863" y="53463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4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Misión</a:t>
            </a:r>
            <a:endParaRPr lang="es-VE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416858" y="5832517"/>
            <a:ext cx="3522821" cy="1040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b="1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Garantizar información estadística precisa y análisis de salud comunitaria.</a:t>
            </a:r>
            <a:endParaRPr lang="es-VE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390691" y="5357815"/>
            <a:ext cx="487443" cy="487443"/>
          </a:xfrm>
          <a:prstGeom prst="roundRect">
            <a:avLst>
              <a:gd name="adj" fmla="val 40004"/>
            </a:avLst>
          </a:prstGeom>
          <a:solidFill>
            <a:srgbClr val="3D3DFF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VE" sz="2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094715" y="535781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4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Visión</a:t>
            </a:r>
            <a:endParaRPr lang="es-VE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094710" y="5843947"/>
            <a:ext cx="3522821" cy="1040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b="1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Optimizar procesamiento y estudio cuantitativo y cualitativo de datos.</a:t>
            </a:r>
            <a:endParaRPr lang="es-VE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26" descr="This image is of a man seen from the back. ">
            <a:extLst>
              <a:ext uri="{FF2B5EF4-FFF2-40B4-BE49-F238E27FC236}">
                <a16:creationId xmlns:a16="http://schemas.microsoft.com/office/drawing/2014/main" id="{77917AB3-DFBD-EE24-089F-20773F8A79DB}"/>
              </a:ext>
            </a:extLst>
          </p:cNvPr>
          <p:cNvGrpSpPr/>
          <p:nvPr/>
        </p:nvGrpSpPr>
        <p:grpSpPr>
          <a:xfrm>
            <a:off x="25018" y="5601536"/>
            <a:ext cx="2668588" cy="2679700"/>
            <a:chOff x="4832350" y="3127375"/>
            <a:chExt cx="2668588" cy="2679700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7435BF9-512E-C97B-B4C0-AF84342BF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3810000"/>
              <a:ext cx="1004888" cy="1736725"/>
            </a:xfrm>
            <a:custGeom>
              <a:avLst/>
              <a:gdLst>
                <a:gd name="T0" fmla="*/ 82 w 175"/>
                <a:gd name="T1" fmla="*/ 75 h 303"/>
                <a:gd name="T2" fmla="*/ 172 w 175"/>
                <a:gd name="T3" fmla="*/ 242 h 303"/>
                <a:gd name="T4" fmla="*/ 103 w 175"/>
                <a:gd name="T5" fmla="*/ 242 h 303"/>
                <a:gd name="T6" fmla="*/ 49 w 175"/>
                <a:gd name="T7" fmla="*/ 89 h 303"/>
                <a:gd name="T8" fmla="*/ 22 w 175"/>
                <a:gd name="T9" fmla="*/ 67 h 303"/>
                <a:gd name="T10" fmla="*/ 7 w 175"/>
                <a:gd name="T11" fmla="*/ 36 h 303"/>
                <a:gd name="T12" fmla="*/ 23 w 175"/>
                <a:gd name="T13" fmla="*/ 36 h 303"/>
                <a:gd name="T14" fmla="*/ 35 w 175"/>
                <a:gd name="T15" fmla="*/ 54 h 303"/>
                <a:gd name="T16" fmla="*/ 8 w 175"/>
                <a:gd name="T17" fmla="*/ 5 h 303"/>
                <a:gd name="T18" fmla="*/ 30 w 175"/>
                <a:gd name="T19" fmla="*/ 21 h 303"/>
                <a:gd name="T20" fmla="*/ 51 w 175"/>
                <a:gd name="T21" fmla="*/ 25 h 303"/>
                <a:gd name="T22" fmla="*/ 70 w 175"/>
                <a:gd name="T23" fmla="*/ 49 h 303"/>
                <a:gd name="T24" fmla="*/ 82 w 175"/>
                <a:gd name="T25" fmla="*/ 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303">
                  <a:moveTo>
                    <a:pt x="82" y="75"/>
                  </a:moveTo>
                  <a:cubicBezTo>
                    <a:pt x="82" y="75"/>
                    <a:pt x="175" y="184"/>
                    <a:pt x="172" y="242"/>
                  </a:cubicBezTo>
                  <a:cubicBezTo>
                    <a:pt x="169" y="299"/>
                    <a:pt x="126" y="303"/>
                    <a:pt x="103" y="242"/>
                  </a:cubicBezTo>
                  <a:cubicBezTo>
                    <a:pt x="81" y="180"/>
                    <a:pt x="49" y="89"/>
                    <a:pt x="49" y="89"/>
                  </a:cubicBezTo>
                  <a:cubicBezTo>
                    <a:pt x="49" y="89"/>
                    <a:pt x="27" y="74"/>
                    <a:pt x="22" y="67"/>
                  </a:cubicBezTo>
                  <a:cubicBezTo>
                    <a:pt x="17" y="61"/>
                    <a:pt x="13" y="39"/>
                    <a:pt x="7" y="36"/>
                  </a:cubicBezTo>
                  <a:cubicBezTo>
                    <a:pt x="0" y="33"/>
                    <a:pt x="12" y="26"/>
                    <a:pt x="23" y="36"/>
                  </a:cubicBezTo>
                  <a:cubicBezTo>
                    <a:pt x="33" y="46"/>
                    <a:pt x="30" y="57"/>
                    <a:pt x="35" y="54"/>
                  </a:cubicBezTo>
                  <a:cubicBezTo>
                    <a:pt x="40" y="50"/>
                    <a:pt x="8" y="10"/>
                    <a:pt x="8" y="5"/>
                  </a:cubicBezTo>
                  <a:cubicBezTo>
                    <a:pt x="9" y="0"/>
                    <a:pt x="30" y="21"/>
                    <a:pt x="30" y="21"/>
                  </a:cubicBezTo>
                  <a:cubicBezTo>
                    <a:pt x="30" y="21"/>
                    <a:pt x="44" y="19"/>
                    <a:pt x="51" y="25"/>
                  </a:cubicBezTo>
                  <a:cubicBezTo>
                    <a:pt x="58" y="30"/>
                    <a:pt x="67" y="43"/>
                    <a:pt x="70" y="49"/>
                  </a:cubicBezTo>
                  <a:cubicBezTo>
                    <a:pt x="72" y="55"/>
                    <a:pt x="75" y="66"/>
                    <a:pt x="82" y="75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95F0E25D-0A89-D775-9C67-E9D6795367B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05375" y="3141662"/>
              <a:ext cx="2479675" cy="266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24B287C4-3E23-AF95-4D29-2296DDA14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0350" y="4210050"/>
              <a:ext cx="752475" cy="1301750"/>
            </a:xfrm>
            <a:custGeom>
              <a:avLst/>
              <a:gdLst>
                <a:gd name="T0" fmla="*/ 36 w 131"/>
                <a:gd name="T1" fmla="*/ 0 h 227"/>
                <a:gd name="T2" fmla="*/ 0 w 131"/>
                <a:gd name="T3" fmla="*/ 22 h 227"/>
                <a:gd name="T4" fmla="*/ 94 w 131"/>
                <a:gd name="T5" fmla="*/ 215 h 227"/>
                <a:gd name="T6" fmla="*/ 130 w 131"/>
                <a:gd name="T7" fmla="*/ 168 h 227"/>
                <a:gd name="T8" fmla="*/ 36 w 131"/>
                <a:gd name="T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27">
                  <a:moveTo>
                    <a:pt x="36" y="0"/>
                  </a:moveTo>
                  <a:cubicBezTo>
                    <a:pt x="36" y="0"/>
                    <a:pt x="5" y="19"/>
                    <a:pt x="0" y="22"/>
                  </a:cubicBezTo>
                  <a:cubicBezTo>
                    <a:pt x="0" y="22"/>
                    <a:pt x="64" y="203"/>
                    <a:pt x="94" y="215"/>
                  </a:cubicBezTo>
                  <a:cubicBezTo>
                    <a:pt x="124" y="227"/>
                    <a:pt x="131" y="194"/>
                    <a:pt x="130" y="168"/>
                  </a:cubicBezTo>
                  <a:cubicBezTo>
                    <a:pt x="129" y="138"/>
                    <a:pt x="99" y="55"/>
                    <a:pt x="36" y="0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36796668-0A5F-AA70-A399-7F0DD7913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5529263"/>
              <a:ext cx="2451100" cy="257175"/>
            </a:xfrm>
            <a:custGeom>
              <a:avLst/>
              <a:gdLst>
                <a:gd name="T0" fmla="*/ 1544 w 1544"/>
                <a:gd name="T1" fmla="*/ 162 h 162"/>
                <a:gd name="T2" fmla="*/ 0 w 1544"/>
                <a:gd name="T3" fmla="*/ 162 h 162"/>
                <a:gd name="T4" fmla="*/ 156 w 1544"/>
                <a:gd name="T5" fmla="*/ 0 h 162"/>
                <a:gd name="T6" fmla="*/ 1436 w 1544"/>
                <a:gd name="T7" fmla="*/ 0 h 162"/>
                <a:gd name="T8" fmla="*/ 1544 w 1544"/>
                <a:gd name="T9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4" h="162">
                  <a:moveTo>
                    <a:pt x="1544" y="162"/>
                  </a:moveTo>
                  <a:lnTo>
                    <a:pt x="0" y="162"/>
                  </a:lnTo>
                  <a:lnTo>
                    <a:pt x="156" y="0"/>
                  </a:lnTo>
                  <a:lnTo>
                    <a:pt x="1436" y="0"/>
                  </a:lnTo>
                  <a:lnTo>
                    <a:pt x="1544" y="16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FC9E0"/>
                </a:gs>
                <a:gs pos="39000">
                  <a:srgbClr val="4BC3E2"/>
                </a:gs>
                <a:gs pos="85000">
                  <a:srgbClr val="03034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B7FC8022-8B57-50A2-0359-82F37008B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363" y="4187825"/>
              <a:ext cx="1520825" cy="1598613"/>
            </a:xfrm>
            <a:custGeom>
              <a:avLst/>
              <a:gdLst>
                <a:gd name="T0" fmla="*/ 265 w 265"/>
                <a:gd name="T1" fmla="*/ 279 h 279"/>
                <a:gd name="T2" fmla="*/ 25 w 265"/>
                <a:gd name="T3" fmla="*/ 279 h 279"/>
                <a:gd name="T4" fmla="*/ 20 w 265"/>
                <a:gd name="T5" fmla="*/ 234 h 279"/>
                <a:gd name="T6" fmla="*/ 20 w 265"/>
                <a:gd name="T7" fmla="*/ 230 h 279"/>
                <a:gd name="T8" fmla="*/ 13 w 265"/>
                <a:gd name="T9" fmla="*/ 171 h 279"/>
                <a:gd name="T10" fmla="*/ 11 w 265"/>
                <a:gd name="T11" fmla="*/ 150 h 279"/>
                <a:gd name="T12" fmla="*/ 10 w 265"/>
                <a:gd name="T13" fmla="*/ 129 h 279"/>
                <a:gd name="T14" fmla="*/ 10 w 265"/>
                <a:gd name="T15" fmla="*/ 34 h 279"/>
                <a:gd name="T16" fmla="*/ 10 w 265"/>
                <a:gd name="T17" fmla="*/ 34 h 279"/>
                <a:gd name="T18" fmla="*/ 65 w 265"/>
                <a:gd name="T19" fmla="*/ 17 h 279"/>
                <a:gd name="T20" fmla="*/ 86 w 265"/>
                <a:gd name="T21" fmla="*/ 1 h 279"/>
                <a:gd name="T22" fmla="*/ 131 w 265"/>
                <a:gd name="T23" fmla="*/ 3 h 279"/>
                <a:gd name="T24" fmla="*/ 132 w 265"/>
                <a:gd name="T25" fmla="*/ 3 h 279"/>
                <a:gd name="T26" fmla="*/ 132 w 265"/>
                <a:gd name="T27" fmla="*/ 3 h 279"/>
                <a:gd name="T28" fmla="*/ 133 w 265"/>
                <a:gd name="T29" fmla="*/ 3 h 279"/>
                <a:gd name="T30" fmla="*/ 169 w 265"/>
                <a:gd name="T31" fmla="*/ 12 h 279"/>
                <a:gd name="T32" fmla="*/ 170 w 265"/>
                <a:gd name="T33" fmla="*/ 13 h 279"/>
                <a:gd name="T34" fmla="*/ 170 w 265"/>
                <a:gd name="T35" fmla="*/ 13 h 279"/>
                <a:gd name="T36" fmla="*/ 171 w 265"/>
                <a:gd name="T37" fmla="*/ 26 h 279"/>
                <a:gd name="T38" fmla="*/ 197 w 265"/>
                <a:gd name="T39" fmla="*/ 31 h 279"/>
                <a:gd name="T40" fmla="*/ 201 w 265"/>
                <a:gd name="T41" fmla="*/ 32 h 279"/>
                <a:gd name="T42" fmla="*/ 251 w 265"/>
                <a:gd name="T43" fmla="*/ 105 h 279"/>
                <a:gd name="T44" fmla="*/ 255 w 265"/>
                <a:gd name="T45" fmla="*/ 151 h 279"/>
                <a:gd name="T46" fmla="*/ 259 w 265"/>
                <a:gd name="T47" fmla="*/ 192 h 279"/>
                <a:gd name="T48" fmla="*/ 262 w 265"/>
                <a:gd name="T49" fmla="*/ 234 h 279"/>
                <a:gd name="T50" fmla="*/ 264 w 265"/>
                <a:gd name="T51" fmla="*/ 266 h 279"/>
                <a:gd name="T52" fmla="*/ 264 w 265"/>
                <a:gd name="T53" fmla="*/ 266 h 279"/>
                <a:gd name="T54" fmla="*/ 265 w 265"/>
                <a:gd name="T5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5" h="279">
                  <a:moveTo>
                    <a:pt x="265" y="279"/>
                  </a:moveTo>
                  <a:cubicBezTo>
                    <a:pt x="25" y="279"/>
                    <a:pt x="25" y="279"/>
                    <a:pt x="25" y="279"/>
                  </a:cubicBezTo>
                  <a:cubicBezTo>
                    <a:pt x="25" y="273"/>
                    <a:pt x="23" y="256"/>
                    <a:pt x="20" y="234"/>
                  </a:cubicBezTo>
                  <a:cubicBezTo>
                    <a:pt x="20" y="232"/>
                    <a:pt x="20" y="231"/>
                    <a:pt x="20" y="230"/>
                  </a:cubicBezTo>
                  <a:cubicBezTo>
                    <a:pt x="17" y="211"/>
                    <a:pt x="15" y="191"/>
                    <a:pt x="13" y="171"/>
                  </a:cubicBezTo>
                  <a:cubicBezTo>
                    <a:pt x="13" y="164"/>
                    <a:pt x="12" y="157"/>
                    <a:pt x="11" y="150"/>
                  </a:cubicBezTo>
                  <a:cubicBezTo>
                    <a:pt x="11" y="143"/>
                    <a:pt x="11" y="136"/>
                    <a:pt x="10" y="129"/>
                  </a:cubicBezTo>
                  <a:cubicBezTo>
                    <a:pt x="8" y="78"/>
                    <a:pt x="0" y="42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9" y="26"/>
                    <a:pt x="65" y="17"/>
                    <a:pt x="65" y="17"/>
                  </a:cubicBezTo>
                  <a:cubicBezTo>
                    <a:pt x="65" y="17"/>
                    <a:pt x="70" y="2"/>
                    <a:pt x="86" y="1"/>
                  </a:cubicBezTo>
                  <a:cubicBezTo>
                    <a:pt x="102" y="0"/>
                    <a:pt x="118" y="1"/>
                    <a:pt x="131" y="3"/>
                  </a:cubicBezTo>
                  <a:cubicBezTo>
                    <a:pt x="131" y="3"/>
                    <a:pt x="132" y="3"/>
                    <a:pt x="132" y="3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2" y="3"/>
                    <a:pt x="133" y="3"/>
                    <a:pt x="133" y="3"/>
                  </a:cubicBezTo>
                  <a:cubicBezTo>
                    <a:pt x="152" y="6"/>
                    <a:pt x="167" y="10"/>
                    <a:pt x="169" y="12"/>
                  </a:cubicBezTo>
                  <a:cubicBezTo>
                    <a:pt x="170" y="12"/>
                    <a:pt x="170" y="13"/>
                    <a:pt x="170" y="13"/>
                  </a:cubicBezTo>
                  <a:cubicBezTo>
                    <a:pt x="170" y="13"/>
                    <a:pt x="170" y="13"/>
                    <a:pt x="170" y="13"/>
                  </a:cubicBezTo>
                  <a:cubicBezTo>
                    <a:pt x="171" y="22"/>
                    <a:pt x="171" y="26"/>
                    <a:pt x="171" y="26"/>
                  </a:cubicBezTo>
                  <a:cubicBezTo>
                    <a:pt x="171" y="26"/>
                    <a:pt x="184" y="32"/>
                    <a:pt x="197" y="31"/>
                  </a:cubicBezTo>
                  <a:cubicBezTo>
                    <a:pt x="198" y="31"/>
                    <a:pt x="199" y="31"/>
                    <a:pt x="201" y="32"/>
                  </a:cubicBezTo>
                  <a:cubicBezTo>
                    <a:pt x="216" y="35"/>
                    <a:pt x="247" y="62"/>
                    <a:pt x="251" y="105"/>
                  </a:cubicBezTo>
                  <a:cubicBezTo>
                    <a:pt x="252" y="117"/>
                    <a:pt x="254" y="133"/>
                    <a:pt x="255" y="151"/>
                  </a:cubicBezTo>
                  <a:cubicBezTo>
                    <a:pt x="256" y="164"/>
                    <a:pt x="257" y="178"/>
                    <a:pt x="259" y="192"/>
                  </a:cubicBezTo>
                  <a:cubicBezTo>
                    <a:pt x="260" y="207"/>
                    <a:pt x="261" y="221"/>
                    <a:pt x="262" y="234"/>
                  </a:cubicBezTo>
                  <a:cubicBezTo>
                    <a:pt x="263" y="246"/>
                    <a:pt x="263" y="258"/>
                    <a:pt x="264" y="266"/>
                  </a:cubicBezTo>
                  <a:cubicBezTo>
                    <a:pt x="264" y="266"/>
                    <a:pt x="264" y="266"/>
                    <a:pt x="264" y="266"/>
                  </a:cubicBezTo>
                  <a:cubicBezTo>
                    <a:pt x="264" y="272"/>
                    <a:pt x="265" y="277"/>
                    <a:pt x="265" y="27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8D5CD2FA-D76C-74D9-05CD-8FCEC6C9B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350" y="4359275"/>
              <a:ext cx="1382713" cy="1152525"/>
            </a:xfrm>
            <a:custGeom>
              <a:avLst/>
              <a:gdLst>
                <a:gd name="T0" fmla="*/ 227 w 241"/>
                <a:gd name="T1" fmla="*/ 194 h 201"/>
                <a:gd name="T2" fmla="*/ 104 w 241"/>
                <a:gd name="T3" fmla="*/ 200 h 201"/>
                <a:gd name="T4" fmla="*/ 23 w 241"/>
                <a:gd name="T5" fmla="*/ 199 h 201"/>
                <a:gd name="T6" fmla="*/ 38 w 241"/>
                <a:gd name="T7" fmla="*/ 83 h 201"/>
                <a:gd name="T8" fmla="*/ 94 w 241"/>
                <a:gd name="T9" fmla="*/ 4 h 201"/>
                <a:gd name="T10" fmla="*/ 94 w 241"/>
                <a:gd name="T11" fmla="*/ 4 h 201"/>
                <a:gd name="T12" fmla="*/ 106 w 241"/>
                <a:gd name="T13" fmla="*/ 1 h 201"/>
                <a:gd name="T14" fmla="*/ 143 w 241"/>
                <a:gd name="T15" fmla="*/ 57 h 201"/>
                <a:gd name="T16" fmla="*/ 95 w 241"/>
                <a:gd name="T17" fmla="*/ 120 h 201"/>
                <a:gd name="T18" fmla="*/ 76 w 241"/>
                <a:gd name="T19" fmla="*/ 141 h 201"/>
                <a:gd name="T20" fmla="*/ 97 w 241"/>
                <a:gd name="T21" fmla="*/ 141 h 201"/>
                <a:gd name="T22" fmla="*/ 239 w 241"/>
                <a:gd name="T23" fmla="*/ 164 h 201"/>
                <a:gd name="T24" fmla="*/ 227 w 241"/>
                <a:gd name="T25" fmla="*/ 19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201">
                  <a:moveTo>
                    <a:pt x="227" y="194"/>
                  </a:moveTo>
                  <a:cubicBezTo>
                    <a:pt x="224" y="194"/>
                    <a:pt x="160" y="198"/>
                    <a:pt x="104" y="200"/>
                  </a:cubicBezTo>
                  <a:cubicBezTo>
                    <a:pt x="66" y="201"/>
                    <a:pt x="32" y="201"/>
                    <a:pt x="23" y="199"/>
                  </a:cubicBezTo>
                  <a:cubicBezTo>
                    <a:pt x="0" y="193"/>
                    <a:pt x="5" y="167"/>
                    <a:pt x="38" y="83"/>
                  </a:cubicBezTo>
                  <a:cubicBezTo>
                    <a:pt x="59" y="29"/>
                    <a:pt x="80" y="10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101" y="0"/>
                    <a:pt x="106" y="1"/>
                    <a:pt x="106" y="1"/>
                  </a:cubicBezTo>
                  <a:cubicBezTo>
                    <a:pt x="123" y="0"/>
                    <a:pt x="145" y="42"/>
                    <a:pt x="143" y="57"/>
                  </a:cubicBezTo>
                  <a:cubicBezTo>
                    <a:pt x="142" y="66"/>
                    <a:pt x="115" y="98"/>
                    <a:pt x="95" y="120"/>
                  </a:cubicBezTo>
                  <a:cubicBezTo>
                    <a:pt x="85" y="132"/>
                    <a:pt x="76" y="141"/>
                    <a:pt x="76" y="141"/>
                  </a:cubicBezTo>
                  <a:cubicBezTo>
                    <a:pt x="76" y="141"/>
                    <a:pt x="85" y="141"/>
                    <a:pt x="97" y="141"/>
                  </a:cubicBezTo>
                  <a:cubicBezTo>
                    <a:pt x="139" y="142"/>
                    <a:pt x="228" y="145"/>
                    <a:pt x="239" y="164"/>
                  </a:cubicBezTo>
                  <a:cubicBezTo>
                    <a:pt x="241" y="169"/>
                    <a:pt x="233" y="194"/>
                    <a:pt x="227" y="194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6BEF42C0-6BE0-4196-E95F-2EF30A002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4960938"/>
              <a:ext cx="333375" cy="750888"/>
            </a:xfrm>
            <a:custGeom>
              <a:avLst/>
              <a:gdLst>
                <a:gd name="T0" fmla="*/ 66 w 66"/>
                <a:gd name="T1" fmla="*/ 131 h 131"/>
                <a:gd name="T2" fmla="*/ 23 w 66"/>
                <a:gd name="T3" fmla="*/ 68 h 131"/>
                <a:gd name="T4" fmla="*/ 4 w 66"/>
                <a:gd name="T5" fmla="*/ 25 h 131"/>
                <a:gd name="T6" fmla="*/ 57 w 66"/>
                <a:gd name="T7" fmla="*/ 16 h 131"/>
                <a:gd name="T8" fmla="*/ 64 w 66"/>
                <a:gd name="T9" fmla="*/ 99 h 131"/>
                <a:gd name="T10" fmla="*/ 66 w 66"/>
                <a:gd name="T1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131">
                  <a:moveTo>
                    <a:pt x="66" y="131"/>
                  </a:moveTo>
                  <a:cubicBezTo>
                    <a:pt x="61" y="107"/>
                    <a:pt x="42" y="83"/>
                    <a:pt x="23" y="68"/>
                  </a:cubicBezTo>
                  <a:cubicBezTo>
                    <a:pt x="0" y="51"/>
                    <a:pt x="4" y="25"/>
                    <a:pt x="4" y="25"/>
                  </a:cubicBezTo>
                  <a:cubicBezTo>
                    <a:pt x="21" y="0"/>
                    <a:pt x="41" y="5"/>
                    <a:pt x="57" y="16"/>
                  </a:cubicBezTo>
                  <a:cubicBezTo>
                    <a:pt x="59" y="43"/>
                    <a:pt x="62" y="74"/>
                    <a:pt x="64" y="99"/>
                  </a:cubicBezTo>
                  <a:cubicBezTo>
                    <a:pt x="65" y="111"/>
                    <a:pt x="65" y="123"/>
                    <a:pt x="66" y="13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8" name="Freeform: Shape 21">
              <a:extLst>
                <a:ext uri="{FF2B5EF4-FFF2-40B4-BE49-F238E27FC236}">
                  <a16:creationId xmlns:a16="http://schemas.microsoft.com/office/drawing/2014/main" id="{69EA4003-C7FD-CF82-575D-F206790926F3}"/>
                </a:ext>
              </a:extLst>
            </p:cNvPr>
            <p:cNvSpPr/>
            <p:nvPr/>
          </p:nvSpPr>
          <p:spPr>
            <a:xfrm rot="20364014">
              <a:off x="6924390" y="4583236"/>
              <a:ext cx="305126" cy="641501"/>
            </a:xfrm>
            <a:custGeom>
              <a:avLst/>
              <a:gdLst>
                <a:gd name="connsiteX0" fmla="*/ 793 w 453638"/>
                <a:gd name="connsiteY0" fmla="*/ 10752 h 953733"/>
                <a:gd name="connsiteX1" fmla="*/ 331787 w 453638"/>
                <a:gd name="connsiteY1" fmla="*/ 467952 h 953733"/>
                <a:gd name="connsiteX2" fmla="*/ 436562 w 453638"/>
                <a:gd name="connsiteY2" fmla="*/ 944202 h 953733"/>
                <a:gd name="connsiteX3" fmla="*/ 793 w 453638"/>
                <a:gd name="connsiteY3" fmla="*/ 10752 h 9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638" h="953733">
                  <a:moveTo>
                    <a:pt x="793" y="10752"/>
                  </a:moveTo>
                  <a:cubicBezTo>
                    <a:pt x="-16669" y="-68623"/>
                    <a:pt x="259159" y="312377"/>
                    <a:pt x="331787" y="467952"/>
                  </a:cubicBezTo>
                  <a:cubicBezTo>
                    <a:pt x="404415" y="623527"/>
                    <a:pt x="490934" y="1020005"/>
                    <a:pt x="436562" y="944202"/>
                  </a:cubicBezTo>
                  <a:cubicBezTo>
                    <a:pt x="382190" y="868399"/>
                    <a:pt x="18255" y="90127"/>
                    <a:pt x="793" y="10752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>
                <a:solidFill>
                  <a:schemeClr val="tx1"/>
                </a:solidFill>
              </a:endParaRPr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F3A563BF-0D8B-FFF8-CCFB-63D273D5D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4297363"/>
              <a:ext cx="1435100" cy="1168400"/>
            </a:xfrm>
            <a:custGeom>
              <a:avLst/>
              <a:gdLst>
                <a:gd name="T0" fmla="*/ 11 w 250"/>
                <a:gd name="T1" fmla="*/ 49 h 204"/>
                <a:gd name="T2" fmla="*/ 103 w 250"/>
                <a:gd name="T3" fmla="*/ 27 h 204"/>
                <a:gd name="T4" fmla="*/ 211 w 250"/>
                <a:gd name="T5" fmla="*/ 135 h 204"/>
                <a:gd name="T6" fmla="*/ 179 w 250"/>
                <a:gd name="T7" fmla="*/ 196 h 204"/>
                <a:gd name="T8" fmla="*/ 10 w 250"/>
                <a:gd name="T9" fmla="*/ 49 h 204"/>
                <a:gd name="T10" fmla="*/ 11 w 250"/>
                <a:gd name="T11" fmla="*/ 4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" h="204">
                  <a:moveTo>
                    <a:pt x="11" y="49"/>
                  </a:moveTo>
                  <a:cubicBezTo>
                    <a:pt x="25" y="11"/>
                    <a:pt x="73" y="0"/>
                    <a:pt x="103" y="27"/>
                  </a:cubicBezTo>
                  <a:cubicBezTo>
                    <a:pt x="136" y="58"/>
                    <a:pt x="187" y="105"/>
                    <a:pt x="211" y="135"/>
                  </a:cubicBezTo>
                  <a:cubicBezTo>
                    <a:pt x="250" y="180"/>
                    <a:pt x="199" y="204"/>
                    <a:pt x="179" y="196"/>
                  </a:cubicBezTo>
                  <a:cubicBezTo>
                    <a:pt x="117" y="171"/>
                    <a:pt x="0" y="117"/>
                    <a:pt x="10" y="49"/>
                  </a:cubicBezTo>
                  <a:cubicBezTo>
                    <a:pt x="10" y="49"/>
                    <a:pt x="11" y="49"/>
                    <a:pt x="11" y="4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C7A22252-43CA-A762-542D-9A39BA5FE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809625" cy="1135063"/>
            </a:xfrm>
            <a:custGeom>
              <a:avLst/>
              <a:gdLst>
                <a:gd name="T0" fmla="*/ 138 w 141"/>
                <a:gd name="T1" fmla="*/ 142 h 198"/>
                <a:gd name="T2" fmla="*/ 136 w 141"/>
                <a:gd name="T3" fmla="*/ 150 h 198"/>
                <a:gd name="T4" fmla="*/ 134 w 141"/>
                <a:gd name="T5" fmla="*/ 170 h 198"/>
                <a:gd name="T6" fmla="*/ 128 w 141"/>
                <a:gd name="T7" fmla="*/ 178 h 198"/>
                <a:gd name="T8" fmla="*/ 125 w 141"/>
                <a:gd name="T9" fmla="*/ 179 h 198"/>
                <a:gd name="T10" fmla="*/ 115 w 141"/>
                <a:gd name="T11" fmla="*/ 178 h 198"/>
                <a:gd name="T12" fmla="*/ 109 w 141"/>
                <a:gd name="T13" fmla="*/ 198 h 198"/>
                <a:gd name="T14" fmla="*/ 108 w 141"/>
                <a:gd name="T15" fmla="*/ 197 h 198"/>
                <a:gd name="T16" fmla="*/ 71 w 141"/>
                <a:gd name="T17" fmla="*/ 188 h 198"/>
                <a:gd name="T18" fmla="*/ 71 w 141"/>
                <a:gd name="T19" fmla="*/ 188 h 198"/>
                <a:gd name="T20" fmla="*/ 70 w 141"/>
                <a:gd name="T21" fmla="*/ 188 h 198"/>
                <a:gd name="T22" fmla="*/ 25 w 141"/>
                <a:gd name="T23" fmla="*/ 186 h 198"/>
                <a:gd name="T24" fmla="*/ 26 w 141"/>
                <a:gd name="T25" fmla="*/ 157 h 198"/>
                <a:gd name="T26" fmla="*/ 19 w 141"/>
                <a:gd name="T27" fmla="*/ 125 h 198"/>
                <a:gd name="T28" fmla="*/ 9 w 141"/>
                <a:gd name="T29" fmla="*/ 99 h 198"/>
                <a:gd name="T30" fmla="*/ 0 w 141"/>
                <a:gd name="T31" fmla="*/ 72 h 198"/>
                <a:gd name="T32" fmla="*/ 34 w 141"/>
                <a:gd name="T33" fmla="*/ 18 h 198"/>
                <a:gd name="T34" fmla="*/ 57 w 141"/>
                <a:gd name="T35" fmla="*/ 7 h 198"/>
                <a:gd name="T36" fmla="*/ 76 w 141"/>
                <a:gd name="T37" fmla="*/ 0 h 198"/>
                <a:gd name="T38" fmla="*/ 92 w 141"/>
                <a:gd name="T39" fmla="*/ 9 h 198"/>
                <a:gd name="T40" fmla="*/ 112 w 141"/>
                <a:gd name="T41" fmla="*/ 11 h 198"/>
                <a:gd name="T42" fmla="*/ 124 w 141"/>
                <a:gd name="T43" fmla="*/ 24 h 198"/>
                <a:gd name="T44" fmla="*/ 134 w 141"/>
                <a:gd name="T45" fmla="*/ 37 h 198"/>
                <a:gd name="T46" fmla="*/ 134 w 141"/>
                <a:gd name="T47" fmla="*/ 38 h 198"/>
                <a:gd name="T48" fmla="*/ 134 w 141"/>
                <a:gd name="T49" fmla="*/ 38 h 198"/>
                <a:gd name="T50" fmla="*/ 133 w 141"/>
                <a:gd name="T51" fmla="*/ 39 h 198"/>
                <a:gd name="T52" fmla="*/ 132 w 141"/>
                <a:gd name="T53" fmla="*/ 41 h 198"/>
                <a:gd name="T54" fmla="*/ 131 w 141"/>
                <a:gd name="T55" fmla="*/ 42 h 198"/>
                <a:gd name="T56" fmla="*/ 130 w 141"/>
                <a:gd name="T57" fmla="*/ 42 h 198"/>
                <a:gd name="T58" fmla="*/ 129 w 141"/>
                <a:gd name="T59" fmla="*/ 43 h 198"/>
                <a:gd name="T60" fmla="*/ 129 w 141"/>
                <a:gd name="T61" fmla="*/ 43 h 198"/>
                <a:gd name="T62" fmla="*/ 138 w 141"/>
                <a:gd name="T63" fmla="*/ 90 h 198"/>
                <a:gd name="T64" fmla="*/ 139 w 141"/>
                <a:gd name="T65" fmla="*/ 113 h 198"/>
                <a:gd name="T66" fmla="*/ 138 w 141"/>
                <a:gd name="T67" fmla="*/ 14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198">
                  <a:moveTo>
                    <a:pt x="138" y="142"/>
                  </a:moveTo>
                  <a:cubicBezTo>
                    <a:pt x="138" y="145"/>
                    <a:pt x="137" y="147"/>
                    <a:pt x="136" y="150"/>
                  </a:cubicBezTo>
                  <a:cubicBezTo>
                    <a:pt x="136" y="151"/>
                    <a:pt x="135" y="166"/>
                    <a:pt x="134" y="170"/>
                  </a:cubicBezTo>
                  <a:cubicBezTo>
                    <a:pt x="134" y="172"/>
                    <a:pt x="132" y="177"/>
                    <a:pt x="128" y="178"/>
                  </a:cubicBezTo>
                  <a:cubicBezTo>
                    <a:pt x="127" y="179"/>
                    <a:pt x="126" y="179"/>
                    <a:pt x="125" y="179"/>
                  </a:cubicBezTo>
                  <a:cubicBezTo>
                    <a:pt x="118" y="178"/>
                    <a:pt x="115" y="178"/>
                    <a:pt x="115" y="178"/>
                  </a:cubicBezTo>
                  <a:cubicBezTo>
                    <a:pt x="115" y="178"/>
                    <a:pt x="108" y="189"/>
                    <a:pt x="109" y="198"/>
                  </a:cubicBezTo>
                  <a:cubicBezTo>
                    <a:pt x="109" y="198"/>
                    <a:pt x="109" y="197"/>
                    <a:pt x="108" y="197"/>
                  </a:cubicBezTo>
                  <a:cubicBezTo>
                    <a:pt x="106" y="195"/>
                    <a:pt x="91" y="191"/>
                    <a:pt x="71" y="188"/>
                  </a:cubicBezTo>
                  <a:cubicBezTo>
                    <a:pt x="71" y="188"/>
                    <a:pt x="71" y="188"/>
                    <a:pt x="71" y="188"/>
                  </a:cubicBezTo>
                  <a:cubicBezTo>
                    <a:pt x="71" y="188"/>
                    <a:pt x="70" y="188"/>
                    <a:pt x="70" y="188"/>
                  </a:cubicBezTo>
                  <a:cubicBezTo>
                    <a:pt x="57" y="186"/>
                    <a:pt x="41" y="185"/>
                    <a:pt x="25" y="186"/>
                  </a:cubicBezTo>
                  <a:cubicBezTo>
                    <a:pt x="25" y="186"/>
                    <a:pt x="27" y="173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9" y="43"/>
                    <a:pt x="139" y="82"/>
                    <a:pt x="138" y="90"/>
                  </a:cubicBezTo>
                  <a:cubicBezTo>
                    <a:pt x="138" y="97"/>
                    <a:pt x="137" y="106"/>
                    <a:pt x="139" y="113"/>
                  </a:cubicBezTo>
                  <a:cubicBezTo>
                    <a:pt x="141" y="118"/>
                    <a:pt x="141" y="129"/>
                    <a:pt x="138" y="142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30A8273A-B42E-2737-AB92-5BB745A77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900113"/>
            </a:xfrm>
            <a:custGeom>
              <a:avLst/>
              <a:gdLst>
                <a:gd name="T0" fmla="*/ 134 w 136"/>
                <a:gd name="T1" fmla="*/ 37 h 157"/>
                <a:gd name="T2" fmla="*/ 134 w 136"/>
                <a:gd name="T3" fmla="*/ 38 h 157"/>
                <a:gd name="T4" fmla="*/ 134 w 136"/>
                <a:gd name="T5" fmla="*/ 38 h 157"/>
                <a:gd name="T6" fmla="*/ 133 w 136"/>
                <a:gd name="T7" fmla="*/ 39 h 157"/>
                <a:gd name="T8" fmla="*/ 132 w 136"/>
                <a:gd name="T9" fmla="*/ 41 h 157"/>
                <a:gd name="T10" fmla="*/ 129 w 136"/>
                <a:gd name="T11" fmla="*/ 43 h 157"/>
                <a:gd name="T12" fmla="*/ 129 w 136"/>
                <a:gd name="T13" fmla="*/ 43 h 157"/>
                <a:gd name="T14" fmla="*/ 127 w 136"/>
                <a:gd name="T15" fmla="*/ 79 h 157"/>
                <a:gd name="T16" fmla="*/ 97 w 136"/>
                <a:gd name="T17" fmla="*/ 111 h 157"/>
                <a:gd name="T18" fmla="*/ 85 w 136"/>
                <a:gd name="T19" fmla="*/ 140 h 157"/>
                <a:gd name="T20" fmla="*/ 85 w 136"/>
                <a:gd name="T21" fmla="*/ 157 h 157"/>
                <a:gd name="T22" fmla="*/ 26 w 136"/>
                <a:gd name="T23" fmla="*/ 157 h 157"/>
                <a:gd name="T24" fmla="*/ 19 w 136"/>
                <a:gd name="T25" fmla="*/ 125 h 157"/>
                <a:gd name="T26" fmla="*/ 9 w 136"/>
                <a:gd name="T27" fmla="*/ 99 h 157"/>
                <a:gd name="T28" fmla="*/ 0 w 136"/>
                <a:gd name="T29" fmla="*/ 72 h 157"/>
                <a:gd name="T30" fmla="*/ 34 w 136"/>
                <a:gd name="T31" fmla="*/ 18 h 157"/>
                <a:gd name="T32" fmla="*/ 57 w 136"/>
                <a:gd name="T33" fmla="*/ 7 h 157"/>
                <a:gd name="T34" fmla="*/ 76 w 136"/>
                <a:gd name="T35" fmla="*/ 0 h 157"/>
                <a:gd name="T36" fmla="*/ 92 w 136"/>
                <a:gd name="T37" fmla="*/ 9 h 157"/>
                <a:gd name="T38" fmla="*/ 112 w 136"/>
                <a:gd name="T39" fmla="*/ 11 h 157"/>
                <a:gd name="T40" fmla="*/ 124 w 136"/>
                <a:gd name="T41" fmla="*/ 24 h 157"/>
                <a:gd name="T42" fmla="*/ 134 w 136"/>
                <a:gd name="T43" fmla="*/ 3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57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1" y="42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89" y="119"/>
                    <a:pt x="85" y="129"/>
                    <a:pt x="85" y="140"/>
                  </a:cubicBezTo>
                  <a:cubicBezTo>
                    <a:pt x="85" y="157"/>
                    <a:pt x="85" y="157"/>
                    <a:pt x="85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gradFill>
              <a:gsLst>
                <a:gs pos="75000">
                  <a:srgbClr val="F7BDBB"/>
                </a:gs>
                <a:gs pos="100000">
                  <a:srgbClr val="F7BDB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2245FDD7-855B-0C12-01FB-634002DF3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566738"/>
            </a:xfrm>
            <a:custGeom>
              <a:avLst/>
              <a:gdLst>
                <a:gd name="T0" fmla="*/ 134 w 136"/>
                <a:gd name="T1" fmla="*/ 37 h 99"/>
                <a:gd name="T2" fmla="*/ 134 w 136"/>
                <a:gd name="T3" fmla="*/ 38 h 99"/>
                <a:gd name="T4" fmla="*/ 134 w 136"/>
                <a:gd name="T5" fmla="*/ 38 h 99"/>
                <a:gd name="T6" fmla="*/ 133 w 136"/>
                <a:gd name="T7" fmla="*/ 39 h 99"/>
                <a:gd name="T8" fmla="*/ 132 w 136"/>
                <a:gd name="T9" fmla="*/ 41 h 99"/>
                <a:gd name="T10" fmla="*/ 131 w 136"/>
                <a:gd name="T11" fmla="*/ 42 h 99"/>
                <a:gd name="T12" fmla="*/ 130 w 136"/>
                <a:gd name="T13" fmla="*/ 42 h 99"/>
                <a:gd name="T14" fmla="*/ 129 w 136"/>
                <a:gd name="T15" fmla="*/ 43 h 99"/>
                <a:gd name="T16" fmla="*/ 129 w 136"/>
                <a:gd name="T17" fmla="*/ 43 h 99"/>
                <a:gd name="T18" fmla="*/ 72 w 136"/>
                <a:gd name="T19" fmla="*/ 96 h 99"/>
                <a:gd name="T20" fmla="*/ 70 w 136"/>
                <a:gd name="T21" fmla="*/ 99 h 99"/>
                <a:gd name="T22" fmla="*/ 9 w 136"/>
                <a:gd name="T23" fmla="*/ 99 h 99"/>
                <a:gd name="T24" fmla="*/ 0 w 136"/>
                <a:gd name="T25" fmla="*/ 72 h 99"/>
                <a:gd name="T26" fmla="*/ 34 w 136"/>
                <a:gd name="T27" fmla="*/ 18 h 99"/>
                <a:gd name="T28" fmla="*/ 57 w 136"/>
                <a:gd name="T29" fmla="*/ 7 h 99"/>
                <a:gd name="T30" fmla="*/ 76 w 136"/>
                <a:gd name="T31" fmla="*/ 0 h 99"/>
                <a:gd name="T32" fmla="*/ 92 w 136"/>
                <a:gd name="T33" fmla="*/ 9 h 99"/>
                <a:gd name="T34" fmla="*/ 112 w 136"/>
                <a:gd name="T35" fmla="*/ 11 h 99"/>
                <a:gd name="T36" fmla="*/ 124 w 136"/>
                <a:gd name="T37" fmla="*/ 24 h 99"/>
                <a:gd name="T38" fmla="*/ 134 w 136"/>
                <a:gd name="T39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99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4" y="45"/>
                    <a:pt x="107" y="51"/>
                    <a:pt x="72" y="96"/>
                  </a:cubicBezTo>
                  <a:cubicBezTo>
                    <a:pt x="72" y="97"/>
                    <a:pt x="71" y="98"/>
                    <a:pt x="70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0ECE4B1B-9F4F-EE00-960D-743E18CC4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5" y="3775075"/>
              <a:ext cx="68263" cy="92075"/>
            </a:xfrm>
            <a:custGeom>
              <a:avLst/>
              <a:gdLst>
                <a:gd name="T0" fmla="*/ 0 w 12"/>
                <a:gd name="T1" fmla="*/ 4 h 16"/>
                <a:gd name="T2" fmla="*/ 6 w 12"/>
                <a:gd name="T3" fmla="*/ 8 h 16"/>
                <a:gd name="T4" fmla="*/ 12 w 12"/>
                <a:gd name="T5" fmla="*/ 16 h 16"/>
                <a:gd name="T6" fmla="*/ 0 w 12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0" y="4"/>
                  </a:moveTo>
                  <a:cubicBezTo>
                    <a:pt x="0" y="0"/>
                    <a:pt x="4" y="3"/>
                    <a:pt x="6" y="8"/>
                  </a:cubicBezTo>
                  <a:cubicBezTo>
                    <a:pt x="7" y="13"/>
                    <a:pt x="11" y="16"/>
                    <a:pt x="12" y="16"/>
                  </a:cubicBezTo>
                  <a:cubicBezTo>
                    <a:pt x="12" y="16"/>
                    <a:pt x="1" y="14"/>
                    <a:pt x="0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D6314F5F-0720-90FD-CD6F-A649D7705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3792538"/>
              <a:ext cx="131763" cy="360363"/>
            </a:xfrm>
            <a:custGeom>
              <a:avLst/>
              <a:gdLst>
                <a:gd name="T0" fmla="*/ 23 w 23"/>
                <a:gd name="T1" fmla="*/ 26 h 63"/>
                <a:gd name="T2" fmla="*/ 21 w 23"/>
                <a:gd name="T3" fmla="*/ 34 h 63"/>
                <a:gd name="T4" fmla="*/ 19 w 23"/>
                <a:gd name="T5" fmla="*/ 54 h 63"/>
                <a:gd name="T6" fmla="*/ 13 w 23"/>
                <a:gd name="T7" fmla="*/ 62 h 63"/>
                <a:gd name="T8" fmla="*/ 10 w 23"/>
                <a:gd name="T9" fmla="*/ 63 h 63"/>
                <a:gd name="T10" fmla="*/ 0 w 23"/>
                <a:gd name="T11" fmla="*/ 62 h 63"/>
                <a:gd name="T12" fmla="*/ 5 w 23"/>
                <a:gd name="T13" fmla="*/ 0 h 63"/>
                <a:gd name="T14" fmla="*/ 13 w 23"/>
                <a:gd name="T15" fmla="*/ 1 h 63"/>
                <a:gd name="T16" fmla="*/ 23 w 23"/>
                <a:gd name="T17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3">
                  <a:moveTo>
                    <a:pt x="23" y="26"/>
                  </a:moveTo>
                  <a:cubicBezTo>
                    <a:pt x="23" y="29"/>
                    <a:pt x="22" y="31"/>
                    <a:pt x="21" y="34"/>
                  </a:cubicBezTo>
                  <a:cubicBezTo>
                    <a:pt x="21" y="35"/>
                    <a:pt x="20" y="50"/>
                    <a:pt x="19" y="54"/>
                  </a:cubicBezTo>
                  <a:cubicBezTo>
                    <a:pt x="19" y="56"/>
                    <a:pt x="17" y="61"/>
                    <a:pt x="13" y="62"/>
                  </a:cubicBezTo>
                  <a:cubicBezTo>
                    <a:pt x="12" y="63"/>
                    <a:pt x="11" y="63"/>
                    <a:pt x="10" y="63"/>
                  </a:cubicBezTo>
                  <a:cubicBezTo>
                    <a:pt x="3" y="62"/>
                    <a:pt x="0" y="62"/>
                    <a:pt x="0" y="62"/>
                  </a:cubicBezTo>
                  <a:cubicBezTo>
                    <a:pt x="0" y="62"/>
                    <a:pt x="8" y="22"/>
                    <a:pt x="5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7" y="19"/>
                    <a:pt x="23" y="26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AB6BA632-1A2A-7C14-2AA0-922CA190B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4010025"/>
              <a:ext cx="74613" cy="142875"/>
            </a:xfrm>
            <a:custGeom>
              <a:avLst/>
              <a:gdLst>
                <a:gd name="T0" fmla="*/ 13 w 13"/>
                <a:gd name="T1" fmla="*/ 24 h 25"/>
                <a:gd name="T2" fmla="*/ 10 w 13"/>
                <a:gd name="T3" fmla="*/ 25 h 25"/>
                <a:gd name="T4" fmla="*/ 0 w 13"/>
                <a:gd name="T5" fmla="*/ 24 h 25"/>
                <a:gd name="T6" fmla="*/ 4 w 13"/>
                <a:gd name="T7" fmla="*/ 0 h 25"/>
                <a:gd name="T8" fmla="*/ 13 w 13"/>
                <a:gd name="T9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5">
                  <a:moveTo>
                    <a:pt x="13" y="24"/>
                  </a:moveTo>
                  <a:cubicBezTo>
                    <a:pt x="12" y="25"/>
                    <a:pt x="11" y="25"/>
                    <a:pt x="10" y="25"/>
                  </a:cubicBezTo>
                  <a:cubicBezTo>
                    <a:pt x="3" y="24"/>
                    <a:pt x="0" y="24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9"/>
                    <a:pt x="9" y="18"/>
                    <a:pt x="13" y="24"/>
                  </a:cubicBezTo>
                  <a:close/>
                </a:path>
              </a:pathLst>
            </a:custGeom>
            <a:gradFill>
              <a:gsLst>
                <a:gs pos="0">
                  <a:srgbClr val="4BC3E2">
                    <a:alpha val="63000"/>
                  </a:srgbClr>
                </a:gs>
                <a:gs pos="51000">
                  <a:srgbClr val="4BC3E2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8186FF8F-89C3-0ABA-A697-CBC68DF5FA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2350" y="3162300"/>
              <a:ext cx="1503363" cy="2624138"/>
            </a:xfrm>
            <a:custGeom>
              <a:avLst/>
              <a:gdLst>
                <a:gd name="T0" fmla="*/ 258 w 262"/>
                <a:gd name="T1" fmla="*/ 413 h 458"/>
                <a:gd name="T2" fmla="*/ 208 w 262"/>
                <a:gd name="T3" fmla="*/ 314 h 458"/>
                <a:gd name="T4" fmla="*/ 214 w 262"/>
                <a:gd name="T5" fmla="*/ 201 h 458"/>
                <a:gd name="T6" fmla="*/ 225 w 262"/>
                <a:gd name="T7" fmla="*/ 192 h 458"/>
                <a:gd name="T8" fmla="*/ 217 w 262"/>
                <a:gd name="T9" fmla="*/ 182 h 458"/>
                <a:gd name="T10" fmla="*/ 216 w 262"/>
                <a:gd name="T11" fmla="*/ 182 h 458"/>
                <a:gd name="T12" fmla="*/ 216 w 262"/>
                <a:gd name="T13" fmla="*/ 182 h 458"/>
                <a:gd name="T14" fmla="*/ 215 w 262"/>
                <a:gd name="T15" fmla="*/ 182 h 458"/>
                <a:gd name="T16" fmla="*/ 215 w 262"/>
                <a:gd name="T17" fmla="*/ 182 h 458"/>
                <a:gd name="T18" fmla="*/ 213 w 262"/>
                <a:gd name="T19" fmla="*/ 151 h 458"/>
                <a:gd name="T20" fmla="*/ 217 w 262"/>
                <a:gd name="T21" fmla="*/ 90 h 458"/>
                <a:gd name="T22" fmla="*/ 222 w 262"/>
                <a:gd name="T23" fmla="*/ 56 h 458"/>
                <a:gd name="T24" fmla="*/ 202 w 262"/>
                <a:gd name="T25" fmla="*/ 1 h 458"/>
                <a:gd name="T26" fmla="*/ 179 w 262"/>
                <a:gd name="T27" fmla="*/ 12 h 458"/>
                <a:gd name="T28" fmla="*/ 145 w 262"/>
                <a:gd name="T29" fmla="*/ 66 h 458"/>
                <a:gd name="T30" fmla="*/ 154 w 262"/>
                <a:gd name="T31" fmla="*/ 93 h 458"/>
                <a:gd name="T32" fmla="*/ 164 w 262"/>
                <a:gd name="T33" fmla="*/ 119 h 458"/>
                <a:gd name="T34" fmla="*/ 171 w 262"/>
                <a:gd name="T35" fmla="*/ 151 h 458"/>
                <a:gd name="T36" fmla="*/ 170 w 262"/>
                <a:gd name="T37" fmla="*/ 180 h 458"/>
                <a:gd name="T38" fmla="*/ 149 w 262"/>
                <a:gd name="T39" fmla="*/ 196 h 458"/>
                <a:gd name="T40" fmla="*/ 94 w 262"/>
                <a:gd name="T41" fmla="*/ 213 h 458"/>
                <a:gd name="T42" fmla="*/ 94 w 262"/>
                <a:gd name="T43" fmla="*/ 213 h 458"/>
                <a:gd name="T44" fmla="*/ 38 w 262"/>
                <a:gd name="T45" fmla="*/ 292 h 458"/>
                <a:gd name="T46" fmla="*/ 23 w 262"/>
                <a:gd name="T47" fmla="*/ 408 h 458"/>
                <a:gd name="T48" fmla="*/ 104 w 262"/>
                <a:gd name="T49" fmla="*/ 409 h 458"/>
                <a:gd name="T50" fmla="*/ 104 w 262"/>
                <a:gd name="T51" fmla="*/ 413 h 458"/>
                <a:gd name="T52" fmla="*/ 109 w 262"/>
                <a:gd name="T53" fmla="*/ 458 h 458"/>
                <a:gd name="T54" fmla="*/ 260 w 262"/>
                <a:gd name="T55" fmla="*/ 458 h 458"/>
                <a:gd name="T56" fmla="*/ 258 w 262"/>
                <a:gd name="T57" fmla="*/ 413 h 458"/>
                <a:gd name="T58" fmla="*/ 76 w 262"/>
                <a:gd name="T59" fmla="*/ 350 h 458"/>
                <a:gd name="T60" fmla="*/ 95 w 262"/>
                <a:gd name="T61" fmla="*/ 329 h 458"/>
                <a:gd name="T62" fmla="*/ 97 w 262"/>
                <a:gd name="T63" fmla="*/ 350 h 458"/>
                <a:gd name="T64" fmla="*/ 76 w 262"/>
                <a:gd name="T65" fmla="*/ 35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458">
                  <a:moveTo>
                    <a:pt x="258" y="413"/>
                  </a:moveTo>
                  <a:cubicBezTo>
                    <a:pt x="250" y="382"/>
                    <a:pt x="229" y="355"/>
                    <a:pt x="208" y="314"/>
                  </a:cubicBezTo>
                  <a:cubicBezTo>
                    <a:pt x="177" y="255"/>
                    <a:pt x="214" y="201"/>
                    <a:pt x="214" y="201"/>
                  </a:cubicBezTo>
                  <a:cubicBezTo>
                    <a:pt x="214" y="201"/>
                    <a:pt x="223" y="201"/>
                    <a:pt x="225" y="192"/>
                  </a:cubicBezTo>
                  <a:cubicBezTo>
                    <a:pt x="226" y="185"/>
                    <a:pt x="220" y="183"/>
                    <a:pt x="217" y="182"/>
                  </a:cubicBezTo>
                  <a:cubicBezTo>
                    <a:pt x="217" y="182"/>
                    <a:pt x="216" y="182"/>
                    <a:pt x="216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6" y="182"/>
                    <a:pt x="215" y="182"/>
                    <a:pt x="215" y="182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14" y="177"/>
                    <a:pt x="213" y="166"/>
                    <a:pt x="213" y="151"/>
                  </a:cubicBezTo>
                  <a:cubicBezTo>
                    <a:pt x="214" y="133"/>
                    <a:pt x="215" y="111"/>
                    <a:pt x="217" y="90"/>
                  </a:cubicBezTo>
                  <a:cubicBezTo>
                    <a:pt x="219" y="78"/>
                    <a:pt x="220" y="66"/>
                    <a:pt x="222" y="56"/>
                  </a:cubicBezTo>
                  <a:cubicBezTo>
                    <a:pt x="229" y="19"/>
                    <a:pt x="202" y="1"/>
                    <a:pt x="202" y="1"/>
                  </a:cubicBezTo>
                  <a:cubicBezTo>
                    <a:pt x="194" y="0"/>
                    <a:pt x="179" y="12"/>
                    <a:pt x="179" y="12"/>
                  </a:cubicBezTo>
                  <a:cubicBezTo>
                    <a:pt x="149" y="27"/>
                    <a:pt x="145" y="65"/>
                    <a:pt x="145" y="66"/>
                  </a:cubicBezTo>
                  <a:cubicBezTo>
                    <a:pt x="145" y="67"/>
                    <a:pt x="149" y="78"/>
                    <a:pt x="154" y="93"/>
                  </a:cubicBezTo>
                  <a:cubicBezTo>
                    <a:pt x="157" y="101"/>
                    <a:pt x="160" y="110"/>
                    <a:pt x="164" y="119"/>
                  </a:cubicBezTo>
                  <a:cubicBezTo>
                    <a:pt x="168" y="129"/>
                    <a:pt x="170" y="141"/>
                    <a:pt x="171" y="151"/>
                  </a:cubicBezTo>
                  <a:cubicBezTo>
                    <a:pt x="172" y="167"/>
                    <a:pt x="170" y="180"/>
                    <a:pt x="170" y="180"/>
                  </a:cubicBezTo>
                  <a:cubicBezTo>
                    <a:pt x="154" y="181"/>
                    <a:pt x="149" y="196"/>
                    <a:pt x="149" y="196"/>
                  </a:cubicBezTo>
                  <a:cubicBezTo>
                    <a:pt x="149" y="196"/>
                    <a:pt x="103" y="205"/>
                    <a:pt x="94" y="213"/>
                  </a:cubicBezTo>
                  <a:cubicBezTo>
                    <a:pt x="94" y="213"/>
                    <a:pt x="94" y="213"/>
                    <a:pt x="94" y="213"/>
                  </a:cubicBezTo>
                  <a:cubicBezTo>
                    <a:pt x="80" y="219"/>
                    <a:pt x="59" y="238"/>
                    <a:pt x="38" y="292"/>
                  </a:cubicBezTo>
                  <a:cubicBezTo>
                    <a:pt x="5" y="376"/>
                    <a:pt x="0" y="402"/>
                    <a:pt x="23" y="408"/>
                  </a:cubicBezTo>
                  <a:cubicBezTo>
                    <a:pt x="32" y="410"/>
                    <a:pt x="66" y="410"/>
                    <a:pt x="104" y="409"/>
                  </a:cubicBezTo>
                  <a:cubicBezTo>
                    <a:pt x="104" y="410"/>
                    <a:pt x="104" y="411"/>
                    <a:pt x="104" y="413"/>
                  </a:cubicBezTo>
                  <a:cubicBezTo>
                    <a:pt x="107" y="435"/>
                    <a:pt x="109" y="452"/>
                    <a:pt x="109" y="458"/>
                  </a:cubicBezTo>
                  <a:cubicBezTo>
                    <a:pt x="260" y="458"/>
                    <a:pt x="260" y="458"/>
                    <a:pt x="260" y="458"/>
                  </a:cubicBezTo>
                  <a:cubicBezTo>
                    <a:pt x="262" y="441"/>
                    <a:pt x="261" y="426"/>
                    <a:pt x="258" y="413"/>
                  </a:cubicBezTo>
                  <a:close/>
                  <a:moveTo>
                    <a:pt x="76" y="350"/>
                  </a:moveTo>
                  <a:cubicBezTo>
                    <a:pt x="76" y="350"/>
                    <a:pt x="85" y="341"/>
                    <a:pt x="95" y="329"/>
                  </a:cubicBezTo>
                  <a:cubicBezTo>
                    <a:pt x="96" y="336"/>
                    <a:pt x="97" y="343"/>
                    <a:pt x="97" y="350"/>
                  </a:cubicBezTo>
                  <a:cubicBezTo>
                    <a:pt x="85" y="350"/>
                    <a:pt x="76" y="350"/>
                    <a:pt x="76" y="35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346C19FC-D538-9606-147D-EC9F98751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713" y="5167313"/>
              <a:ext cx="236538" cy="338138"/>
            </a:xfrm>
            <a:custGeom>
              <a:avLst/>
              <a:gdLst>
                <a:gd name="T0" fmla="*/ 13 w 41"/>
                <a:gd name="T1" fmla="*/ 0 h 59"/>
                <a:gd name="T2" fmla="*/ 41 w 41"/>
                <a:gd name="T3" fmla="*/ 59 h 59"/>
                <a:gd name="T4" fmla="*/ 34 w 41"/>
                <a:gd name="T5" fmla="*/ 0 h 59"/>
                <a:gd name="T6" fmla="*/ 13 w 4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59">
                  <a:moveTo>
                    <a:pt x="13" y="0"/>
                  </a:moveTo>
                  <a:cubicBezTo>
                    <a:pt x="13" y="0"/>
                    <a:pt x="0" y="45"/>
                    <a:pt x="41" y="59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29CF3">
                <a:alpha val="26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61A48F31-02C2-CFBD-346E-7EC69699D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3625850"/>
              <a:ext cx="333375" cy="217488"/>
            </a:xfrm>
            <a:custGeom>
              <a:avLst/>
              <a:gdLst>
                <a:gd name="T0" fmla="*/ 57 w 58"/>
                <a:gd name="T1" fmla="*/ 4 h 38"/>
                <a:gd name="T2" fmla="*/ 57 w 58"/>
                <a:gd name="T3" fmla="*/ 8 h 38"/>
                <a:gd name="T4" fmla="*/ 53 w 58"/>
                <a:gd name="T5" fmla="*/ 18 h 38"/>
                <a:gd name="T6" fmla="*/ 47 w 58"/>
                <a:gd name="T7" fmla="*/ 24 h 38"/>
                <a:gd name="T8" fmla="*/ 46 w 58"/>
                <a:gd name="T9" fmla="*/ 22 h 38"/>
                <a:gd name="T10" fmla="*/ 47 w 58"/>
                <a:gd name="T11" fmla="*/ 21 h 38"/>
                <a:gd name="T12" fmla="*/ 53 w 58"/>
                <a:gd name="T13" fmla="*/ 8 h 38"/>
                <a:gd name="T14" fmla="*/ 46 w 58"/>
                <a:gd name="T15" fmla="*/ 11 h 38"/>
                <a:gd name="T16" fmla="*/ 17 w 58"/>
                <a:gd name="T17" fmla="*/ 23 h 38"/>
                <a:gd name="T18" fmla="*/ 5 w 58"/>
                <a:gd name="T19" fmla="*/ 37 h 38"/>
                <a:gd name="T20" fmla="*/ 0 w 58"/>
                <a:gd name="T21" fmla="*/ 35 h 38"/>
                <a:gd name="T22" fmla="*/ 15 w 58"/>
                <a:gd name="T23" fmla="*/ 20 h 38"/>
                <a:gd name="T24" fmla="*/ 46 w 58"/>
                <a:gd name="T25" fmla="*/ 7 h 38"/>
                <a:gd name="T26" fmla="*/ 52 w 58"/>
                <a:gd name="T27" fmla="*/ 4 h 38"/>
                <a:gd name="T28" fmla="*/ 46 w 58"/>
                <a:gd name="T29" fmla="*/ 2 h 38"/>
                <a:gd name="T30" fmla="*/ 46 w 58"/>
                <a:gd name="T31" fmla="*/ 0 h 38"/>
                <a:gd name="T32" fmla="*/ 53 w 58"/>
                <a:gd name="T33" fmla="*/ 1 h 38"/>
                <a:gd name="T34" fmla="*/ 57 w 58"/>
                <a:gd name="T3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" h="38">
                  <a:moveTo>
                    <a:pt x="57" y="4"/>
                  </a:move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12"/>
                    <a:pt x="53" y="18"/>
                  </a:cubicBezTo>
                  <a:cubicBezTo>
                    <a:pt x="51" y="23"/>
                    <a:pt x="48" y="24"/>
                    <a:pt x="47" y="24"/>
                  </a:cubicBezTo>
                  <a:cubicBezTo>
                    <a:pt x="46" y="23"/>
                    <a:pt x="46" y="22"/>
                    <a:pt x="46" y="22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4" y="20"/>
                    <a:pt x="53" y="8"/>
                    <a:pt x="53" y="8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7" y="35"/>
                    <a:pt x="5" y="37"/>
                  </a:cubicBezTo>
                  <a:cubicBezTo>
                    <a:pt x="3" y="38"/>
                    <a:pt x="0" y="38"/>
                    <a:pt x="0" y="35"/>
                  </a:cubicBezTo>
                  <a:cubicBezTo>
                    <a:pt x="0" y="33"/>
                    <a:pt x="15" y="20"/>
                    <a:pt x="15" y="2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1"/>
                    <a:pt x="46" y="0"/>
                  </a:cubicBezTo>
                  <a:cubicBezTo>
                    <a:pt x="48" y="0"/>
                    <a:pt x="50" y="1"/>
                    <a:pt x="53" y="1"/>
                  </a:cubicBezTo>
                  <a:cubicBezTo>
                    <a:pt x="58" y="2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9" name="Freeform: Shape 24">
              <a:extLst>
                <a:ext uri="{FF2B5EF4-FFF2-40B4-BE49-F238E27FC236}">
                  <a16:creationId xmlns:a16="http://schemas.microsoft.com/office/drawing/2014/main" id="{FD236477-237A-B6F3-EB8A-D332441328EF}"/>
                </a:ext>
              </a:extLst>
            </p:cNvPr>
            <p:cNvSpPr/>
            <p:nvPr/>
          </p:nvSpPr>
          <p:spPr>
            <a:xfrm>
              <a:off x="6538394" y="3930239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30" name="Freeform: Shape 149">
              <a:extLst>
                <a:ext uri="{FF2B5EF4-FFF2-40B4-BE49-F238E27FC236}">
                  <a16:creationId xmlns:a16="http://schemas.microsoft.com/office/drawing/2014/main" id="{A7F18622-3B8A-2D22-FE7C-AFD72CFE319B}"/>
                </a:ext>
              </a:extLst>
            </p:cNvPr>
            <p:cNvSpPr/>
            <p:nvPr/>
          </p:nvSpPr>
          <p:spPr>
            <a:xfrm>
              <a:off x="6586362" y="3924595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31" name="Freeform: Shape 25">
              <a:extLst>
                <a:ext uri="{FF2B5EF4-FFF2-40B4-BE49-F238E27FC236}">
                  <a16:creationId xmlns:a16="http://schemas.microsoft.com/office/drawing/2014/main" id="{14307066-E668-FF13-CB2F-8B795DB2799B}"/>
                </a:ext>
              </a:extLst>
            </p:cNvPr>
            <p:cNvSpPr/>
            <p:nvPr/>
          </p:nvSpPr>
          <p:spPr>
            <a:xfrm>
              <a:off x="5832786" y="4279895"/>
              <a:ext cx="465015" cy="55559"/>
            </a:xfrm>
            <a:custGeom>
              <a:avLst/>
              <a:gdLst>
                <a:gd name="connsiteX0" fmla="*/ 456889 w 465015"/>
                <a:gd name="connsiteY0" fmla="*/ 50805 h 55559"/>
                <a:gd name="connsiteX1" fmla="*/ 2864 w 465015"/>
                <a:gd name="connsiteY1" fmla="*/ 5 h 55559"/>
                <a:gd name="connsiteX2" fmla="*/ 272739 w 465015"/>
                <a:gd name="connsiteY2" fmla="*/ 47630 h 55559"/>
                <a:gd name="connsiteX3" fmla="*/ 456889 w 465015"/>
                <a:gd name="connsiteY3" fmla="*/ 50805 h 5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015" h="55559">
                  <a:moveTo>
                    <a:pt x="456889" y="50805"/>
                  </a:moveTo>
                  <a:cubicBezTo>
                    <a:pt x="411910" y="42867"/>
                    <a:pt x="33556" y="534"/>
                    <a:pt x="2864" y="5"/>
                  </a:cubicBezTo>
                  <a:cubicBezTo>
                    <a:pt x="-27828" y="-524"/>
                    <a:pt x="196539" y="39163"/>
                    <a:pt x="272739" y="47630"/>
                  </a:cubicBezTo>
                  <a:cubicBezTo>
                    <a:pt x="348939" y="56097"/>
                    <a:pt x="501868" y="58743"/>
                    <a:pt x="456889" y="508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DDBBE7B-EBDE-0008-C04E-1F33A3E8890C}"/>
              </a:ext>
            </a:extLst>
          </p:cNvPr>
          <p:cNvSpPr/>
          <p:nvPr/>
        </p:nvSpPr>
        <p:spPr>
          <a:xfrm>
            <a:off x="714025" y="637586"/>
            <a:ext cx="8773001" cy="671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251"/>
              </a:lnSpc>
            </a:pPr>
            <a:r>
              <a:rPr lang="es-VE" sz="4200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Planteamiento Del Problema</a:t>
            </a:r>
            <a:endParaRPr lang="es-VE" sz="4200" b="1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BE692E-2EF3-8684-4D34-7F020E44F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651" y="1473744"/>
            <a:ext cx="10079097" cy="64662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0101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025" y="637586"/>
            <a:ext cx="8773001" cy="671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251"/>
              </a:lnSpc>
            </a:pPr>
            <a:r>
              <a:rPr lang="es-VE" sz="4200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Objetivos Y Delimitación Del Proyecto</a:t>
            </a:r>
            <a:endParaRPr lang="es-VE" sz="4200" b="1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21" y="1716525"/>
            <a:ext cx="4196715" cy="259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19" y="4565099"/>
            <a:ext cx="2684264" cy="33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s-VE" sz="24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Objetivo General</a:t>
            </a:r>
            <a:endParaRPr lang="es-VE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4021" y="5023015"/>
            <a:ext cx="4196715" cy="97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1"/>
              </a:lnSpc>
            </a:pPr>
            <a:r>
              <a:rPr lang="es-VE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Implementar un sistema automatizado para el registro y control estadístico hospitalario.</a:t>
            </a:r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725" y="1716530"/>
            <a:ext cx="4196835" cy="25937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6723" y="4565219"/>
            <a:ext cx="2684264" cy="33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s-VE" sz="24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Objetivos Específicos</a:t>
            </a:r>
            <a:endParaRPr lang="es-VE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16725" y="5023134"/>
            <a:ext cx="4196835" cy="65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74" indent="-342874">
              <a:lnSpc>
                <a:spcPts val="2551"/>
              </a:lnSpc>
              <a:buSzPct val="100000"/>
              <a:buChar char="•"/>
            </a:pPr>
            <a:r>
              <a:rPr lang="es-VE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Diagnosticar necesidades y procesos actuales.</a:t>
            </a:r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16725" y="5746915"/>
            <a:ext cx="4196835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74" indent="-342874">
              <a:lnSpc>
                <a:spcPts val="2551"/>
              </a:lnSpc>
              <a:buSzPct val="100000"/>
              <a:buChar char="•"/>
            </a:pPr>
            <a:r>
              <a:rPr lang="es-VE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Analizar datos y corregir errores.</a:t>
            </a:r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216725" y="6144465"/>
            <a:ext cx="4196835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74" indent="-342874">
              <a:lnSpc>
                <a:spcPts val="2551"/>
              </a:lnSpc>
              <a:buSzPct val="100000"/>
              <a:buChar char="•"/>
            </a:pPr>
            <a:r>
              <a:rPr lang="es-VE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Diseñar sistema intuitivo y eficiente.</a:t>
            </a:r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216725" y="6542015"/>
            <a:ext cx="4196835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874" indent="-342874">
              <a:lnSpc>
                <a:spcPts val="2551"/>
              </a:lnSpc>
              <a:buSzPct val="100000"/>
              <a:buChar char="•"/>
            </a:pPr>
            <a:r>
              <a:rPr lang="es-VE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Capacitar usuarios y personal.</a:t>
            </a:r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216725" y="6939563"/>
            <a:ext cx="4196835" cy="65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74" indent="-342874">
              <a:lnSpc>
                <a:spcPts val="2551"/>
              </a:lnSpc>
              <a:buSzPct val="100000"/>
              <a:buChar char="•"/>
            </a:pPr>
            <a:r>
              <a:rPr lang="es-VE" noProof="0" dirty="0">
                <a:latin typeface="Arial" panose="020B0604020202020204" pitchFamily="34" charset="0"/>
                <a:cs typeface="Arial" panose="020B0604020202020204" pitchFamily="34" charset="0"/>
              </a:rPr>
              <a:t>Implementar medidas contra dificultades técnicas en el sistema para los usuarios</a:t>
            </a:r>
            <a:r>
              <a:rPr lang="es-VE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.</a:t>
            </a:r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9549" y="1716525"/>
            <a:ext cx="4196715" cy="25936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19548" y="4565099"/>
            <a:ext cx="2684264" cy="33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s-VE" sz="24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Delimitación</a:t>
            </a:r>
            <a:endParaRPr lang="es-VE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9719549" y="5023015"/>
            <a:ext cx="4196715" cy="65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1"/>
              </a:lnSpc>
            </a:pPr>
            <a:r>
              <a:rPr lang="es-VE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Enfocado en departamento estadístico, usando PHP, JavaScript y SQLite.</a:t>
            </a:r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9719549" y="5797874"/>
            <a:ext cx="4196715" cy="65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1"/>
              </a:lnSpc>
            </a:pPr>
            <a:r>
              <a:rPr lang="es-VE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Duración: un año, sin integración externa.</a:t>
            </a:r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16" y="1701647"/>
            <a:ext cx="619041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s-VE" sz="4451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Justificación Y Alcances</a:t>
            </a:r>
            <a:endParaRPr lang="es-VE" sz="4451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44715" y="2739275"/>
            <a:ext cx="3705463" cy="1959412"/>
          </a:xfrm>
          <a:prstGeom prst="roundRect">
            <a:avLst>
              <a:gd name="adj" fmla="val 9952"/>
            </a:avLst>
          </a:prstGeom>
          <a:solidFill>
            <a:schemeClr val="bg1">
              <a:lumMod val="95000"/>
            </a:schemeClr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61290" y="295584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2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Justificación</a:t>
            </a:r>
            <a:endParaRPr lang="es-VE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61285" y="3441977"/>
            <a:ext cx="3272315" cy="1040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Optimiza acceso, reduce errores y mejora eficiencia operativa.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166754" y="2739275"/>
            <a:ext cx="3705463" cy="1959412"/>
          </a:xfrm>
          <a:prstGeom prst="roundRect">
            <a:avLst>
              <a:gd name="adj" fmla="val 9952"/>
            </a:avLst>
          </a:prstGeom>
          <a:solidFill>
            <a:schemeClr val="bg1">
              <a:lumMod val="95000"/>
            </a:schemeClr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383329" y="295584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2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Alcances</a:t>
            </a:r>
            <a:endParaRPr lang="es-VE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83321" y="3441977"/>
            <a:ext cx="3272315" cy="1040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Control y análisis de datos estadísticos, ahorro de papelería y tiempo.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44715" y="4915263"/>
            <a:ext cx="7627383" cy="1612703"/>
          </a:xfrm>
          <a:prstGeom prst="roundRect">
            <a:avLst>
              <a:gd name="adj" fmla="val 12091"/>
            </a:avLst>
          </a:prstGeom>
          <a:solidFill>
            <a:schemeClr val="bg1">
              <a:lumMod val="95000"/>
            </a:schemeClr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61290" y="51318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2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Beneficios</a:t>
            </a:r>
            <a:endParaRPr lang="es-VE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61290" y="5617970"/>
            <a:ext cx="719423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Reportes detallados y gestión optimizada de información hospitalaria.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15" y="2000809"/>
            <a:ext cx="7814185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600"/>
              </a:lnSpc>
            </a:pPr>
            <a:r>
              <a:rPr lang="es-VE" sz="4451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Antecedentes De La Investigación</a:t>
            </a:r>
            <a:endParaRPr lang="es-VE" sz="4451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6666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44715" y="3392724"/>
            <a:ext cx="1083231" cy="16127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8" y="36092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endParaRPr lang="es-VE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652867" y="4095428"/>
            <a:ext cx="621923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Sistema automatizado  hospitalario con PHP, </a:t>
            </a:r>
            <a:r>
              <a:rPr lang="es-VE" sz="1700" noProof="0" dirty="0" err="1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javaScrpit</a:t>
            </a: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y metodologías RUP y EML.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6666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44715" y="5005424"/>
            <a:ext cx="1083231" cy="16127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8" y="52219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noProof="0" dirty="0"/>
              <a:t> </a:t>
            </a:r>
            <a:r>
              <a:rPr lang="es-VE" sz="2200" b="1" noProof="0" dirty="0">
                <a:latin typeface="Arial" panose="020B0604020202020204" pitchFamily="34" charset="0"/>
                <a:cs typeface="Arial" panose="020B0604020202020204" pitchFamily="34" charset="0"/>
              </a:rPr>
              <a:t>Caso Hospital Dr. José María Vargas</a:t>
            </a:r>
          </a:p>
        </p:txBody>
      </p:sp>
      <p:sp>
        <p:nvSpPr>
          <p:cNvPr id="9" name="Text 4"/>
          <p:cNvSpPr/>
          <p:nvPr/>
        </p:nvSpPr>
        <p:spPr>
          <a:xfrm>
            <a:off x="7652867" y="5708132"/>
            <a:ext cx="621923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Aplicación web para gestión estadística de hospitales con enfoque en visualización.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6666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44715" y="6618127"/>
            <a:ext cx="1083231" cy="161270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7" y="6559937"/>
            <a:ext cx="8131963" cy="2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200" b="1" noProof="0" dirty="0">
                <a:latin typeface="Arial" panose="020B0604020202020204" pitchFamily="34" charset="0"/>
                <a:cs typeface="Arial" panose="020B0604020202020204" pitchFamily="34" charset="0"/>
              </a:rPr>
              <a:t>Sistema integrado de gestión estadística</a:t>
            </a:r>
          </a:p>
          <a:p>
            <a:pPr>
              <a:lnSpc>
                <a:spcPts val="2800"/>
              </a:lnSpc>
            </a:pPr>
            <a:r>
              <a:rPr lang="es-VE" sz="2200" b="1" noProof="0" dirty="0">
                <a:latin typeface="Arial" panose="020B0604020202020204" pitchFamily="34" charset="0"/>
                <a:cs typeface="Arial" panose="020B0604020202020204" pitchFamily="34" charset="0"/>
              </a:rPr>
              <a:t> para hospitales venezolanos</a:t>
            </a:r>
          </a:p>
        </p:txBody>
      </p:sp>
      <p:sp>
        <p:nvSpPr>
          <p:cNvPr id="12" name="Text 6"/>
          <p:cNvSpPr/>
          <p:nvPr/>
        </p:nvSpPr>
        <p:spPr>
          <a:xfrm>
            <a:off x="7652867" y="7320832"/>
            <a:ext cx="621923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Sistema web multicapa </a:t>
            </a:r>
            <a:r>
              <a:rPr lang="es-VE" sz="1700" noProof="0" dirty="0" err="1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departamentario</a:t>
            </a: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de hospitales, para registro y control estadístico.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B8CFD4F8-311E-9A22-6A75-20E4F8C03AA3}"/>
              </a:ext>
            </a:extLst>
          </p:cNvPr>
          <p:cNvSpPr/>
          <p:nvPr/>
        </p:nvSpPr>
        <p:spPr>
          <a:xfrm>
            <a:off x="6409379" y="969403"/>
            <a:ext cx="1080230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s-VE" sz="8800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CAPITULO II</a:t>
            </a:r>
            <a:endParaRPr lang="es-VE" sz="8800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3DB81D2-ABD1-BB77-E06D-1C52DD78DEF8}"/>
              </a:ext>
            </a:extLst>
          </p:cNvPr>
          <p:cNvSpPr txBox="1"/>
          <p:nvPr/>
        </p:nvSpPr>
        <p:spPr>
          <a:xfrm>
            <a:off x="7494758" y="3553349"/>
            <a:ext cx="17406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2200" b="1" noProof="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VE" sz="2200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HES</a:t>
            </a:r>
            <a:r>
              <a:rPr lang="es-VE" sz="2200" b="1" noProof="0" dirty="0">
                <a:latin typeface="Arial" panose="020B0604020202020204" pitchFamily="34" charset="0"/>
                <a:cs typeface="Arial" panose="020B0604020202020204" pitchFamily="34" charset="0"/>
              </a:rPr>
              <a:t>-Web)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575791"/>
            <a:ext cx="425915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s-VE" sz="4451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Bases Teóricas</a:t>
            </a:r>
            <a:endParaRPr lang="es-VE" sz="4451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58773" y="2782613"/>
            <a:ext cx="313658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800"/>
              </a:lnSpc>
            </a:pPr>
            <a:r>
              <a:rPr lang="es-VE" sz="22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Sistemas de Información</a:t>
            </a:r>
            <a:endParaRPr lang="es-VE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3268741"/>
            <a:ext cx="3937040" cy="1040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Captura, procesamiento y distribución para toma de decisiones.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6666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0275" y="2392923"/>
            <a:ext cx="4589740" cy="45897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7121" y="3349289"/>
            <a:ext cx="324088" cy="40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51"/>
              </a:lnSpc>
            </a:pPr>
            <a:r>
              <a:rPr lang="es-VE" sz="2551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1</a:t>
            </a:r>
            <a:endParaRPr lang="es-VE" sz="255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34938" y="295596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2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Interfaz de Usuario</a:t>
            </a:r>
            <a:endParaRPr lang="es-VE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4939" y="3442103"/>
            <a:ext cx="39371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Comunicación intuitiva y eficiente entre usuario y sistema.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6666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0275" y="2392923"/>
            <a:ext cx="4589740" cy="45897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88835" y="3349289"/>
            <a:ext cx="324088" cy="40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51"/>
              </a:lnSpc>
            </a:pPr>
            <a:r>
              <a:rPr lang="es-VE" sz="2551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2</a:t>
            </a:r>
            <a:endParaRPr lang="es-VE" sz="255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934938" y="54132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2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Seguridad</a:t>
            </a:r>
            <a:endParaRPr lang="es-VE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934939" y="5899434"/>
            <a:ext cx="39371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Protección y confidencialidad de datos hospitalarios.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6666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0275" y="2392923"/>
            <a:ext cx="4589740" cy="45897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88835" y="5621001"/>
            <a:ext cx="324088" cy="40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51"/>
              </a:lnSpc>
            </a:pPr>
            <a:r>
              <a:rPr lang="es-VE" sz="2551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3</a:t>
            </a:r>
            <a:endParaRPr lang="es-VE" sz="255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844642" y="54132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800"/>
              </a:lnSpc>
            </a:pPr>
            <a:r>
              <a:rPr lang="es-VE" sz="22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Registro</a:t>
            </a:r>
            <a:endParaRPr lang="es-VE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58309" y="5899434"/>
            <a:ext cx="393704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Almacenamiento estructurado para consulta y trazabilidad.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6666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17466" y="2392923"/>
            <a:ext cx="4589740" cy="45897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17121" y="5621001"/>
            <a:ext cx="324088" cy="40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51"/>
              </a:lnSpc>
            </a:pPr>
            <a:r>
              <a:rPr lang="es-VE" sz="2551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4</a:t>
            </a:r>
            <a:endParaRPr lang="es-VE" sz="255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16" y="718781"/>
            <a:ext cx="5573904" cy="744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600"/>
              </a:lnSpc>
            </a:pPr>
            <a:r>
              <a:rPr lang="es-VE" sz="4451" b="1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Bases Tecnológicas</a:t>
            </a:r>
            <a:endParaRPr lang="es-VE" sz="4451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15" y="2741191"/>
            <a:ext cx="464693" cy="4646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50890" y="2792017"/>
            <a:ext cx="173319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2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PHP</a:t>
            </a:r>
            <a:endParaRPr lang="es-VE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350890" y="3278148"/>
            <a:ext cx="1733193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Lenguaje versátil para desarrollo web dinámico.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541" y="2849888"/>
            <a:ext cx="376119" cy="3761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52236" y="2812022"/>
            <a:ext cx="173319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2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TypeScript</a:t>
            </a:r>
            <a:endParaRPr lang="es-VE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5452236" y="3298153"/>
            <a:ext cx="1733193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Mejora robustez y estabilidad del código.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9661" y="5352821"/>
            <a:ext cx="375999" cy="3759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2236" y="5314953"/>
            <a:ext cx="173319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2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SQLite</a:t>
            </a:r>
            <a:endParaRPr lang="es-VE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5452236" y="5801084"/>
            <a:ext cx="1733193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Base de datos embebida, eficiente y portable.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15" y="5352819"/>
            <a:ext cx="375999" cy="37599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50890" y="5314953"/>
            <a:ext cx="173319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22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Git &amp; GitHub</a:t>
            </a:r>
            <a:endParaRPr lang="es-VE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350890" y="5801083"/>
            <a:ext cx="1733193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s-VE" sz="1700" noProof="0" dirty="0">
                <a:solidFill>
                  <a:srgbClr val="272525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Control de versiones y colaboración en desarrollo.</a:t>
            </a:r>
            <a:endParaRPr lang="es-VE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0176DCF1-65F0-EE37-DC17-257D528A4FB2}"/>
              </a:ext>
            </a:extLst>
          </p:cNvPr>
          <p:cNvCxnSpPr/>
          <p:nvPr/>
        </p:nvCxnSpPr>
        <p:spPr>
          <a:xfrm>
            <a:off x="8755380" y="0"/>
            <a:ext cx="0" cy="822960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1FBE120-693C-0BD1-15E6-6F8ACF0A4A1F}"/>
              </a:ext>
            </a:extLst>
          </p:cNvPr>
          <p:cNvSpPr/>
          <p:nvPr/>
        </p:nvSpPr>
        <p:spPr>
          <a:xfrm>
            <a:off x="9395460" y="1291590"/>
            <a:ext cx="4766308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7077" y="257741"/>
            <a:ext cx="9122474" cy="1140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1463040">
              <a:lnSpc>
                <a:spcPts val="8960"/>
              </a:lnSpc>
              <a:buClr>
                <a:srgbClr val="000000"/>
              </a:buClr>
            </a:pPr>
            <a:r>
              <a:rPr lang="es-VE" sz="8640" b="1" kern="0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  <a:sym typeface="Arial"/>
              </a:rPr>
              <a:t>CAPITULO III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4168648" y="3308887"/>
            <a:ext cx="8020902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463040">
              <a:buClr>
                <a:srgbClr val="000000"/>
              </a:buClr>
            </a:pPr>
            <a:r>
              <a:rPr lang="es-VE" sz="2240" b="1" kern="0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Etapas De La Metodología Del Enfoque Del Marco Lógico</a:t>
            </a:r>
          </a:p>
        </p:txBody>
      </p:sp>
      <p:sp>
        <p:nvSpPr>
          <p:cNvPr id="4" name="Google Shape;460;p35"/>
          <p:cNvSpPr/>
          <p:nvPr/>
        </p:nvSpPr>
        <p:spPr>
          <a:xfrm>
            <a:off x="3694106" y="3230546"/>
            <a:ext cx="7803664" cy="5832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defTabSz="1463040">
              <a:buClr>
                <a:srgbClr val="000000"/>
              </a:buClr>
            </a:pPr>
            <a:endParaRPr lang="es-VE" sz="2240" kern="0" noProof="0" dirty="0">
              <a:solidFill>
                <a:srgbClr val="6666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5" name="Google Shape;881;p50"/>
          <p:cNvGrpSpPr/>
          <p:nvPr/>
        </p:nvGrpSpPr>
        <p:grpSpPr>
          <a:xfrm>
            <a:off x="3678382" y="3445530"/>
            <a:ext cx="292616" cy="289675"/>
            <a:chOff x="-37385100" y="3949908"/>
            <a:chExt cx="321350" cy="318225"/>
          </a:xfrm>
          <a:solidFill>
            <a:schemeClr val="bg1"/>
          </a:solidFill>
        </p:grpSpPr>
        <p:sp>
          <p:nvSpPr>
            <p:cNvPr id="6" name="Google Shape;882;p50"/>
            <p:cNvSpPr/>
            <p:nvPr/>
          </p:nvSpPr>
          <p:spPr>
            <a:xfrm>
              <a:off x="-37190575" y="4145233"/>
              <a:ext cx="126825" cy="122900"/>
            </a:xfrm>
            <a:custGeom>
              <a:avLst/>
              <a:gdLst/>
              <a:ahLst/>
              <a:cxnLst/>
              <a:rect l="l" t="t" r="r" b="b"/>
              <a:pathLst>
                <a:path w="5073" h="4916" extrusionOk="0">
                  <a:moveTo>
                    <a:pt x="2238" y="1"/>
                  </a:moveTo>
                  <a:cubicBezTo>
                    <a:pt x="1986" y="442"/>
                    <a:pt x="1671" y="820"/>
                    <a:pt x="1324" y="1229"/>
                  </a:cubicBezTo>
                  <a:cubicBezTo>
                    <a:pt x="946" y="1671"/>
                    <a:pt x="473" y="1986"/>
                    <a:pt x="1" y="2238"/>
                  </a:cubicBezTo>
                  <a:lnTo>
                    <a:pt x="2206" y="4443"/>
                  </a:lnTo>
                  <a:cubicBezTo>
                    <a:pt x="2521" y="4758"/>
                    <a:pt x="2923" y="4916"/>
                    <a:pt x="3325" y="4916"/>
                  </a:cubicBezTo>
                  <a:cubicBezTo>
                    <a:pt x="3726" y="4916"/>
                    <a:pt x="4128" y="4758"/>
                    <a:pt x="4443" y="4443"/>
                  </a:cubicBezTo>
                  <a:cubicBezTo>
                    <a:pt x="5073" y="3813"/>
                    <a:pt x="5073" y="2836"/>
                    <a:pt x="4443" y="2206"/>
                  </a:cubicBezTo>
                  <a:lnTo>
                    <a:pt x="223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pPr defTabSz="1463040">
                <a:buClr>
                  <a:srgbClr val="000000"/>
                </a:buClr>
              </a:pPr>
              <a:endParaRPr lang="es-VE" sz="2240" kern="0" noProof="0" dirty="0">
                <a:solidFill>
                  <a:srgbClr val="6666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7" name="Google Shape;883;p50"/>
            <p:cNvSpPr/>
            <p:nvPr/>
          </p:nvSpPr>
          <p:spPr>
            <a:xfrm>
              <a:off x="-37385100" y="3949908"/>
              <a:ext cx="248125" cy="248950"/>
            </a:xfrm>
            <a:custGeom>
              <a:avLst/>
              <a:gdLst/>
              <a:ahLst/>
              <a:cxnLst/>
              <a:rect l="l" t="t" r="r" b="b"/>
              <a:pathLst>
                <a:path w="9925" h="9958" extrusionOk="0">
                  <a:moveTo>
                    <a:pt x="4978" y="1702"/>
                  </a:moveTo>
                  <a:cubicBezTo>
                    <a:pt x="6774" y="1702"/>
                    <a:pt x="8286" y="3214"/>
                    <a:pt x="8286" y="5010"/>
                  </a:cubicBezTo>
                  <a:cubicBezTo>
                    <a:pt x="8254" y="5892"/>
                    <a:pt x="7939" y="6711"/>
                    <a:pt x="7341" y="7310"/>
                  </a:cubicBezTo>
                  <a:cubicBezTo>
                    <a:pt x="6742" y="7908"/>
                    <a:pt x="5923" y="8318"/>
                    <a:pt x="4978" y="8318"/>
                  </a:cubicBezTo>
                  <a:cubicBezTo>
                    <a:pt x="3151" y="8318"/>
                    <a:pt x="1670" y="6837"/>
                    <a:pt x="1670" y="5010"/>
                  </a:cubicBezTo>
                  <a:cubicBezTo>
                    <a:pt x="1670" y="3214"/>
                    <a:pt x="3151" y="1702"/>
                    <a:pt x="4978" y="1702"/>
                  </a:cubicBezTo>
                  <a:close/>
                  <a:moveTo>
                    <a:pt x="4978" y="1"/>
                  </a:moveTo>
                  <a:cubicBezTo>
                    <a:pt x="2268" y="1"/>
                    <a:pt x="0" y="2269"/>
                    <a:pt x="0" y="4978"/>
                  </a:cubicBezTo>
                  <a:cubicBezTo>
                    <a:pt x="0" y="7688"/>
                    <a:pt x="2268" y="9956"/>
                    <a:pt x="4978" y="9956"/>
                  </a:cubicBezTo>
                  <a:cubicBezTo>
                    <a:pt x="5013" y="9957"/>
                    <a:pt x="5048" y="9957"/>
                    <a:pt x="5083" y="9957"/>
                  </a:cubicBezTo>
                  <a:cubicBezTo>
                    <a:pt x="6367" y="9957"/>
                    <a:pt x="7586" y="9395"/>
                    <a:pt x="8506" y="8444"/>
                  </a:cubicBezTo>
                  <a:cubicBezTo>
                    <a:pt x="9420" y="7499"/>
                    <a:pt x="9924" y="6270"/>
                    <a:pt x="9924" y="4978"/>
                  </a:cubicBezTo>
                  <a:cubicBezTo>
                    <a:pt x="9924" y="2269"/>
                    <a:pt x="7687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pPr defTabSz="1463040">
                <a:buClr>
                  <a:srgbClr val="000000"/>
                </a:buClr>
              </a:pPr>
              <a:endParaRPr lang="es-VE" sz="2240" kern="0" noProof="0" dirty="0">
                <a:solidFill>
                  <a:srgbClr val="6666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</p:grpSp>
      <p:sp>
        <p:nvSpPr>
          <p:cNvPr id="8" name="7 CuadroTexto"/>
          <p:cNvSpPr txBox="1"/>
          <p:nvPr/>
        </p:nvSpPr>
        <p:spPr>
          <a:xfrm>
            <a:off x="538674" y="4079852"/>
            <a:ext cx="4033256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b="1" kern="0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Análisis de los involucrados </a:t>
            </a:r>
          </a:p>
        </p:txBody>
      </p:sp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74651"/>
              </p:ext>
            </p:extLst>
          </p:nvPr>
        </p:nvGraphicFramePr>
        <p:xfrm>
          <a:off x="538674" y="4606860"/>
          <a:ext cx="7106703" cy="3136798"/>
        </p:xfrm>
        <a:graphic>
          <a:graphicData uri="http://schemas.openxmlformats.org/drawingml/2006/table">
            <a:tbl>
              <a:tblPr firstRow="1"/>
              <a:tblGrid>
                <a:gridCol w="1702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2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7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54455" algn="l"/>
                        </a:tabLst>
                      </a:pPr>
                      <a:r>
                        <a:rPr lang="es-VE" sz="1400" b="1" noProof="0" dirty="0">
                          <a:solidFill>
                            <a:schemeClr val="tx1"/>
                          </a:solidFill>
                          <a:effectLst/>
                        </a:rPr>
                        <a:t>INVOLUCRADOS</a:t>
                      </a:r>
                      <a:endParaRPr lang="es-VE" sz="1800" b="1" noProof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09728" marR="109728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54455" algn="l"/>
                        </a:tabLst>
                      </a:pPr>
                      <a:r>
                        <a:rPr lang="es-VE" sz="1400" b="1" noProof="0" dirty="0">
                          <a:solidFill>
                            <a:schemeClr val="tx1"/>
                          </a:solidFill>
                          <a:effectLst/>
                        </a:rPr>
                        <a:t>INTERÉS</a:t>
                      </a:r>
                      <a:endParaRPr lang="es-VE" sz="1800" b="1" noProof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09728" marR="109728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54455" algn="l"/>
                        </a:tabLst>
                      </a:pPr>
                      <a:r>
                        <a:rPr lang="es-VE" sz="1400" b="1" noProof="0" dirty="0">
                          <a:solidFill>
                            <a:schemeClr val="tx1"/>
                          </a:solidFill>
                          <a:effectLst/>
                        </a:rPr>
                        <a:t>PROBLEMA</a:t>
                      </a:r>
                      <a:endParaRPr lang="es-VE" sz="1800" b="1" noProof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09728" marR="109728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54455" algn="l"/>
                        </a:tabLst>
                      </a:pPr>
                      <a:r>
                        <a:rPr lang="es-VE" sz="1400" b="1" noProof="0" dirty="0">
                          <a:solidFill>
                            <a:schemeClr val="tx1"/>
                          </a:solidFill>
                          <a:effectLst/>
                        </a:rPr>
                        <a:t>SOLUCIÓN</a:t>
                      </a:r>
                      <a:endParaRPr lang="es-VE" sz="1800" b="1" noProof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09728" marR="10972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56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54455" algn="l"/>
                        </a:tabLst>
                      </a:pPr>
                      <a:r>
                        <a:rPr lang="es-VE" sz="1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Directora, coordinadora  y secretarias</a:t>
                      </a:r>
                      <a:endParaRPr lang="es-VE" sz="18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109728" marR="10972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54455" algn="l"/>
                        </a:tabLst>
                      </a:pPr>
                      <a:r>
                        <a:rPr lang="es-VE" sz="1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Facilitar la información para el desarrollo del sistema</a:t>
                      </a:r>
                      <a:endParaRPr lang="es-VE" sz="18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109728" marR="10972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54455" algn="l"/>
                        </a:tabLst>
                      </a:pPr>
                      <a:r>
                        <a:rPr lang="es-VE" sz="1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Realizan los proseos de forma manual</a:t>
                      </a:r>
                      <a:endParaRPr lang="es-VE" sz="18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109728" marR="10972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54455" algn="l"/>
                        </a:tabLst>
                      </a:pPr>
                      <a:r>
                        <a:rPr lang="es-VE" sz="1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Implementar un sistema automatizado </a:t>
                      </a:r>
                      <a:endParaRPr lang="es-VE" sz="18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109728" marR="10972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79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54455" algn="l"/>
                        </a:tabLst>
                      </a:pPr>
                      <a:r>
                        <a:rPr lang="es-VE" sz="1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Estudiantes del proyecto socio-tecnológico.</a:t>
                      </a:r>
                      <a:endParaRPr lang="es-VE" sz="18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109728" marR="10972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54455" algn="l"/>
                        </a:tabLst>
                      </a:pPr>
                      <a:r>
                        <a:rPr lang="es-VE" sz="1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Diseñar e implementar un sistema automatizado y así mejorar  la gestión de datos.</a:t>
                      </a:r>
                      <a:endParaRPr lang="es-VE" sz="18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109728" marR="10972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54455" algn="l"/>
                        </a:tabLst>
                      </a:pPr>
                      <a:r>
                        <a:rPr lang="es-VE" sz="1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Poca confiabilidad de la información.</a:t>
                      </a:r>
                      <a:endParaRPr lang="es-VE" sz="18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109728" marR="10972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54455" algn="l"/>
                        </a:tabLst>
                      </a:pPr>
                      <a:r>
                        <a:rPr lang="es-VE" sz="14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Desarrollar un sistema automatizado </a:t>
                      </a:r>
                      <a:endParaRPr lang="es-VE" sz="18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109728" marR="10972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9 Diagrama"/>
          <p:cNvGraphicFramePr/>
          <p:nvPr>
            <p:extLst>
              <p:ext uri="{D42A27DB-BD31-4B8C-83A1-F6EECF244321}">
                <p14:modId xmlns:p14="http://schemas.microsoft.com/office/powerpoint/2010/main" val="1991362716"/>
              </p:ext>
            </p:extLst>
          </p:nvPr>
        </p:nvGraphicFramePr>
        <p:xfrm>
          <a:off x="7595938" y="4817454"/>
          <a:ext cx="6636326" cy="2267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8602" l="1265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12" y="-353326"/>
            <a:ext cx="3780037" cy="3875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11 CuadroTexto"/>
          <p:cNvSpPr txBox="1"/>
          <p:nvPr/>
        </p:nvSpPr>
        <p:spPr>
          <a:xfrm>
            <a:off x="3925634" y="1743262"/>
            <a:ext cx="7340608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3840" b="1" kern="0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Metodología De La Investigación</a:t>
            </a:r>
          </a:p>
        </p:txBody>
      </p:sp>
      <p:pic>
        <p:nvPicPr>
          <p:cNvPr id="14" name="Gráfico 13" descr="Magnifying glass con relleno sólido">
            <a:extLst>
              <a:ext uri="{FF2B5EF4-FFF2-40B4-BE49-F238E27FC236}">
                <a16:creationId xmlns:a16="http://schemas.microsoft.com/office/drawing/2014/main" id="{FB47E6C1-E24D-92F7-A233-0D402C0814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88734" y="3216875"/>
            <a:ext cx="679913" cy="679913"/>
          </a:xfrm>
          <a:prstGeom prst="rect">
            <a:avLst/>
          </a:prstGeom>
        </p:spPr>
      </p:pic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114C110-6C31-4209-0056-89C0D82A7286}"/>
              </a:ext>
            </a:extLst>
          </p:cNvPr>
          <p:cNvSpPr/>
          <p:nvPr/>
        </p:nvSpPr>
        <p:spPr>
          <a:xfrm>
            <a:off x="3406140" y="3175811"/>
            <a:ext cx="8783409" cy="770965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926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0C2AC085-1CF2-D6FF-E745-2EC8B48CF8CB}"/>
              </a:ext>
            </a:extLst>
          </p:cNvPr>
          <p:cNvSpPr/>
          <p:nvPr/>
        </p:nvSpPr>
        <p:spPr>
          <a:xfrm>
            <a:off x="657348" y="1105776"/>
            <a:ext cx="3220902" cy="7123824"/>
          </a:xfrm>
          <a:custGeom>
            <a:avLst/>
            <a:gdLst>
              <a:gd name="connsiteX0" fmla="*/ 0 w 3220902"/>
              <a:gd name="connsiteY0" fmla="*/ 322090 h 7123824"/>
              <a:gd name="connsiteX1" fmla="*/ 322090 w 3220902"/>
              <a:gd name="connsiteY1" fmla="*/ 0 h 7123824"/>
              <a:gd name="connsiteX2" fmla="*/ 2898812 w 3220902"/>
              <a:gd name="connsiteY2" fmla="*/ 0 h 7123824"/>
              <a:gd name="connsiteX3" fmla="*/ 3220902 w 3220902"/>
              <a:gd name="connsiteY3" fmla="*/ 322090 h 7123824"/>
              <a:gd name="connsiteX4" fmla="*/ 3220902 w 3220902"/>
              <a:gd name="connsiteY4" fmla="*/ 6801734 h 7123824"/>
              <a:gd name="connsiteX5" fmla="*/ 2898812 w 3220902"/>
              <a:gd name="connsiteY5" fmla="*/ 7123824 h 7123824"/>
              <a:gd name="connsiteX6" fmla="*/ 322090 w 3220902"/>
              <a:gd name="connsiteY6" fmla="*/ 7123824 h 7123824"/>
              <a:gd name="connsiteX7" fmla="*/ 0 w 3220902"/>
              <a:gd name="connsiteY7" fmla="*/ 6801734 h 7123824"/>
              <a:gd name="connsiteX8" fmla="*/ 0 w 3220902"/>
              <a:gd name="connsiteY8" fmla="*/ 322090 h 712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20902" h="7123824">
                <a:moveTo>
                  <a:pt x="0" y="322090"/>
                </a:moveTo>
                <a:cubicBezTo>
                  <a:pt x="0" y="144205"/>
                  <a:pt x="144205" y="0"/>
                  <a:pt x="322090" y="0"/>
                </a:cubicBezTo>
                <a:lnTo>
                  <a:pt x="2898812" y="0"/>
                </a:lnTo>
                <a:cubicBezTo>
                  <a:pt x="3076697" y="0"/>
                  <a:pt x="3220902" y="144205"/>
                  <a:pt x="3220902" y="322090"/>
                </a:cubicBezTo>
                <a:lnTo>
                  <a:pt x="3220902" y="6801734"/>
                </a:lnTo>
                <a:cubicBezTo>
                  <a:pt x="3220902" y="6979619"/>
                  <a:pt x="3076697" y="7123824"/>
                  <a:pt x="2898812" y="7123824"/>
                </a:cubicBezTo>
                <a:lnTo>
                  <a:pt x="322090" y="7123824"/>
                </a:lnTo>
                <a:cubicBezTo>
                  <a:pt x="144205" y="7123824"/>
                  <a:pt x="0" y="6979619"/>
                  <a:pt x="0" y="6801734"/>
                </a:cubicBezTo>
                <a:lnTo>
                  <a:pt x="0" y="322090"/>
                </a:lnTo>
                <a:close/>
              </a:path>
            </a:pathLst>
          </a:cu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5093357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8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Resumen de los objetos</a:t>
            </a: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62AFA3F-6D3A-83EF-BCA6-DFEF6E2453ED}"/>
              </a:ext>
            </a:extLst>
          </p:cNvPr>
          <p:cNvSpPr/>
          <p:nvPr/>
        </p:nvSpPr>
        <p:spPr>
          <a:xfrm>
            <a:off x="827798" y="2858831"/>
            <a:ext cx="2880001" cy="805675"/>
          </a:xfrm>
          <a:custGeom>
            <a:avLst/>
            <a:gdLst>
              <a:gd name="connsiteX0" fmla="*/ 0 w 2880001"/>
              <a:gd name="connsiteY0" fmla="*/ 80568 h 805675"/>
              <a:gd name="connsiteX1" fmla="*/ 80568 w 2880001"/>
              <a:gd name="connsiteY1" fmla="*/ 0 h 805675"/>
              <a:gd name="connsiteX2" fmla="*/ 2799434 w 2880001"/>
              <a:gd name="connsiteY2" fmla="*/ 0 h 805675"/>
              <a:gd name="connsiteX3" fmla="*/ 2880002 w 2880001"/>
              <a:gd name="connsiteY3" fmla="*/ 80568 h 805675"/>
              <a:gd name="connsiteX4" fmla="*/ 2880001 w 2880001"/>
              <a:gd name="connsiteY4" fmla="*/ 725108 h 805675"/>
              <a:gd name="connsiteX5" fmla="*/ 2799433 w 2880001"/>
              <a:gd name="connsiteY5" fmla="*/ 805676 h 805675"/>
              <a:gd name="connsiteX6" fmla="*/ 80568 w 2880001"/>
              <a:gd name="connsiteY6" fmla="*/ 805675 h 805675"/>
              <a:gd name="connsiteX7" fmla="*/ 0 w 2880001"/>
              <a:gd name="connsiteY7" fmla="*/ 725107 h 805675"/>
              <a:gd name="connsiteX8" fmla="*/ 0 w 2880001"/>
              <a:gd name="connsiteY8" fmla="*/ 80568 h 80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80001" h="805675">
                <a:moveTo>
                  <a:pt x="0" y="80568"/>
                </a:moveTo>
                <a:cubicBezTo>
                  <a:pt x="0" y="36072"/>
                  <a:pt x="36072" y="0"/>
                  <a:pt x="80568" y="0"/>
                </a:cubicBezTo>
                <a:lnTo>
                  <a:pt x="2799434" y="0"/>
                </a:lnTo>
                <a:cubicBezTo>
                  <a:pt x="2843930" y="0"/>
                  <a:pt x="2880002" y="36072"/>
                  <a:pt x="2880002" y="80568"/>
                </a:cubicBezTo>
                <a:cubicBezTo>
                  <a:pt x="2880002" y="295415"/>
                  <a:pt x="2880001" y="510261"/>
                  <a:pt x="2880001" y="725108"/>
                </a:cubicBezTo>
                <a:cubicBezTo>
                  <a:pt x="2880001" y="769604"/>
                  <a:pt x="2843929" y="805676"/>
                  <a:pt x="2799433" y="805676"/>
                </a:cubicBezTo>
                <a:lnTo>
                  <a:pt x="80568" y="805675"/>
                </a:lnTo>
                <a:cubicBezTo>
                  <a:pt x="36072" y="805675"/>
                  <a:pt x="0" y="769603"/>
                  <a:pt x="0" y="725107"/>
                </a:cubicBezTo>
                <a:lnTo>
                  <a:pt x="0" y="80568"/>
                </a:lnTo>
                <a:close/>
              </a:path>
            </a:pathLst>
          </a:cu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4077" tIns="46457" rIns="54077" bIns="46457" numCol="1" spcCol="1270" anchor="ctr" anchorCtr="0">
            <a:noAutofit/>
          </a:bodyPr>
          <a:lstStyle/>
          <a:p>
            <a:pPr marL="0" lvl="0" indent="0" algn="just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b="1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Fin:</a:t>
            </a:r>
            <a:endParaRPr lang="es-VE" sz="1200" kern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Establecer un sistema automatizado para el registro y control.</a:t>
            </a:r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76633A99-C944-35FD-C736-FEE0392C7068}"/>
              </a:ext>
            </a:extLst>
          </p:cNvPr>
          <p:cNvSpPr/>
          <p:nvPr/>
        </p:nvSpPr>
        <p:spPr>
          <a:xfrm>
            <a:off x="817027" y="3772330"/>
            <a:ext cx="2880001" cy="815302"/>
          </a:xfrm>
          <a:custGeom>
            <a:avLst/>
            <a:gdLst>
              <a:gd name="connsiteX0" fmla="*/ 0 w 2880001"/>
              <a:gd name="connsiteY0" fmla="*/ 81530 h 815302"/>
              <a:gd name="connsiteX1" fmla="*/ 81530 w 2880001"/>
              <a:gd name="connsiteY1" fmla="*/ 0 h 815302"/>
              <a:gd name="connsiteX2" fmla="*/ 2798471 w 2880001"/>
              <a:gd name="connsiteY2" fmla="*/ 0 h 815302"/>
              <a:gd name="connsiteX3" fmla="*/ 2880001 w 2880001"/>
              <a:gd name="connsiteY3" fmla="*/ 81530 h 815302"/>
              <a:gd name="connsiteX4" fmla="*/ 2880001 w 2880001"/>
              <a:gd name="connsiteY4" fmla="*/ 733772 h 815302"/>
              <a:gd name="connsiteX5" fmla="*/ 2798471 w 2880001"/>
              <a:gd name="connsiteY5" fmla="*/ 815302 h 815302"/>
              <a:gd name="connsiteX6" fmla="*/ 81530 w 2880001"/>
              <a:gd name="connsiteY6" fmla="*/ 815302 h 815302"/>
              <a:gd name="connsiteX7" fmla="*/ 0 w 2880001"/>
              <a:gd name="connsiteY7" fmla="*/ 733772 h 815302"/>
              <a:gd name="connsiteX8" fmla="*/ 0 w 2880001"/>
              <a:gd name="connsiteY8" fmla="*/ 81530 h 81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80001" h="815302">
                <a:moveTo>
                  <a:pt x="0" y="81530"/>
                </a:moveTo>
                <a:cubicBezTo>
                  <a:pt x="0" y="36502"/>
                  <a:pt x="36502" y="0"/>
                  <a:pt x="81530" y="0"/>
                </a:cubicBezTo>
                <a:lnTo>
                  <a:pt x="2798471" y="0"/>
                </a:lnTo>
                <a:cubicBezTo>
                  <a:pt x="2843499" y="0"/>
                  <a:pt x="2880001" y="36502"/>
                  <a:pt x="2880001" y="81530"/>
                </a:cubicBezTo>
                <a:lnTo>
                  <a:pt x="2880001" y="733772"/>
                </a:lnTo>
                <a:cubicBezTo>
                  <a:pt x="2880001" y="778800"/>
                  <a:pt x="2843499" y="815302"/>
                  <a:pt x="2798471" y="815302"/>
                </a:cubicBezTo>
                <a:lnTo>
                  <a:pt x="81530" y="815302"/>
                </a:lnTo>
                <a:cubicBezTo>
                  <a:pt x="36502" y="815302"/>
                  <a:pt x="0" y="778800"/>
                  <a:pt x="0" y="733772"/>
                </a:cubicBezTo>
                <a:lnTo>
                  <a:pt x="0" y="81530"/>
                </a:lnTo>
                <a:close/>
              </a:path>
            </a:pathLst>
          </a:cu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4359" tIns="46739" rIns="54359" bIns="46739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b="1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Propósito:</a:t>
            </a:r>
            <a:endParaRPr lang="es-VE" sz="1200" kern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Optimizar el registro y control de datos.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0363E2A9-68F7-91BA-ABD8-6CD0743A4500}"/>
              </a:ext>
            </a:extLst>
          </p:cNvPr>
          <p:cNvSpPr/>
          <p:nvPr/>
        </p:nvSpPr>
        <p:spPr>
          <a:xfrm>
            <a:off x="827798" y="4732868"/>
            <a:ext cx="2880001" cy="1258215"/>
          </a:xfrm>
          <a:custGeom>
            <a:avLst/>
            <a:gdLst>
              <a:gd name="connsiteX0" fmla="*/ 0 w 2880001"/>
              <a:gd name="connsiteY0" fmla="*/ 125822 h 1258215"/>
              <a:gd name="connsiteX1" fmla="*/ 125822 w 2880001"/>
              <a:gd name="connsiteY1" fmla="*/ 0 h 1258215"/>
              <a:gd name="connsiteX2" fmla="*/ 2754180 w 2880001"/>
              <a:gd name="connsiteY2" fmla="*/ 0 h 1258215"/>
              <a:gd name="connsiteX3" fmla="*/ 2880002 w 2880001"/>
              <a:gd name="connsiteY3" fmla="*/ 125822 h 1258215"/>
              <a:gd name="connsiteX4" fmla="*/ 2880001 w 2880001"/>
              <a:gd name="connsiteY4" fmla="*/ 1132394 h 1258215"/>
              <a:gd name="connsiteX5" fmla="*/ 2754179 w 2880001"/>
              <a:gd name="connsiteY5" fmla="*/ 1258216 h 1258215"/>
              <a:gd name="connsiteX6" fmla="*/ 125822 w 2880001"/>
              <a:gd name="connsiteY6" fmla="*/ 1258215 h 1258215"/>
              <a:gd name="connsiteX7" fmla="*/ 0 w 2880001"/>
              <a:gd name="connsiteY7" fmla="*/ 1132393 h 1258215"/>
              <a:gd name="connsiteX8" fmla="*/ 0 w 2880001"/>
              <a:gd name="connsiteY8" fmla="*/ 125822 h 125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80001" h="1258215">
                <a:moveTo>
                  <a:pt x="0" y="125822"/>
                </a:moveTo>
                <a:cubicBezTo>
                  <a:pt x="0" y="56332"/>
                  <a:pt x="56332" y="0"/>
                  <a:pt x="125822" y="0"/>
                </a:cubicBezTo>
                <a:lnTo>
                  <a:pt x="2754180" y="0"/>
                </a:lnTo>
                <a:cubicBezTo>
                  <a:pt x="2823670" y="0"/>
                  <a:pt x="2880002" y="56332"/>
                  <a:pt x="2880002" y="125822"/>
                </a:cubicBezTo>
                <a:cubicBezTo>
                  <a:pt x="2880002" y="461346"/>
                  <a:pt x="2880001" y="796870"/>
                  <a:pt x="2880001" y="1132394"/>
                </a:cubicBezTo>
                <a:cubicBezTo>
                  <a:pt x="2880001" y="1201884"/>
                  <a:pt x="2823669" y="1258216"/>
                  <a:pt x="2754179" y="1258216"/>
                </a:cubicBezTo>
                <a:lnTo>
                  <a:pt x="125822" y="1258215"/>
                </a:lnTo>
                <a:cubicBezTo>
                  <a:pt x="56332" y="1258215"/>
                  <a:pt x="0" y="1201883"/>
                  <a:pt x="0" y="1132393"/>
                </a:cubicBezTo>
                <a:lnTo>
                  <a:pt x="0" y="125822"/>
                </a:lnTo>
                <a:close/>
              </a:path>
            </a:pathLst>
          </a:cu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7332" tIns="59712" rIns="67332" bIns="59712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b="1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Componentes:</a:t>
            </a:r>
          </a:p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1. Diseñar la interfaz de usuario</a:t>
            </a:r>
          </a:p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2. Diseñar la base de datos</a:t>
            </a:r>
          </a:p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3. Prototipo del sistema automatizado</a:t>
            </a:r>
          </a:p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4. Manual de uso del sistema</a:t>
            </a: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FD90C586-6390-71AD-FCDF-948B6B1BCF83}"/>
              </a:ext>
            </a:extLst>
          </p:cNvPr>
          <p:cNvSpPr/>
          <p:nvPr/>
        </p:nvSpPr>
        <p:spPr>
          <a:xfrm>
            <a:off x="827798" y="6166313"/>
            <a:ext cx="2880001" cy="1552390"/>
          </a:xfrm>
          <a:custGeom>
            <a:avLst/>
            <a:gdLst>
              <a:gd name="connsiteX0" fmla="*/ 0 w 2880001"/>
              <a:gd name="connsiteY0" fmla="*/ 155239 h 1552390"/>
              <a:gd name="connsiteX1" fmla="*/ 155239 w 2880001"/>
              <a:gd name="connsiteY1" fmla="*/ 0 h 1552390"/>
              <a:gd name="connsiteX2" fmla="*/ 2724762 w 2880001"/>
              <a:gd name="connsiteY2" fmla="*/ 0 h 1552390"/>
              <a:gd name="connsiteX3" fmla="*/ 2880001 w 2880001"/>
              <a:gd name="connsiteY3" fmla="*/ 155239 h 1552390"/>
              <a:gd name="connsiteX4" fmla="*/ 2880001 w 2880001"/>
              <a:gd name="connsiteY4" fmla="*/ 1397151 h 1552390"/>
              <a:gd name="connsiteX5" fmla="*/ 2724762 w 2880001"/>
              <a:gd name="connsiteY5" fmla="*/ 1552390 h 1552390"/>
              <a:gd name="connsiteX6" fmla="*/ 155239 w 2880001"/>
              <a:gd name="connsiteY6" fmla="*/ 1552390 h 1552390"/>
              <a:gd name="connsiteX7" fmla="*/ 0 w 2880001"/>
              <a:gd name="connsiteY7" fmla="*/ 1397151 h 1552390"/>
              <a:gd name="connsiteX8" fmla="*/ 0 w 2880001"/>
              <a:gd name="connsiteY8" fmla="*/ 155239 h 1552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80001" h="1552390">
                <a:moveTo>
                  <a:pt x="0" y="155239"/>
                </a:moveTo>
                <a:cubicBezTo>
                  <a:pt x="0" y="69503"/>
                  <a:pt x="69503" y="0"/>
                  <a:pt x="155239" y="0"/>
                </a:cubicBezTo>
                <a:lnTo>
                  <a:pt x="2724762" y="0"/>
                </a:lnTo>
                <a:cubicBezTo>
                  <a:pt x="2810498" y="0"/>
                  <a:pt x="2880001" y="69503"/>
                  <a:pt x="2880001" y="155239"/>
                </a:cubicBezTo>
                <a:lnTo>
                  <a:pt x="2880001" y="1397151"/>
                </a:lnTo>
                <a:cubicBezTo>
                  <a:pt x="2880001" y="1482887"/>
                  <a:pt x="2810498" y="1552390"/>
                  <a:pt x="2724762" y="1552390"/>
                </a:cubicBezTo>
                <a:lnTo>
                  <a:pt x="155239" y="1552390"/>
                </a:lnTo>
                <a:cubicBezTo>
                  <a:pt x="69503" y="1552390"/>
                  <a:pt x="0" y="1482887"/>
                  <a:pt x="0" y="1397151"/>
                </a:cubicBezTo>
                <a:lnTo>
                  <a:pt x="0" y="155239"/>
                </a:lnTo>
                <a:close/>
              </a:path>
            </a:pathLst>
          </a:cu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5948" tIns="68328" rIns="75948" bIns="68328" numCol="1" spcCol="1270" anchor="ctr" anchorCtr="0">
            <a:noAutofit/>
          </a:bodyPr>
          <a:lstStyle/>
          <a:p>
            <a:pPr marL="0" lvl="0" indent="0" algn="just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b="1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Actividades:</a:t>
            </a:r>
          </a:p>
          <a:p>
            <a:pPr marL="228600" lvl="0" indent="-228600" algn="just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AutoNum type="arabicPeriod"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Implementación de la base de datos</a:t>
            </a:r>
          </a:p>
          <a:p>
            <a:pPr marL="228600" lvl="0" indent="-228600" algn="just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AutoNum type="arabicPeriod"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Instalación de herramientas y lenguajes de desarrollo</a:t>
            </a:r>
          </a:p>
          <a:p>
            <a:pPr marL="228600" lvl="0" indent="-228600" algn="just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AutoNum type="arabicPeriod"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Entrega del manual del sistema</a:t>
            </a: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CF4EC748-2DBA-A4A9-9A13-82BA81B9D852}"/>
              </a:ext>
            </a:extLst>
          </p:cNvPr>
          <p:cNvSpPr/>
          <p:nvPr/>
        </p:nvSpPr>
        <p:spPr>
          <a:xfrm>
            <a:off x="4119818" y="1105776"/>
            <a:ext cx="3220902" cy="7123824"/>
          </a:xfrm>
          <a:custGeom>
            <a:avLst/>
            <a:gdLst>
              <a:gd name="connsiteX0" fmla="*/ 0 w 3220902"/>
              <a:gd name="connsiteY0" fmla="*/ 322090 h 7123824"/>
              <a:gd name="connsiteX1" fmla="*/ 322090 w 3220902"/>
              <a:gd name="connsiteY1" fmla="*/ 0 h 7123824"/>
              <a:gd name="connsiteX2" fmla="*/ 2898812 w 3220902"/>
              <a:gd name="connsiteY2" fmla="*/ 0 h 7123824"/>
              <a:gd name="connsiteX3" fmla="*/ 3220902 w 3220902"/>
              <a:gd name="connsiteY3" fmla="*/ 322090 h 7123824"/>
              <a:gd name="connsiteX4" fmla="*/ 3220902 w 3220902"/>
              <a:gd name="connsiteY4" fmla="*/ 6801734 h 7123824"/>
              <a:gd name="connsiteX5" fmla="*/ 2898812 w 3220902"/>
              <a:gd name="connsiteY5" fmla="*/ 7123824 h 7123824"/>
              <a:gd name="connsiteX6" fmla="*/ 322090 w 3220902"/>
              <a:gd name="connsiteY6" fmla="*/ 7123824 h 7123824"/>
              <a:gd name="connsiteX7" fmla="*/ 0 w 3220902"/>
              <a:gd name="connsiteY7" fmla="*/ 6801734 h 7123824"/>
              <a:gd name="connsiteX8" fmla="*/ 0 w 3220902"/>
              <a:gd name="connsiteY8" fmla="*/ 322090 h 712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20902" h="7123824">
                <a:moveTo>
                  <a:pt x="0" y="322090"/>
                </a:moveTo>
                <a:cubicBezTo>
                  <a:pt x="0" y="144205"/>
                  <a:pt x="144205" y="0"/>
                  <a:pt x="322090" y="0"/>
                </a:cubicBezTo>
                <a:lnTo>
                  <a:pt x="2898812" y="0"/>
                </a:lnTo>
                <a:cubicBezTo>
                  <a:pt x="3076697" y="0"/>
                  <a:pt x="3220902" y="144205"/>
                  <a:pt x="3220902" y="322090"/>
                </a:cubicBezTo>
                <a:lnTo>
                  <a:pt x="3220902" y="6801734"/>
                </a:lnTo>
                <a:cubicBezTo>
                  <a:pt x="3220902" y="6979619"/>
                  <a:pt x="3076697" y="7123824"/>
                  <a:pt x="2898812" y="7123824"/>
                </a:cubicBezTo>
                <a:lnTo>
                  <a:pt x="322090" y="7123824"/>
                </a:lnTo>
                <a:cubicBezTo>
                  <a:pt x="144205" y="7123824"/>
                  <a:pt x="0" y="6979619"/>
                  <a:pt x="0" y="6801734"/>
                </a:cubicBezTo>
                <a:lnTo>
                  <a:pt x="0" y="322090"/>
                </a:lnTo>
                <a:close/>
              </a:path>
            </a:pathLst>
          </a:cu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5078117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4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Indicadores verificables objetivamente</a:t>
            </a: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A6963C9E-FFB2-29B5-EA9F-4DC1ADE8DB17}"/>
              </a:ext>
            </a:extLst>
          </p:cNvPr>
          <p:cNvSpPr/>
          <p:nvPr/>
        </p:nvSpPr>
        <p:spPr>
          <a:xfrm>
            <a:off x="4441908" y="3246036"/>
            <a:ext cx="2576721" cy="982399"/>
          </a:xfrm>
          <a:custGeom>
            <a:avLst/>
            <a:gdLst>
              <a:gd name="connsiteX0" fmla="*/ 0 w 2576721"/>
              <a:gd name="connsiteY0" fmla="*/ 98240 h 982399"/>
              <a:gd name="connsiteX1" fmla="*/ 98240 w 2576721"/>
              <a:gd name="connsiteY1" fmla="*/ 0 h 982399"/>
              <a:gd name="connsiteX2" fmla="*/ 2478481 w 2576721"/>
              <a:gd name="connsiteY2" fmla="*/ 0 h 982399"/>
              <a:gd name="connsiteX3" fmla="*/ 2576721 w 2576721"/>
              <a:gd name="connsiteY3" fmla="*/ 98240 h 982399"/>
              <a:gd name="connsiteX4" fmla="*/ 2576721 w 2576721"/>
              <a:gd name="connsiteY4" fmla="*/ 884159 h 982399"/>
              <a:gd name="connsiteX5" fmla="*/ 2478481 w 2576721"/>
              <a:gd name="connsiteY5" fmla="*/ 982399 h 982399"/>
              <a:gd name="connsiteX6" fmla="*/ 98240 w 2576721"/>
              <a:gd name="connsiteY6" fmla="*/ 982399 h 982399"/>
              <a:gd name="connsiteX7" fmla="*/ 0 w 2576721"/>
              <a:gd name="connsiteY7" fmla="*/ 884159 h 982399"/>
              <a:gd name="connsiteX8" fmla="*/ 0 w 2576721"/>
              <a:gd name="connsiteY8" fmla="*/ 98240 h 98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6721" h="982399">
                <a:moveTo>
                  <a:pt x="0" y="98240"/>
                </a:moveTo>
                <a:cubicBezTo>
                  <a:pt x="0" y="43984"/>
                  <a:pt x="43984" y="0"/>
                  <a:pt x="98240" y="0"/>
                </a:cubicBezTo>
                <a:lnTo>
                  <a:pt x="2478481" y="0"/>
                </a:lnTo>
                <a:cubicBezTo>
                  <a:pt x="2532737" y="0"/>
                  <a:pt x="2576721" y="43984"/>
                  <a:pt x="2576721" y="98240"/>
                </a:cubicBezTo>
                <a:lnTo>
                  <a:pt x="2576721" y="884159"/>
                </a:lnTo>
                <a:cubicBezTo>
                  <a:pt x="2576721" y="938415"/>
                  <a:pt x="2532737" y="982399"/>
                  <a:pt x="2478481" y="982399"/>
                </a:cubicBezTo>
                <a:lnTo>
                  <a:pt x="98240" y="982399"/>
                </a:lnTo>
                <a:cubicBezTo>
                  <a:pt x="43984" y="982399"/>
                  <a:pt x="0" y="938415"/>
                  <a:pt x="0" y="884159"/>
                </a:cubicBezTo>
                <a:lnTo>
                  <a:pt x="0" y="98240"/>
                </a:lnTo>
                <a:close/>
              </a:path>
            </a:pathLst>
          </a:cu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253" tIns="51633" rIns="59253" bIns="51633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Operatividad del sistema en un 100% en su implementación completa</a:t>
            </a: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B0772D19-AD5D-3D9C-E6A6-B834EE4CCED6}"/>
              </a:ext>
            </a:extLst>
          </p:cNvPr>
          <p:cNvSpPr/>
          <p:nvPr/>
        </p:nvSpPr>
        <p:spPr>
          <a:xfrm>
            <a:off x="4441908" y="4412096"/>
            <a:ext cx="2576721" cy="2080740"/>
          </a:xfrm>
          <a:custGeom>
            <a:avLst/>
            <a:gdLst>
              <a:gd name="connsiteX0" fmla="*/ 0 w 2576721"/>
              <a:gd name="connsiteY0" fmla="*/ 208074 h 2080740"/>
              <a:gd name="connsiteX1" fmla="*/ 208074 w 2576721"/>
              <a:gd name="connsiteY1" fmla="*/ 0 h 2080740"/>
              <a:gd name="connsiteX2" fmla="*/ 2368647 w 2576721"/>
              <a:gd name="connsiteY2" fmla="*/ 0 h 2080740"/>
              <a:gd name="connsiteX3" fmla="*/ 2576721 w 2576721"/>
              <a:gd name="connsiteY3" fmla="*/ 208074 h 2080740"/>
              <a:gd name="connsiteX4" fmla="*/ 2576721 w 2576721"/>
              <a:gd name="connsiteY4" fmla="*/ 1872666 h 2080740"/>
              <a:gd name="connsiteX5" fmla="*/ 2368647 w 2576721"/>
              <a:gd name="connsiteY5" fmla="*/ 2080740 h 2080740"/>
              <a:gd name="connsiteX6" fmla="*/ 208074 w 2576721"/>
              <a:gd name="connsiteY6" fmla="*/ 2080740 h 2080740"/>
              <a:gd name="connsiteX7" fmla="*/ 0 w 2576721"/>
              <a:gd name="connsiteY7" fmla="*/ 1872666 h 2080740"/>
              <a:gd name="connsiteX8" fmla="*/ 0 w 2576721"/>
              <a:gd name="connsiteY8" fmla="*/ 208074 h 2080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6721" h="2080740">
                <a:moveTo>
                  <a:pt x="0" y="208074"/>
                </a:moveTo>
                <a:cubicBezTo>
                  <a:pt x="0" y="93158"/>
                  <a:pt x="93158" y="0"/>
                  <a:pt x="208074" y="0"/>
                </a:cubicBezTo>
                <a:lnTo>
                  <a:pt x="2368647" y="0"/>
                </a:lnTo>
                <a:cubicBezTo>
                  <a:pt x="2483563" y="0"/>
                  <a:pt x="2576721" y="93158"/>
                  <a:pt x="2576721" y="208074"/>
                </a:cubicBezTo>
                <a:lnTo>
                  <a:pt x="2576721" y="1872666"/>
                </a:lnTo>
                <a:cubicBezTo>
                  <a:pt x="2576721" y="1987582"/>
                  <a:pt x="2483563" y="2080740"/>
                  <a:pt x="2368647" y="2080740"/>
                </a:cubicBezTo>
                <a:lnTo>
                  <a:pt x="208074" y="2080740"/>
                </a:lnTo>
                <a:cubicBezTo>
                  <a:pt x="93158" y="2080740"/>
                  <a:pt x="0" y="1987582"/>
                  <a:pt x="0" y="1872666"/>
                </a:cubicBezTo>
                <a:lnTo>
                  <a:pt x="0" y="208074"/>
                </a:lnTo>
                <a:close/>
              </a:path>
            </a:pathLst>
          </a:cu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23" tIns="83803" rIns="91423" bIns="83803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b="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-Disminuir el tiempo de consulta y procesamiento de datos.</a:t>
            </a:r>
          </a:p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b="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-Ahorrar recursos materiales en los registros manuales.</a:t>
            </a:r>
          </a:p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b="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-Mejor gestión del personal, evitando tareas repetitivas y optimizando sus funciones.</a:t>
            </a:r>
          </a:p>
        </p:txBody>
      </p:sp>
      <p:sp>
        <p:nvSpPr>
          <p:cNvPr id="21" name="Forma libre: forma 20">
            <a:extLst>
              <a:ext uri="{FF2B5EF4-FFF2-40B4-BE49-F238E27FC236}">
                <a16:creationId xmlns:a16="http://schemas.microsoft.com/office/drawing/2014/main" id="{3EFE58F7-C17E-D5FD-5F3D-59BFBEC63F82}"/>
              </a:ext>
            </a:extLst>
          </p:cNvPr>
          <p:cNvSpPr/>
          <p:nvPr/>
        </p:nvSpPr>
        <p:spPr>
          <a:xfrm>
            <a:off x="4441908" y="6676498"/>
            <a:ext cx="2576721" cy="1193797"/>
          </a:xfrm>
          <a:custGeom>
            <a:avLst/>
            <a:gdLst>
              <a:gd name="connsiteX0" fmla="*/ 0 w 2576721"/>
              <a:gd name="connsiteY0" fmla="*/ 119380 h 1193797"/>
              <a:gd name="connsiteX1" fmla="*/ 119380 w 2576721"/>
              <a:gd name="connsiteY1" fmla="*/ 0 h 1193797"/>
              <a:gd name="connsiteX2" fmla="*/ 2457341 w 2576721"/>
              <a:gd name="connsiteY2" fmla="*/ 0 h 1193797"/>
              <a:gd name="connsiteX3" fmla="*/ 2576721 w 2576721"/>
              <a:gd name="connsiteY3" fmla="*/ 119380 h 1193797"/>
              <a:gd name="connsiteX4" fmla="*/ 2576721 w 2576721"/>
              <a:gd name="connsiteY4" fmla="*/ 1074417 h 1193797"/>
              <a:gd name="connsiteX5" fmla="*/ 2457341 w 2576721"/>
              <a:gd name="connsiteY5" fmla="*/ 1193797 h 1193797"/>
              <a:gd name="connsiteX6" fmla="*/ 119380 w 2576721"/>
              <a:gd name="connsiteY6" fmla="*/ 1193797 h 1193797"/>
              <a:gd name="connsiteX7" fmla="*/ 0 w 2576721"/>
              <a:gd name="connsiteY7" fmla="*/ 1074417 h 1193797"/>
              <a:gd name="connsiteX8" fmla="*/ 0 w 2576721"/>
              <a:gd name="connsiteY8" fmla="*/ 119380 h 1193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6721" h="1193797">
                <a:moveTo>
                  <a:pt x="0" y="119380"/>
                </a:moveTo>
                <a:cubicBezTo>
                  <a:pt x="0" y="53448"/>
                  <a:pt x="53448" y="0"/>
                  <a:pt x="119380" y="0"/>
                </a:cubicBezTo>
                <a:lnTo>
                  <a:pt x="2457341" y="0"/>
                </a:lnTo>
                <a:cubicBezTo>
                  <a:pt x="2523273" y="0"/>
                  <a:pt x="2576721" y="53448"/>
                  <a:pt x="2576721" y="119380"/>
                </a:cubicBezTo>
                <a:lnTo>
                  <a:pt x="2576721" y="1074417"/>
                </a:lnTo>
                <a:cubicBezTo>
                  <a:pt x="2576721" y="1140349"/>
                  <a:pt x="2523273" y="1193797"/>
                  <a:pt x="2457341" y="1193797"/>
                </a:cubicBezTo>
                <a:lnTo>
                  <a:pt x="119380" y="1193797"/>
                </a:lnTo>
                <a:cubicBezTo>
                  <a:pt x="53448" y="1193797"/>
                  <a:pt x="0" y="1140349"/>
                  <a:pt x="0" y="1074417"/>
                </a:cubicBezTo>
                <a:lnTo>
                  <a:pt x="0" y="119380"/>
                </a:lnTo>
                <a:close/>
              </a:path>
            </a:pathLst>
          </a:cu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5445" tIns="57825" rIns="65445" bIns="57825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Desarrollo completo de la base de datos, interfaz y documentación del sistema.</a:t>
            </a:r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2B7B161F-A068-6C11-BFDA-4E7ED62E0B34}"/>
              </a:ext>
            </a:extLst>
          </p:cNvPr>
          <p:cNvSpPr/>
          <p:nvPr/>
        </p:nvSpPr>
        <p:spPr>
          <a:xfrm>
            <a:off x="7533395" y="1105776"/>
            <a:ext cx="3220902" cy="7123824"/>
          </a:xfrm>
          <a:custGeom>
            <a:avLst/>
            <a:gdLst>
              <a:gd name="connsiteX0" fmla="*/ 0 w 3220902"/>
              <a:gd name="connsiteY0" fmla="*/ 322090 h 7123824"/>
              <a:gd name="connsiteX1" fmla="*/ 322090 w 3220902"/>
              <a:gd name="connsiteY1" fmla="*/ 0 h 7123824"/>
              <a:gd name="connsiteX2" fmla="*/ 2898812 w 3220902"/>
              <a:gd name="connsiteY2" fmla="*/ 0 h 7123824"/>
              <a:gd name="connsiteX3" fmla="*/ 3220902 w 3220902"/>
              <a:gd name="connsiteY3" fmla="*/ 322090 h 7123824"/>
              <a:gd name="connsiteX4" fmla="*/ 3220902 w 3220902"/>
              <a:gd name="connsiteY4" fmla="*/ 6801734 h 7123824"/>
              <a:gd name="connsiteX5" fmla="*/ 2898812 w 3220902"/>
              <a:gd name="connsiteY5" fmla="*/ 7123824 h 7123824"/>
              <a:gd name="connsiteX6" fmla="*/ 322090 w 3220902"/>
              <a:gd name="connsiteY6" fmla="*/ 7123824 h 7123824"/>
              <a:gd name="connsiteX7" fmla="*/ 0 w 3220902"/>
              <a:gd name="connsiteY7" fmla="*/ 6801734 h 7123824"/>
              <a:gd name="connsiteX8" fmla="*/ 0 w 3220902"/>
              <a:gd name="connsiteY8" fmla="*/ 322090 h 712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20902" h="7123824">
                <a:moveTo>
                  <a:pt x="0" y="322090"/>
                </a:moveTo>
                <a:cubicBezTo>
                  <a:pt x="0" y="144205"/>
                  <a:pt x="144205" y="0"/>
                  <a:pt x="322090" y="0"/>
                </a:cubicBezTo>
                <a:lnTo>
                  <a:pt x="2898812" y="0"/>
                </a:lnTo>
                <a:cubicBezTo>
                  <a:pt x="3076697" y="0"/>
                  <a:pt x="3220902" y="144205"/>
                  <a:pt x="3220902" y="322090"/>
                </a:cubicBezTo>
                <a:lnTo>
                  <a:pt x="3220902" y="6801734"/>
                </a:lnTo>
                <a:cubicBezTo>
                  <a:pt x="3220902" y="6979619"/>
                  <a:pt x="3076697" y="7123824"/>
                  <a:pt x="2898812" y="7123824"/>
                </a:cubicBezTo>
                <a:lnTo>
                  <a:pt x="322090" y="7123824"/>
                </a:lnTo>
                <a:cubicBezTo>
                  <a:pt x="144205" y="7123824"/>
                  <a:pt x="0" y="6979619"/>
                  <a:pt x="0" y="6801734"/>
                </a:cubicBezTo>
                <a:lnTo>
                  <a:pt x="0" y="322090"/>
                </a:lnTo>
                <a:close/>
              </a:path>
            </a:pathLst>
          </a:cu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5093357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8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Medios de verificación</a:t>
            </a:r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0BDABD7E-BE9B-2C1A-90D0-C8B36986046E}"/>
              </a:ext>
            </a:extLst>
          </p:cNvPr>
          <p:cNvSpPr/>
          <p:nvPr/>
        </p:nvSpPr>
        <p:spPr>
          <a:xfrm>
            <a:off x="7904378" y="3243531"/>
            <a:ext cx="2576721" cy="1399546"/>
          </a:xfrm>
          <a:custGeom>
            <a:avLst/>
            <a:gdLst>
              <a:gd name="connsiteX0" fmla="*/ 0 w 2576721"/>
              <a:gd name="connsiteY0" fmla="*/ 139955 h 1399546"/>
              <a:gd name="connsiteX1" fmla="*/ 139955 w 2576721"/>
              <a:gd name="connsiteY1" fmla="*/ 0 h 1399546"/>
              <a:gd name="connsiteX2" fmla="*/ 2436766 w 2576721"/>
              <a:gd name="connsiteY2" fmla="*/ 0 h 1399546"/>
              <a:gd name="connsiteX3" fmla="*/ 2576721 w 2576721"/>
              <a:gd name="connsiteY3" fmla="*/ 139955 h 1399546"/>
              <a:gd name="connsiteX4" fmla="*/ 2576721 w 2576721"/>
              <a:gd name="connsiteY4" fmla="*/ 1259591 h 1399546"/>
              <a:gd name="connsiteX5" fmla="*/ 2436766 w 2576721"/>
              <a:gd name="connsiteY5" fmla="*/ 1399546 h 1399546"/>
              <a:gd name="connsiteX6" fmla="*/ 139955 w 2576721"/>
              <a:gd name="connsiteY6" fmla="*/ 1399546 h 1399546"/>
              <a:gd name="connsiteX7" fmla="*/ 0 w 2576721"/>
              <a:gd name="connsiteY7" fmla="*/ 1259591 h 1399546"/>
              <a:gd name="connsiteX8" fmla="*/ 0 w 2576721"/>
              <a:gd name="connsiteY8" fmla="*/ 139955 h 1399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6721" h="1399546">
                <a:moveTo>
                  <a:pt x="0" y="139955"/>
                </a:moveTo>
                <a:cubicBezTo>
                  <a:pt x="0" y="62660"/>
                  <a:pt x="62660" y="0"/>
                  <a:pt x="139955" y="0"/>
                </a:cubicBezTo>
                <a:lnTo>
                  <a:pt x="2436766" y="0"/>
                </a:lnTo>
                <a:cubicBezTo>
                  <a:pt x="2514061" y="0"/>
                  <a:pt x="2576721" y="62660"/>
                  <a:pt x="2576721" y="139955"/>
                </a:cubicBezTo>
                <a:lnTo>
                  <a:pt x="2576721" y="1259591"/>
                </a:lnTo>
                <a:cubicBezTo>
                  <a:pt x="2576721" y="1336886"/>
                  <a:pt x="2514061" y="1399546"/>
                  <a:pt x="2436766" y="1399546"/>
                </a:cubicBezTo>
                <a:lnTo>
                  <a:pt x="139955" y="1399546"/>
                </a:lnTo>
                <a:cubicBezTo>
                  <a:pt x="62660" y="1399546"/>
                  <a:pt x="0" y="1336886"/>
                  <a:pt x="0" y="1259591"/>
                </a:cubicBezTo>
                <a:lnTo>
                  <a:pt x="0" y="139955"/>
                </a:lnTo>
                <a:close/>
              </a:path>
            </a:pathLst>
          </a:cu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1471" tIns="63851" rIns="71471" bIns="63851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Reportes y consultas generadas por el sistema, validación de datos almacenados y eficiencia en el acceso a información.</a:t>
            </a:r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C0E15C13-3822-7F6F-AB5B-221AD37E7C4A}"/>
              </a:ext>
            </a:extLst>
          </p:cNvPr>
          <p:cNvSpPr/>
          <p:nvPr/>
        </p:nvSpPr>
        <p:spPr>
          <a:xfrm>
            <a:off x="7904378" y="4858392"/>
            <a:ext cx="2576721" cy="1399546"/>
          </a:xfrm>
          <a:custGeom>
            <a:avLst/>
            <a:gdLst>
              <a:gd name="connsiteX0" fmla="*/ 0 w 2576721"/>
              <a:gd name="connsiteY0" fmla="*/ 139955 h 1399546"/>
              <a:gd name="connsiteX1" fmla="*/ 139955 w 2576721"/>
              <a:gd name="connsiteY1" fmla="*/ 0 h 1399546"/>
              <a:gd name="connsiteX2" fmla="*/ 2436766 w 2576721"/>
              <a:gd name="connsiteY2" fmla="*/ 0 h 1399546"/>
              <a:gd name="connsiteX3" fmla="*/ 2576721 w 2576721"/>
              <a:gd name="connsiteY3" fmla="*/ 139955 h 1399546"/>
              <a:gd name="connsiteX4" fmla="*/ 2576721 w 2576721"/>
              <a:gd name="connsiteY4" fmla="*/ 1259591 h 1399546"/>
              <a:gd name="connsiteX5" fmla="*/ 2436766 w 2576721"/>
              <a:gd name="connsiteY5" fmla="*/ 1399546 h 1399546"/>
              <a:gd name="connsiteX6" fmla="*/ 139955 w 2576721"/>
              <a:gd name="connsiteY6" fmla="*/ 1399546 h 1399546"/>
              <a:gd name="connsiteX7" fmla="*/ 0 w 2576721"/>
              <a:gd name="connsiteY7" fmla="*/ 1259591 h 1399546"/>
              <a:gd name="connsiteX8" fmla="*/ 0 w 2576721"/>
              <a:gd name="connsiteY8" fmla="*/ 139955 h 1399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6721" h="1399546">
                <a:moveTo>
                  <a:pt x="0" y="139955"/>
                </a:moveTo>
                <a:cubicBezTo>
                  <a:pt x="0" y="62660"/>
                  <a:pt x="62660" y="0"/>
                  <a:pt x="139955" y="0"/>
                </a:cubicBezTo>
                <a:lnTo>
                  <a:pt x="2436766" y="0"/>
                </a:lnTo>
                <a:cubicBezTo>
                  <a:pt x="2514061" y="0"/>
                  <a:pt x="2576721" y="62660"/>
                  <a:pt x="2576721" y="139955"/>
                </a:cubicBezTo>
                <a:lnTo>
                  <a:pt x="2576721" y="1259591"/>
                </a:lnTo>
                <a:cubicBezTo>
                  <a:pt x="2576721" y="1336886"/>
                  <a:pt x="2514061" y="1399546"/>
                  <a:pt x="2436766" y="1399546"/>
                </a:cubicBezTo>
                <a:lnTo>
                  <a:pt x="139955" y="1399546"/>
                </a:lnTo>
                <a:cubicBezTo>
                  <a:pt x="62660" y="1399546"/>
                  <a:pt x="0" y="1336886"/>
                  <a:pt x="0" y="1259591"/>
                </a:cubicBezTo>
                <a:lnTo>
                  <a:pt x="0" y="139955"/>
                </a:lnTo>
                <a:close/>
              </a:path>
            </a:pathLst>
          </a:cu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1471" tIns="63851" rIns="71471" bIns="63851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Generar reportes diarios y mensuales.</a:t>
            </a:r>
          </a:p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Registrar y consultas datos de los pacientes en el sistema automatizado</a:t>
            </a:r>
          </a:p>
        </p:txBody>
      </p:sp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7978084C-65DC-3D92-BD02-E1D8CDA2EC81}"/>
              </a:ext>
            </a:extLst>
          </p:cNvPr>
          <p:cNvSpPr/>
          <p:nvPr/>
        </p:nvSpPr>
        <p:spPr>
          <a:xfrm>
            <a:off x="7904378" y="6473253"/>
            <a:ext cx="2576721" cy="1399546"/>
          </a:xfrm>
          <a:custGeom>
            <a:avLst/>
            <a:gdLst>
              <a:gd name="connsiteX0" fmla="*/ 0 w 2576721"/>
              <a:gd name="connsiteY0" fmla="*/ 139955 h 1399546"/>
              <a:gd name="connsiteX1" fmla="*/ 139955 w 2576721"/>
              <a:gd name="connsiteY1" fmla="*/ 0 h 1399546"/>
              <a:gd name="connsiteX2" fmla="*/ 2436766 w 2576721"/>
              <a:gd name="connsiteY2" fmla="*/ 0 h 1399546"/>
              <a:gd name="connsiteX3" fmla="*/ 2576721 w 2576721"/>
              <a:gd name="connsiteY3" fmla="*/ 139955 h 1399546"/>
              <a:gd name="connsiteX4" fmla="*/ 2576721 w 2576721"/>
              <a:gd name="connsiteY4" fmla="*/ 1259591 h 1399546"/>
              <a:gd name="connsiteX5" fmla="*/ 2436766 w 2576721"/>
              <a:gd name="connsiteY5" fmla="*/ 1399546 h 1399546"/>
              <a:gd name="connsiteX6" fmla="*/ 139955 w 2576721"/>
              <a:gd name="connsiteY6" fmla="*/ 1399546 h 1399546"/>
              <a:gd name="connsiteX7" fmla="*/ 0 w 2576721"/>
              <a:gd name="connsiteY7" fmla="*/ 1259591 h 1399546"/>
              <a:gd name="connsiteX8" fmla="*/ 0 w 2576721"/>
              <a:gd name="connsiteY8" fmla="*/ 139955 h 1399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6721" h="1399546">
                <a:moveTo>
                  <a:pt x="0" y="139955"/>
                </a:moveTo>
                <a:cubicBezTo>
                  <a:pt x="0" y="62660"/>
                  <a:pt x="62660" y="0"/>
                  <a:pt x="139955" y="0"/>
                </a:cubicBezTo>
                <a:lnTo>
                  <a:pt x="2436766" y="0"/>
                </a:lnTo>
                <a:cubicBezTo>
                  <a:pt x="2514061" y="0"/>
                  <a:pt x="2576721" y="62660"/>
                  <a:pt x="2576721" y="139955"/>
                </a:cubicBezTo>
                <a:lnTo>
                  <a:pt x="2576721" y="1259591"/>
                </a:lnTo>
                <a:cubicBezTo>
                  <a:pt x="2576721" y="1336886"/>
                  <a:pt x="2514061" y="1399546"/>
                  <a:pt x="2436766" y="1399546"/>
                </a:cubicBezTo>
                <a:lnTo>
                  <a:pt x="139955" y="1399546"/>
                </a:lnTo>
                <a:cubicBezTo>
                  <a:pt x="62660" y="1399546"/>
                  <a:pt x="0" y="1336886"/>
                  <a:pt x="0" y="1259591"/>
                </a:cubicBezTo>
                <a:lnTo>
                  <a:pt x="0" y="139955"/>
                </a:lnTo>
                <a:close/>
              </a:path>
            </a:pathLst>
          </a:cu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1471" tIns="63851" rIns="71471" bIns="63851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Pruebas funcionales de la interfaz y base de datos.</a:t>
            </a:r>
          </a:p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12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Revisión y validación por el equipo hospitalario.</a:t>
            </a:r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C5C48E0B-39F9-13A4-C4BD-B2D226FB750B}"/>
              </a:ext>
            </a:extLst>
          </p:cNvPr>
          <p:cNvSpPr/>
          <p:nvPr/>
        </p:nvSpPr>
        <p:spPr>
          <a:xfrm>
            <a:off x="11035610" y="1105776"/>
            <a:ext cx="3220902" cy="7123824"/>
          </a:xfrm>
          <a:custGeom>
            <a:avLst/>
            <a:gdLst>
              <a:gd name="connsiteX0" fmla="*/ 0 w 3220902"/>
              <a:gd name="connsiteY0" fmla="*/ 322090 h 7123824"/>
              <a:gd name="connsiteX1" fmla="*/ 322090 w 3220902"/>
              <a:gd name="connsiteY1" fmla="*/ 0 h 7123824"/>
              <a:gd name="connsiteX2" fmla="*/ 2898812 w 3220902"/>
              <a:gd name="connsiteY2" fmla="*/ 0 h 7123824"/>
              <a:gd name="connsiteX3" fmla="*/ 3220902 w 3220902"/>
              <a:gd name="connsiteY3" fmla="*/ 322090 h 7123824"/>
              <a:gd name="connsiteX4" fmla="*/ 3220902 w 3220902"/>
              <a:gd name="connsiteY4" fmla="*/ 6801734 h 7123824"/>
              <a:gd name="connsiteX5" fmla="*/ 2898812 w 3220902"/>
              <a:gd name="connsiteY5" fmla="*/ 7123824 h 7123824"/>
              <a:gd name="connsiteX6" fmla="*/ 322090 w 3220902"/>
              <a:gd name="connsiteY6" fmla="*/ 7123824 h 7123824"/>
              <a:gd name="connsiteX7" fmla="*/ 0 w 3220902"/>
              <a:gd name="connsiteY7" fmla="*/ 6801734 h 7123824"/>
              <a:gd name="connsiteX8" fmla="*/ 0 w 3220902"/>
              <a:gd name="connsiteY8" fmla="*/ 322090 h 712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20902" h="7123824">
                <a:moveTo>
                  <a:pt x="0" y="322090"/>
                </a:moveTo>
                <a:cubicBezTo>
                  <a:pt x="0" y="144205"/>
                  <a:pt x="144205" y="0"/>
                  <a:pt x="322090" y="0"/>
                </a:cubicBezTo>
                <a:lnTo>
                  <a:pt x="2898812" y="0"/>
                </a:lnTo>
                <a:cubicBezTo>
                  <a:pt x="3076697" y="0"/>
                  <a:pt x="3220902" y="144205"/>
                  <a:pt x="3220902" y="322090"/>
                </a:cubicBezTo>
                <a:lnTo>
                  <a:pt x="3220902" y="6801734"/>
                </a:lnTo>
                <a:cubicBezTo>
                  <a:pt x="3220902" y="6979619"/>
                  <a:pt x="3076697" y="7123824"/>
                  <a:pt x="2898812" y="7123824"/>
                </a:cubicBezTo>
                <a:lnTo>
                  <a:pt x="322090" y="7123824"/>
                </a:lnTo>
                <a:cubicBezTo>
                  <a:pt x="144205" y="7123824"/>
                  <a:pt x="0" y="6979619"/>
                  <a:pt x="0" y="6801734"/>
                </a:cubicBezTo>
                <a:lnTo>
                  <a:pt x="0" y="322090"/>
                </a:lnTo>
                <a:close/>
              </a:path>
            </a:pathLst>
          </a:cu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5093357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800" kern="1200" noProof="0" dirty="0">
                <a:latin typeface="Arial" panose="020B0604020202020204" pitchFamily="34" charset="0"/>
                <a:cs typeface="Arial" panose="020B0604020202020204" pitchFamily="34" charset="0"/>
              </a:rPr>
              <a:t>Supuesto</a:t>
            </a:r>
            <a:endParaRPr lang="es-VE" sz="5200" kern="1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11411719" y="3363092"/>
            <a:ext cx="2576722" cy="1532139"/>
          </a:xfrm>
          <a:prstGeom prst="roundRect">
            <a:avLst>
              <a:gd name="adj" fmla="val 10000"/>
            </a:avLst>
          </a:pr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VE" sz="1200" noProof="0" dirty="0"/>
          </a:p>
        </p:txBody>
      </p:sp>
      <p:sp>
        <p:nvSpPr>
          <p:cNvPr id="12" name="11 Rectángulo"/>
          <p:cNvSpPr/>
          <p:nvPr/>
        </p:nvSpPr>
        <p:spPr>
          <a:xfrm>
            <a:off x="11438732" y="3407966"/>
            <a:ext cx="2522696" cy="1442392"/>
          </a:xfrm>
          <a:prstGeom prst="rect">
            <a:avLst/>
          </a:prstGeom>
          <a:solidFill>
            <a:srgbClr val="3D3DFF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384" tIns="18288" rIns="24384" bIns="18288" numCol="1" spcCol="1270" anchor="ctr" anchorCtr="0">
            <a:noAutofit/>
          </a:bodyPr>
          <a:lstStyle/>
          <a:p>
            <a:pPr defTabSz="42672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000000"/>
              </a:buClr>
            </a:pPr>
            <a:r>
              <a:rPr lang="es-VE" sz="1200" noProof="0" dirty="0">
                <a:solidFill>
                  <a:srgbClr val="FFFFFF"/>
                </a:solidFill>
                <a:latin typeface="Arial"/>
                <a:sym typeface="Arial"/>
              </a:rPr>
              <a:t>Compromiso y apoyo por parte de la comunidad hospitalaria en la adopción del sistema.</a:t>
            </a:r>
          </a:p>
        </p:txBody>
      </p:sp>
      <p:sp>
        <p:nvSpPr>
          <p:cNvPr id="14" name="13 Rectángulo redondeado"/>
          <p:cNvSpPr/>
          <p:nvPr/>
        </p:nvSpPr>
        <p:spPr>
          <a:xfrm>
            <a:off x="11384705" y="5058224"/>
            <a:ext cx="2576722" cy="1203363"/>
          </a:xfrm>
          <a:prstGeom prst="roundRect">
            <a:avLst>
              <a:gd name="adj" fmla="val 10000"/>
            </a:avLst>
          </a:pr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VE" sz="1200" noProof="0" dirty="0"/>
          </a:p>
        </p:txBody>
      </p:sp>
      <p:sp>
        <p:nvSpPr>
          <p:cNvPr id="15" name="14 Rectángulo"/>
          <p:cNvSpPr/>
          <p:nvPr/>
        </p:nvSpPr>
        <p:spPr>
          <a:xfrm>
            <a:off x="11411718" y="5093468"/>
            <a:ext cx="2522696" cy="1132874"/>
          </a:xfrm>
          <a:prstGeom prst="rect">
            <a:avLst/>
          </a:prstGeom>
          <a:solidFill>
            <a:srgbClr val="3D3DFF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384" tIns="18288" rIns="24384" bIns="18288" numCol="1" spcCol="1270" anchor="ctr" anchorCtr="0">
            <a:noAutofit/>
          </a:bodyPr>
          <a:lstStyle/>
          <a:p>
            <a:pPr defTabSz="42672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000000"/>
              </a:buClr>
            </a:pPr>
            <a:r>
              <a:rPr lang="es-VE" sz="1200" noProof="0" dirty="0">
                <a:solidFill>
                  <a:srgbClr val="FFFFFF"/>
                </a:solidFill>
                <a:latin typeface="Arial"/>
                <a:sym typeface="Arial"/>
              </a:rPr>
              <a:t>Correcta gestión de documentación digital a través del sistema.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11411719" y="6430794"/>
            <a:ext cx="2576722" cy="922307"/>
          </a:xfrm>
          <a:prstGeom prst="roundRect">
            <a:avLst>
              <a:gd name="adj" fmla="val 10000"/>
            </a:avLst>
          </a:prstGeom>
          <a:solidFill>
            <a:srgbClr val="3D3D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VE" sz="1200" noProof="0" dirty="0"/>
          </a:p>
        </p:txBody>
      </p:sp>
      <p:sp>
        <p:nvSpPr>
          <p:cNvPr id="18" name="17 Rectángulo"/>
          <p:cNvSpPr/>
          <p:nvPr/>
        </p:nvSpPr>
        <p:spPr>
          <a:xfrm>
            <a:off x="11438732" y="6457807"/>
            <a:ext cx="2522696" cy="868281"/>
          </a:xfrm>
          <a:prstGeom prst="rect">
            <a:avLst/>
          </a:prstGeom>
          <a:solidFill>
            <a:srgbClr val="3D3DFF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384" tIns="18288" rIns="24384" bIns="18288" numCol="1" spcCol="1270" anchor="ctr" anchorCtr="0">
            <a:noAutofit/>
          </a:bodyPr>
          <a:lstStyle/>
          <a:p>
            <a:pPr defTabSz="42672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000000"/>
              </a:buClr>
            </a:pPr>
            <a:r>
              <a:rPr lang="es-VE" sz="1200" noProof="0" dirty="0">
                <a:solidFill>
                  <a:srgbClr val="FFFFFF"/>
                </a:solidFill>
                <a:latin typeface="Arial"/>
                <a:sym typeface="Arial"/>
              </a:rPr>
              <a:t>Aprobación del hospital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3591098" y="225534"/>
            <a:ext cx="8097982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5120" kern="0" noProof="0" dirty="0">
                <a:solidFill>
                  <a:srgbClr val="3D3DFF"/>
                </a:solidFill>
                <a:latin typeface="Arial"/>
                <a:cs typeface="Arial"/>
                <a:sym typeface="Arial"/>
              </a:rPr>
              <a:t>Matriz Del Marco Lógico</a:t>
            </a:r>
          </a:p>
        </p:txBody>
      </p:sp>
    </p:spTree>
    <p:extLst>
      <p:ext uri="{BB962C8B-B14F-4D97-AF65-F5344CB8AC3E}">
        <p14:creationId xmlns:p14="http://schemas.microsoft.com/office/powerpoint/2010/main" val="109571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47400859"/>
              </p:ext>
            </p:extLst>
          </p:nvPr>
        </p:nvGraphicFramePr>
        <p:xfrm>
          <a:off x="636989" y="1400844"/>
          <a:ext cx="13480397" cy="5002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5" name="14 Diagrama"/>
          <p:cNvGraphicFramePr/>
          <p:nvPr>
            <p:extLst>
              <p:ext uri="{D42A27DB-BD31-4B8C-83A1-F6EECF244321}">
                <p14:modId xmlns:p14="http://schemas.microsoft.com/office/powerpoint/2010/main" val="348356019"/>
              </p:ext>
            </p:extLst>
          </p:nvPr>
        </p:nvGraphicFramePr>
        <p:xfrm>
          <a:off x="605395" y="6080240"/>
          <a:ext cx="13470058" cy="1897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6" name="15 CuadroTexto"/>
          <p:cNvSpPr txBox="1"/>
          <p:nvPr/>
        </p:nvSpPr>
        <p:spPr>
          <a:xfrm>
            <a:off x="2545081" y="594361"/>
            <a:ext cx="1078991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463040">
              <a:buClr>
                <a:srgbClr val="000000"/>
              </a:buClr>
            </a:pPr>
            <a:r>
              <a:rPr lang="es-VE" sz="2880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Fases de la metodología de Procesos Unificado Rational (RUP)</a:t>
            </a:r>
          </a:p>
        </p:txBody>
      </p:sp>
      <p:sp>
        <p:nvSpPr>
          <p:cNvPr id="3" name="21 CuadroTexto">
            <a:extLst>
              <a:ext uri="{FF2B5EF4-FFF2-40B4-BE49-F238E27FC236}">
                <a16:creationId xmlns:a16="http://schemas.microsoft.com/office/drawing/2014/main" id="{DF6C7432-F32D-CB5C-E815-13A4D99D1D17}"/>
              </a:ext>
            </a:extLst>
          </p:cNvPr>
          <p:cNvSpPr txBox="1"/>
          <p:nvPr/>
        </p:nvSpPr>
        <p:spPr>
          <a:xfrm>
            <a:off x="3591098" y="225534"/>
            <a:ext cx="7163197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5120" kern="0" dirty="0">
                <a:solidFill>
                  <a:srgbClr val="3D3DFF"/>
                </a:solidFill>
                <a:latin typeface="Arial"/>
                <a:cs typeface="Arial"/>
                <a:sym typeface="Arial"/>
              </a:rPr>
              <a:t>Fases De RUP</a:t>
            </a:r>
            <a:endParaRPr lang="es-VE" sz="5120" kern="0" noProof="0" dirty="0">
              <a:solidFill>
                <a:srgbClr val="3D3DFF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0465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893583" y="350520"/>
            <a:ext cx="11247113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1463040">
              <a:buClr>
                <a:srgbClr val="000000"/>
              </a:buClr>
              <a:defRPr sz="5120" kern="0">
                <a:solidFill>
                  <a:srgbClr val="6666FF"/>
                </a:solidFill>
                <a:latin typeface="Arial"/>
                <a:cs typeface="Arial"/>
              </a:defRPr>
            </a:lvl1pPr>
          </a:lstStyle>
          <a:p>
            <a:r>
              <a:rPr lang="es-VE" dirty="0">
                <a:solidFill>
                  <a:srgbClr val="3D3DFF"/>
                </a:solidFill>
                <a:sym typeface="Arial"/>
              </a:rPr>
              <a:t>Tipo Y Diseño De La Investigación</a:t>
            </a:r>
          </a:p>
        </p:txBody>
      </p:sp>
      <p:cxnSp>
        <p:nvCxnSpPr>
          <p:cNvPr id="23" name="22 Conector recto"/>
          <p:cNvCxnSpPr/>
          <p:nvPr/>
        </p:nvCxnSpPr>
        <p:spPr>
          <a:xfrm flipV="1">
            <a:off x="1893583" y="1219201"/>
            <a:ext cx="11231880" cy="15240"/>
          </a:xfrm>
          <a:prstGeom prst="line">
            <a:avLst/>
          </a:prstGeom>
          <a:ln w="50800">
            <a:solidFill>
              <a:srgbClr val="66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 de flecha"/>
          <p:cNvCxnSpPr/>
          <p:nvPr/>
        </p:nvCxnSpPr>
        <p:spPr>
          <a:xfrm>
            <a:off x="1893582" y="1219200"/>
            <a:ext cx="0" cy="36576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/>
          <p:nvPr/>
        </p:nvCxnSpPr>
        <p:spPr>
          <a:xfrm>
            <a:off x="13125462" y="1203960"/>
            <a:ext cx="0" cy="36576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8" name="2047 CuadroTexto"/>
          <p:cNvSpPr txBox="1"/>
          <p:nvPr/>
        </p:nvSpPr>
        <p:spPr>
          <a:xfrm>
            <a:off x="232422" y="1625917"/>
            <a:ext cx="332232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463040">
              <a:buClr>
                <a:srgbClr val="000000"/>
              </a:buClr>
            </a:pPr>
            <a:r>
              <a:rPr lang="es-VE" sz="2240" kern="0" noProof="0" dirty="0">
                <a:latin typeface="Arial"/>
                <a:cs typeface="Arial"/>
                <a:sym typeface="Arial"/>
              </a:rPr>
              <a:t>Investigación proyectiva</a:t>
            </a:r>
          </a:p>
        </p:txBody>
      </p:sp>
      <p:cxnSp>
        <p:nvCxnSpPr>
          <p:cNvPr id="35" name="34 Conector recto de flecha"/>
          <p:cNvCxnSpPr/>
          <p:nvPr/>
        </p:nvCxnSpPr>
        <p:spPr>
          <a:xfrm>
            <a:off x="5452122" y="1234440"/>
            <a:ext cx="0" cy="36576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9" name="2048 CuadroTexto"/>
          <p:cNvSpPr txBox="1"/>
          <p:nvPr/>
        </p:nvSpPr>
        <p:spPr>
          <a:xfrm>
            <a:off x="3554743" y="1625917"/>
            <a:ext cx="376428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kern="0" noProof="0" dirty="0">
                <a:latin typeface="Arial"/>
                <a:cs typeface="Arial"/>
                <a:sym typeface="Arial"/>
              </a:rPr>
              <a:t>Investigación de campo</a:t>
            </a:r>
          </a:p>
        </p:txBody>
      </p:sp>
      <p:cxnSp>
        <p:nvCxnSpPr>
          <p:cNvPr id="38" name="37 Conector recto de flecha"/>
          <p:cNvCxnSpPr/>
          <p:nvPr/>
        </p:nvCxnSpPr>
        <p:spPr>
          <a:xfrm>
            <a:off x="9578363" y="1226819"/>
            <a:ext cx="0" cy="36576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1" name="2050 CuadroTexto"/>
          <p:cNvSpPr txBox="1"/>
          <p:nvPr/>
        </p:nvSpPr>
        <p:spPr>
          <a:xfrm>
            <a:off x="8717303" y="1623059"/>
            <a:ext cx="172212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kern="0" noProof="0" dirty="0">
                <a:latin typeface="Arial"/>
                <a:cs typeface="Arial"/>
                <a:sym typeface="Arial"/>
              </a:rPr>
              <a:t>Población </a:t>
            </a:r>
          </a:p>
        </p:txBody>
      </p:sp>
      <p:sp>
        <p:nvSpPr>
          <p:cNvPr id="2052" name="2051 CuadroTexto"/>
          <p:cNvSpPr txBox="1"/>
          <p:nvPr/>
        </p:nvSpPr>
        <p:spPr>
          <a:xfrm>
            <a:off x="12294882" y="1625917"/>
            <a:ext cx="166116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kern="0" noProof="0" dirty="0">
                <a:latin typeface="Arial"/>
                <a:cs typeface="Arial"/>
                <a:sym typeface="Arial"/>
              </a:rPr>
              <a:t>Muestra </a:t>
            </a:r>
          </a:p>
        </p:txBody>
      </p:sp>
      <p:sp>
        <p:nvSpPr>
          <p:cNvPr id="2053" name="2052 CuadroTexto"/>
          <p:cNvSpPr txBox="1"/>
          <p:nvPr/>
        </p:nvSpPr>
        <p:spPr>
          <a:xfrm>
            <a:off x="7551444" y="2513839"/>
            <a:ext cx="4053838" cy="78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kern="0" noProof="0" dirty="0">
                <a:latin typeface="Arial"/>
                <a:cs typeface="Arial"/>
                <a:sym typeface="Arial"/>
              </a:rPr>
              <a:t>Diccionario Enciclopédico Visual</a:t>
            </a:r>
          </a:p>
        </p:txBody>
      </p:sp>
      <p:cxnSp>
        <p:nvCxnSpPr>
          <p:cNvPr id="44" name="43 Conector recto de flecha"/>
          <p:cNvCxnSpPr/>
          <p:nvPr/>
        </p:nvCxnSpPr>
        <p:spPr>
          <a:xfrm>
            <a:off x="9578355" y="2100262"/>
            <a:ext cx="0" cy="36576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6" name="2055 CuadroTexto"/>
          <p:cNvSpPr txBox="1"/>
          <p:nvPr/>
        </p:nvSpPr>
        <p:spPr>
          <a:xfrm>
            <a:off x="110502" y="2453640"/>
            <a:ext cx="356616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kern="0" noProof="0" dirty="0" err="1">
                <a:latin typeface="Arial"/>
                <a:cs typeface="Arial"/>
                <a:sym typeface="Arial"/>
              </a:rPr>
              <a:t>Húrtado</a:t>
            </a:r>
            <a:r>
              <a:rPr lang="es-VE" sz="2240" kern="0" noProof="0" dirty="0">
                <a:latin typeface="Arial"/>
                <a:cs typeface="Arial"/>
                <a:sym typeface="Arial"/>
              </a:rPr>
              <a:t> (2010). </a:t>
            </a:r>
          </a:p>
        </p:txBody>
      </p:sp>
      <p:cxnSp>
        <p:nvCxnSpPr>
          <p:cNvPr id="48" name="47 Conector recto de flecha"/>
          <p:cNvCxnSpPr/>
          <p:nvPr/>
        </p:nvCxnSpPr>
        <p:spPr>
          <a:xfrm>
            <a:off x="1893582" y="2087880"/>
            <a:ext cx="0" cy="36576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 de flecha"/>
          <p:cNvCxnSpPr/>
          <p:nvPr/>
        </p:nvCxnSpPr>
        <p:spPr>
          <a:xfrm>
            <a:off x="1893582" y="3003328"/>
            <a:ext cx="0" cy="36576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9" name="2058 CuadroTexto"/>
          <p:cNvSpPr txBox="1"/>
          <p:nvPr/>
        </p:nvSpPr>
        <p:spPr>
          <a:xfrm>
            <a:off x="293382" y="3413570"/>
            <a:ext cx="320040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kern="0" noProof="0" dirty="0">
                <a:latin typeface="Arial"/>
                <a:cs typeface="Arial"/>
                <a:sym typeface="Arial"/>
              </a:rPr>
              <a:t>Efectivo y sustentable</a:t>
            </a:r>
          </a:p>
        </p:txBody>
      </p:sp>
      <p:cxnSp>
        <p:nvCxnSpPr>
          <p:cNvPr id="56" name="55 Conector recto de flecha"/>
          <p:cNvCxnSpPr/>
          <p:nvPr/>
        </p:nvCxnSpPr>
        <p:spPr>
          <a:xfrm>
            <a:off x="5436882" y="2087880"/>
            <a:ext cx="0" cy="36576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0" name="2059 CuadroTexto"/>
          <p:cNvSpPr txBox="1"/>
          <p:nvPr/>
        </p:nvSpPr>
        <p:spPr>
          <a:xfrm>
            <a:off x="3750007" y="3382674"/>
            <a:ext cx="3571877" cy="78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kern="0" noProof="0" dirty="0">
                <a:latin typeface="Arial"/>
                <a:cs typeface="Arial"/>
                <a:sym typeface="Arial"/>
              </a:rPr>
              <a:t>Entrevista, observaciones directas y encuestas</a:t>
            </a:r>
          </a:p>
        </p:txBody>
      </p:sp>
      <p:sp>
        <p:nvSpPr>
          <p:cNvPr id="59" name="58 CuadroTexto"/>
          <p:cNvSpPr txBox="1"/>
          <p:nvPr/>
        </p:nvSpPr>
        <p:spPr>
          <a:xfrm>
            <a:off x="4008132" y="2510885"/>
            <a:ext cx="2823211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kern="0" noProof="0" dirty="0">
                <a:latin typeface="Arial"/>
                <a:cs typeface="Arial"/>
                <a:sym typeface="Arial"/>
              </a:rPr>
              <a:t>Arias (2012)</a:t>
            </a:r>
          </a:p>
        </p:txBody>
      </p:sp>
      <p:cxnSp>
        <p:nvCxnSpPr>
          <p:cNvPr id="60" name="59 Conector recto de flecha"/>
          <p:cNvCxnSpPr/>
          <p:nvPr/>
        </p:nvCxnSpPr>
        <p:spPr>
          <a:xfrm>
            <a:off x="5412115" y="3003328"/>
            <a:ext cx="0" cy="36576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1" name="2060 CuadroTexto"/>
          <p:cNvSpPr txBox="1"/>
          <p:nvPr/>
        </p:nvSpPr>
        <p:spPr>
          <a:xfrm>
            <a:off x="8451076" y="3773550"/>
            <a:ext cx="2548880" cy="78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kern="0" noProof="0" dirty="0">
                <a:latin typeface="Arial"/>
                <a:cs typeface="Arial"/>
                <a:sym typeface="Arial"/>
              </a:rPr>
              <a:t>Departamento de estadística</a:t>
            </a:r>
          </a:p>
        </p:txBody>
      </p:sp>
      <p:cxnSp>
        <p:nvCxnSpPr>
          <p:cNvPr id="62" name="61 Conector recto de flecha"/>
          <p:cNvCxnSpPr/>
          <p:nvPr/>
        </p:nvCxnSpPr>
        <p:spPr>
          <a:xfrm>
            <a:off x="9578355" y="3350990"/>
            <a:ext cx="0" cy="36576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2" name="2061 CuadroTexto"/>
          <p:cNvSpPr txBox="1"/>
          <p:nvPr/>
        </p:nvSpPr>
        <p:spPr>
          <a:xfrm>
            <a:off x="11875779" y="2466023"/>
            <a:ext cx="252984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kern="0" noProof="0" dirty="0" err="1">
                <a:latin typeface="Arial"/>
                <a:cs typeface="Arial"/>
                <a:sym typeface="Arial"/>
              </a:rPr>
              <a:t>Belestrini</a:t>
            </a:r>
            <a:r>
              <a:rPr lang="es-VE" sz="2240" kern="0" noProof="0" dirty="0">
                <a:latin typeface="Arial"/>
                <a:cs typeface="Arial"/>
                <a:sym typeface="Arial"/>
              </a:rPr>
              <a:t> (</a:t>
            </a:r>
            <a:r>
              <a:rPr lang="es-VE" sz="2240" kern="0" dirty="0">
                <a:latin typeface="Arial"/>
                <a:cs typeface="Arial"/>
                <a:sym typeface="Arial"/>
              </a:rPr>
              <a:t>2009</a:t>
            </a:r>
            <a:r>
              <a:rPr lang="es-VE" sz="2240" kern="0" noProof="0" dirty="0">
                <a:latin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64" name="63 Conector recto de flecha"/>
          <p:cNvCxnSpPr/>
          <p:nvPr/>
        </p:nvCxnSpPr>
        <p:spPr>
          <a:xfrm>
            <a:off x="13125462" y="2087880"/>
            <a:ext cx="0" cy="36576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3" name="2062 CuadroTexto"/>
          <p:cNvSpPr txBox="1"/>
          <p:nvPr/>
        </p:nvSpPr>
        <p:spPr>
          <a:xfrm>
            <a:off x="11578601" y="3637936"/>
            <a:ext cx="3093720" cy="78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kern="0" noProof="0" dirty="0">
                <a:latin typeface="Arial"/>
                <a:cs typeface="Arial"/>
                <a:sym typeface="Arial"/>
              </a:rPr>
              <a:t>Cantidad de </a:t>
            </a:r>
          </a:p>
          <a:p>
            <a:pPr algn="ctr" defTabSz="1463040">
              <a:buClr>
                <a:srgbClr val="000000"/>
              </a:buClr>
            </a:pPr>
            <a:r>
              <a:rPr lang="es-VE" sz="2240" kern="0" noProof="0" dirty="0">
                <a:latin typeface="Arial"/>
                <a:cs typeface="Arial"/>
                <a:sym typeface="Arial"/>
              </a:rPr>
              <a:t>personas</a:t>
            </a:r>
          </a:p>
        </p:txBody>
      </p:sp>
      <p:cxnSp>
        <p:nvCxnSpPr>
          <p:cNvPr id="66" name="65 Conector recto de flecha"/>
          <p:cNvCxnSpPr/>
          <p:nvPr/>
        </p:nvCxnSpPr>
        <p:spPr>
          <a:xfrm>
            <a:off x="13159761" y="3159060"/>
            <a:ext cx="0" cy="36576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6" name="2065 Conector recto"/>
          <p:cNvCxnSpPr>
            <a:cxnSpLocks/>
            <a:stCxn id="5" idx="2"/>
          </p:cNvCxnSpPr>
          <p:nvPr/>
        </p:nvCxnSpPr>
        <p:spPr>
          <a:xfrm flipH="1" flipV="1">
            <a:off x="7284718" y="1188721"/>
            <a:ext cx="232422" cy="42040"/>
          </a:xfrm>
          <a:prstGeom prst="line">
            <a:avLst/>
          </a:prstGeom>
          <a:ln w="50800">
            <a:solidFill>
              <a:srgbClr val="66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7" name="2066 CuadroTexto"/>
          <p:cNvSpPr txBox="1"/>
          <p:nvPr/>
        </p:nvSpPr>
        <p:spPr>
          <a:xfrm>
            <a:off x="293382" y="4478238"/>
            <a:ext cx="13662660" cy="166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1463040">
              <a:buClr>
                <a:srgbClr val="000000"/>
              </a:buClr>
              <a:defRPr sz="5120" kern="0">
                <a:solidFill>
                  <a:srgbClr val="6666FF"/>
                </a:solidFill>
                <a:latin typeface="Arial"/>
                <a:cs typeface="Arial"/>
              </a:defRPr>
            </a:lvl1pPr>
          </a:lstStyle>
          <a:p>
            <a:r>
              <a:rPr lang="es-VE" dirty="0">
                <a:solidFill>
                  <a:srgbClr val="3D3DFF"/>
                </a:solidFill>
                <a:sym typeface="Arial"/>
              </a:rPr>
              <a:t>Técnicas </a:t>
            </a:r>
            <a:r>
              <a:rPr lang="es-VE">
                <a:solidFill>
                  <a:srgbClr val="3D3DFF"/>
                </a:solidFill>
                <a:sym typeface="Arial"/>
              </a:rPr>
              <a:t>E Instrumentos </a:t>
            </a:r>
            <a:r>
              <a:rPr lang="es-VE" dirty="0">
                <a:solidFill>
                  <a:srgbClr val="3D3DFF"/>
                </a:solidFill>
                <a:sym typeface="Arial"/>
              </a:rPr>
              <a:t>De Recolección De Datos </a:t>
            </a:r>
          </a:p>
        </p:txBody>
      </p:sp>
      <p:sp>
        <p:nvSpPr>
          <p:cNvPr id="2069" name="2068 CuadroTexto"/>
          <p:cNvSpPr txBox="1"/>
          <p:nvPr/>
        </p:nvSpPr>
        <p:spPr>
          <a:xfrm>
            <a:off x="2971229" y="6321942"/>
            <a:ext cx="2557105" cy="78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b="1" kern="0" noProof="0" dirty="0">
                <a:latin typeface="Arial"/>
                <a:cs typeface="Arial"/>
                <a:sym typeface="Arial"/>
              </a:rPr>
              <a:t>Observación directa</a:t>
            </a:r>
          </a:p>
        </p:txBody>
      </p:sp>
      <p:sp>
        <p:nvSpPr>
          <p:cNvPr id="2070" name="2069 CuadroTexto"/>
          <p:cNvSpPr txBox="1"/>
          <p:nvPr/>
        </p:nvSpPr>
        <p:spPr>
          <a:xfrm>
            <a:off x="5814556" y="7506465"/>
            <a:ext cx="263652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b="1" kern="0" noProof="0" dirty="0">
                <a:latin typeface="Arial"/>
                <a:cs typeface="Arial"/>
                <a:sym typeface="Arial"/>
              </a:rPr>
              <a:t>Encuesta</a:t>
            </a:r>
          </a:p>
        </p:txBody>
      </p:sp>
      <p:sp>
        <p:nvSpPr>
          <p:cNvPr id="2071" name="2070 CuadroTexto"/>
          <p:cNvSpPr txBox="1"/>
          <p:nvPr/>
        </p:nvSpPr>
        <p:spPr>
          <a:xfrm>
            <a:off x="8451076" y="6458638"/>
            <a:ext cx="2254558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2240" b="1" kern="0" noProof="0" dirty="0">
                <a:latin typeface="Arial"/>
                <a:cs typeface="Arial"/>
                <a:sym typeface="Arial"/>
              </a:rPr>
              <a:t>Entrevista</a:t>
            </a:r>
          </a:p>
        </p:txBody>
      </p:sp>
      <p:cxnSp>
        <p:nvCxnSpPr>
          <p:cNvPr id="4" name="61 Conector recto de flecha">
            <a:extLst>
              <a:ext uri="{FF2B5EF4-FFF2-40B4-BE49-F238E27FC236}">
                <a16:creationId xmlns:a16="http://schemas.microsoft.com/office/drawing/2014/main" id="{A7F81251-A741-A478-CEBD-E3B569CABB11}"/>
              </a:ext>
            </a:extLst>
          </p:cNvPr>
          <p:cNvCxnSpPr>
            <a:cxnSpLocks/>
          </p:cNvCxnSpPr>
          <p:nvPr/>
        </p:nvCxnSpPr>
        <p:spPr>
          <a:xfrm>
            <a:off x="7924800" y="6146387"/>
            <a:ext cx="867830" cy="564870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61 Conector recto de flecha">
            <a:extLst>
              <a:ext uri="{FF2B5EF4-FFF2-40B4-BE49-F238E27FC236}">
                <a16:creationId xmlns:a16="http://schemas.microsoft.com/office/drawing/2014/main" id="{E921E4F9-EC9A-09F7-A8AD-DA2B1A9999BB}"/>
              </a:ext>
            </a:extLst>
          </p:cNvPr>
          <p:cNvCxnSpPr>
            <a:cxnSpLocks/>
          </p:cNvCxnSpPr>
          <p:nvPr/>
        </p:nvCxnSpPr>
        <p:spPr>
          <a:xfrm flipH="1">
            <a:off x="5452122" y="6146387"/>
            <a:ext cx="857238" cy="433317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61 Conector recto de flecha">
            <a:extLst>
              <a:ext uri="{FF2B5EF4-FFF2-40B4-BE49-F238E27FC236}">
                <a16:creationId xmlns:a16="http://schemas.microsoft.com/office/drawing/2014/main" id="{576EAE24-51C1-CD26-11E1-64BB30725929}"/>
              </a:ext>
            </a:extLst>
          </p:cNvPr>
          <p:cNvCxnSpPr>
            <a:cxnSpLocks/>
          </p:cNvCxnSpPr>
          <p:nvPr/>
        </p:nvCxnSpPr>
        <p:spPr>
          <a:xfrm>
            <a:off x="7110252" y="6271659"/>
            <a:ext cx="0" cy="1074021"/>
          </a:xfrm>
          <a:prstGeom prst="straightConnector1">
            <a:avLst/>
          </a:prstGeom>
          <a:ln w="50800">
            <a:solidFill>
              <a:srgbClr val="66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798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3489961" y="365761"/>
            <a:ext cx="7025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63040">
              <a:buClr>
                <a:srgbClr val="000000"/>
              </a:buClr>
            </a:pPr>
            <a:r>
              <a:rPr lang="es-VE" sz="3200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Estudio de factibilidad</a:t>
            </a:r>
          </a:p>
        </p:txBody>
      </p:sp>
      <p:graphicFrame>
        <p:nvGraphicFramePr>
          <p:cNvPr id="5" name="4 Diagrama"/>
          <p:cNvGraphicFramePr/>
          <p:nvPr>
            <p:extLst>
              <p:ext uri="{D42A27DB-BD31-4B8C-83A1-F6EECF244321}">
                <p14:modId xmlns:p14="http://schemas.microsoft.com/office/powerpoint/2010/main" val="2566018270"/>
              </p:ext>
            </p:extLst>
          </p:nvPr>
        </p:nvGraphicFramePr>
        <p:xfrm>
          <a:off x="1304853" y="1647207"/>
          <a:ext cx="12020694" cy="591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F756EF25-2EDD-CC9E-0485-2305D94712CA}"/>
              </a:ext>
            </a:extLst>
          </p:cNvPr>
          <p:cNvSpPr/>
          <p:nvPr/>
        </p:nvSpPr>
        <p:spPr>
          <a:xfrm>
            <a:off x="3907572" y="586164"/>
            <a:ext cx="619041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600"/>
              </a:lnSpc>
            </a:pPr>
            <a:r>
              <a:rPr lang="es-VE" sz="4451" b="1" noProof="0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Estudio De Factibilidad</a:t>
            </a:r>
            <a:endParaRPr lang="es-VE" sz="445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42D1-B8E2-409B-BE63-6AFA39E3E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456B0-86DA-CB51-7413-CB209F2D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074" y="1831332"/>
            <a:ext cx="9234252" cy="701731"/>
          </a:xfrm>
        </p:spPr>
        <p:txBody>
          <a:bodyPr wrap="square">
            <a:spAutoFit/>
          </a:bodyPr>
          <a:lstStyle/>
          <a:p>
            <a:r>
              <a:rPr lang="es-VE" sz="4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Cuantificación De Los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6229D1-A667-395D-CDD2-BBEFBCA86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02" y="2636690"/>
            <a:ext cx="12618720" cy="424732"/>
          </a:xfrm>
        </p:spPr>
        <p:txBody>
          <a:bodyPr>
            <a:spAutoFit/>
          </a:bodyPr>
          <a:lstStyle/>
          <a:p>
            <a:r>
              <a:rPr lang="es-E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Ítem 1. ¿Estás de acuerdo con la implementación del sistema automatizado?</a:t>
            </a:r>
            <a:endParaRPr lang="es-VE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FFA91C7-7A2F-14D8-9FBA-9BE3291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306210"/>
              </p:ext>
            </p:extLst>
          </p:nvPr>
        </p:nvGraphicFramePr>
        <p:xfrm>
          <a:off x="432436" y="3632958"/>
          <a:ext cx="7964804" cy="381810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482192">
                  <a:extLst>
                    <a:ext uri="{9D8B030D-6E8A-4147-A177-3AD203B41FA5}">
                      <a16:colId xmlns:a16="http://schemas.microsoft.com/office/drawing/2014/main" val="1127648128"/>
                    </a:ext>
                  </a:extLst>
                </a:gridCol>
                <a:gridCol w="3224284">
                  <a:extLst>
                    <a:ext uri="{9D8B030D-6E8A-4147-A177-3AD203B41FA5}">
                      <a16:colId xmlns:a16="http://schemas.microsoft.com/office/drawing/2014/main" val="1061974371"/>
                    </a:ext>
                  </a:extLst>
                </a:gridCol>
                <a:gridCol w="3258328">
                  <a:extLst>
                    <a:ext uri="{9D8B030D-6E8A-4147-A177-3AD203B41FA5}">
                      <a16:colId xmlns:a16="http://schemas.microsoft.com/office/drawing/2014/main" val="576324791"/>
                    </a:ext>
                  </a:extLst>
                </a:gridCol>
              </a:tblGrid>
              <a:tr h="1612320">
                <a:tc>
                  <a:txBody>
                    <a:bodyPr/>
                    <a:lstStyle/>
                    <a:p>
                      <a:pPr algn="l"/>
                      <a:endParaRPr lang="es-VE" sz="2400" b="1" noProof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Sí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84662"/>
                  </a:ext>
                </a:extLst>
              </a:tr>
              <a:tr h="11021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600491"/>
                  </a:ext>
                </a:extLst>
              </a:tr>
              <a:tr h="11035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704794"/>
                  </a:ext>
                </a:extLst>
              </a:tr>
            </a:tbl>
          </a:graphicData>
        </a:graphic>
      </p:graphicFrame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3B28D9D7-7121-47E1-DA2D-9A2868570B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8237552"/>
              </p:ext>
            </p:extLst>
          </p:nvPr>
        </p:nvGraphicFramePr>
        <p:xfrm>
          <a:off x="8871199" y="3404717"/>
          <a:ext cx="3904345" cy="4046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9F69D6F2-046D-2258-2B76-047778C779E6}"/>
              </a:ext>
            </a:extLst>
          </p:cNvPr>
          <p:cNvSpPr>
            <a:spLocks/>
          </p:cNvSpPr>
          <p:nvPr/>
        </p:nvSpPr>
        <p:spPr>
          <a:xfrm>
            <a:off x="3807028" y="440437"/>
            <a:ext cx="7016344" cy="115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defTabSz="1463040">
              <a:lnSpc>
                <a:spcPts val="8960"/>
              </a:lnSpc>
              <a:buClr>
                <a:srgbClr val="000000"/>
              </a:buClr>
            </a:pPr>
            <a:r>
              <a:rPr lang="es-VE" sz="8640" b="1" kern="0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  <a:sym typeface="Arial"/>
              </a:rPr>
              <a:t>CAPITULO IV</a:t>
            </a:r>
          </a:p>
        </p:txBody>
      </p:sp>
    </p:spTree>
    <p:extLst>
      <p:ext uri="{BB962C8B-B14F-4D97-AF65-F5344CB8AC3E}">
        <p14:creationId xmlns:p14="http://schemas.microsoft.com/office/powerpoint/2010/main" val="1699165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5692-8220-E8F7-9512-BF44F336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8A5D3-2280-88C5-13D8-C75D1B945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074" y="1831332"/>
            <a:ext cx="9234252" cy="701731"/>
          </a:xfrm>
        </p:spPr>
        <p:txBody>
          <a:bodyPr wrap="square">
            <a:spAutoFit/>
          </a:bodyPr>
          <a:lstStyle/>
          <a:p>
            <a:r>
              <a:rPr lang="es-VE" sz="4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Cuantificación De Los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829E7E-9315-AAD2-3826-2AE415698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02" y="2636690"/>
            <a:ext cx="12618720" cy="424732"/>
          </a:xfrm>
        </p:spPr>
        <p:txBody>
          <a:bodyPr>
            <a:spAutoFit/>
          </a:bodyPr>
          <a:lstStyle/>
          <a:p>
            <a:r>
              <a:rPr lang="es-E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Ítem 2. ¿Poseen acceso a internet?</a:t>
            </a:r>
            <a:endParaRPr lang="es-VE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B4198F6-8D8D-03FC-A05D-4AEAC207B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201568"/>
              </p:ext>
            </p:extLst>
          </p:nvPr>
        </p:nvGraphicFramePr>
        <p:xfrm>
          <a:off x="432436" y="3632958"/>
          <a:ext cx="7964804" cy="381810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482192">
                  <a:extLst>
                    <a:ext uri="{9D8B030D-6E8A-4147-A177-3AD203B41FA5}">
                      <a16:colId xmlns:a16="http://schemas.microsoft.com/office/drawing/2014/main" val="1127648128"/>
                    </a:ext>
                  </a:extLst>
                </a:gridCol>
                <a:gridCol w="3224284">
                  <a:extLst>
                    <a:ext uri="{9D8B030D-6E8A-4147-A177-3AD203B41FA5}">
                      <a16:colId xmlns:a16="http://schemas.microsoft.com/office/drawing/2014/main" val="1061974371"/>
                    </a:ext>
                  </a:extLst>
                </a:gridCol>
                <a:gridCol w="3258328">
                  <a:extLst>
                    <a:ext uri="{9D8B030D-6E8A-4147-A177-3AD203B41FA5}">
                      <a16:colId xmlns:a16="http://schemas.microsoft.com/office/drawing/2014/main" val="576324791"/>
                    </a:ext>
                  </a:extLst>
                </a:gridCol>
              </a:tblGrid>
              <a:tr h="1612320">
                <a:tc>
                  <a:txBody>
                    <a:bodyPr/>
                    <a:lstStyle/>
                    <a:p>
                      <a:pPr algn="l"/>
                      <a:endParaRPr lang="es-VE" sz="2400" b="1" noProof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Sí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784662"/>
                  </a:ext>
                </a:extLst>
              </a:tr>
              <a:tr h="11021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600491"/>
                  </a:ext>
                </a:extLst>
              </a:tr>
              <a:tr h="11035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704794"/>
                  </a:ext>
                </a:extLst>
              </a:tr>
            </a:tbl>
          </a:graphicData>
        </a:graphic>
      </p:graphicFrame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4C2BEBC1-401D-8E20-70E1-9C0E2EA1E2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9926189"/>
              </p:ext>
            </p:extLst>
          </p:nvPr>
        </p:nvGraphicFramePr>
        <p:xfrm>
          <a:off x="8871199" y="3404717"/>
          <a:ext cx="3904345" cy="4046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5AA43805-AD81-12E6-31D8-14D3764703F6}"/>
              </a:ext>
            </a:extLst>
          </p:cNvPr>
          <p:cNvSpPr>
            <a:spLocks/>
          </p:cNvSpPr>
          <p:nvPr/>
        </p:nvSpPr>
        <p:spPr>
          <a:xfrm>
            <a:off x="3807028" y="440437"/>
            <a:ext cx="7016344" cy="115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defTabSz="1463040">
              <a:lnSpc>
                <a:spcPts val="8960"/>
              </a:lnSpc>
              <a:buClr>
                <a:srgbClr val="000000"/>
              </a:buClr>
            </a:pPr>
            <a:r>
              <a:rPr lang="es-VE" sz="8640" b="1" kern="0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  <a:sym typeface="Arial"/>
              </a:rPr>
              <a:t>CAPITULO IV</a:t>
            </a:r>
          </a:p>
        </p:txBody>
      </p:sp>
    </p:spTree>
    <p:extLst>
      <p:ext uri="{BB962C8B-B14F-4D97-AF65-F5344CB8AC3E}">
        <p14:creationId xmlns:p14="http://schemas.microsoft.com/office/powerpoint/2010/main" val="3009056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B0FE2-AA51-47A7-098D-709A5D0C8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DAB3D-082C-1526-DF22-96AC22F99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074" y="1831332"/>
            <a:ext cx="9234252" cy="701731"/>
          </a:xfrm>
        </p:spPr>
        <p:txBody>
          <a:bodyPr wrap="square">
            <a:spAutoFit/>
          </a:bodyPr>
          <a:lstStyle/>
          <a:p>
            <a:r>
              <a:rPr lang="es-VE" sz="4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Cuantificación De Los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D6C779-6543-7EC9-B46F-0355A1A05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02" y="2636690"/>
            <a:ext cx="12618720" cy="757130"/>
          </a:xfrm>
        </p:spPr>
        <p:txBody>
          <a:bodyPr>
            <a:spAutoFit/>
          </a:bodyPr>
          <a:lstStyle/>
          <a:p>
            <a:r>
              <a:rPr lang="es-E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Ítem 3. ¿Cómo crees que un sistema automatizado podría mejorar la eficiencia en el departamento de estadística?</a:t>
            </a:r>
            <a:endParaRPr lang="es-VE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71494571-5A1B-D34A-A4FC-FF61E76F4E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1943813"/>
              </p:ext>
            </p:extLst>
          </p:nvPr>
        </p:nvGraphicFramePr>
        <p:xfrm>
          <a:off x="11339529" y="4023360"/>
          <a:ext cx="2836758" cy="2939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C802DE54-A2EC-EDB8-B0EA-86B8786C0B04}"/>
              </a:ext>
            </a:extLst>
          </p:cNvPr>
          <p:cNvSpPr>
            <a:spLocks/>
          </p:cNvSpPr>
          <p:nvPr/>
        </p:nvSpPr>
        <p:spPr>
          <a:xfrm>
            <a:off x="3807028" y="440437"/>
            <a:ext cx="7016344" cy="115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defTabSz="1463040">
              <a:lnSpc>
                <a:spcPts val="8960"/>
              </a:lnSpc>
              <a:buClr>
                <a:srgbClr val="000000"/>
              </a:buClr>
            </a:pPr>
            <a:r>
              <a:rPr lang="es-VE" sz="8640" b="1" kern="0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  <a:sym typeface="Arial"/>
              </a:rPr>
              <a:t>CAPITULO IV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A4D0FA2-412F-F1EE-B5DD-DEFAEF54D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165648"/>
              </p:ext>
            </p:extLst>
          </p:nvPr>
        </p:nvGraphicFramePr>
        <p:xfrm>
          <a:off x="305351" y="3497447"/>
          <a:ext cx="10907702" cy="381810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216144">
                  <a:extLst>
                    <a:ext uri="{9D8B030D-6E8A-4147-A177-3AD203B41FA5}">
                      <a16:colId xmlns:a16="http://schemas.microsoft.com/office/drawing/2014/main" val="1918817957"/>
                    </a:ext>
                  </a:extLst>
                </a:gridCol>
                <a:gridCol w="2645537">
                  <a:extLst>
                    <a:ext uri="{9D8B030D-6E8A-4147-A177-3AD203B41FA5}">
                      <a16:colId xmlns:a16="http://schemas.microsoft.com/office/drawing/2014/main" val="780229548"/>
                    </a:ext>
                  </a:extLst>
                </a:gridCol>
                <a:gridCol w="2673470">
                  <a:extLst>
                    <a:ext uri="{9D8B030D-6E8A-4147-A177-3AD203B41FA5}">
                      <a16:colId xmlns:a16="http://schemas.microsoft.com/office/drawing/2014/main" val="487339448"/>
                    </a:ext>
                  </a:extLst>
                </a:gridCol>
                <a:gridCol w="3109571">
                  <a:extLst>
                    <a:ext uri="{9D8B030D-6E8A-4147-A177-3AD203B41FA5}">
                      <a16:colId xmlns:a16="http://schemas.microsoft.com/office/drawing/2014/main" val="1934454738"/>
                    </a:ext>
                  </a:extLst>
                </a:gridCol>
                <a:gridCol w="1262980">
                  <a:extLst>
                    <a:ext uri="{9D8B030D-6E8A-4147-A177-3AD203B41FA5}">
                      <a16:colId xmlns:a16="http://schemas.microsoft.com/office/drawing/2014/main" val="457859776"/>
                    </a:ext>
                  </a:extLst>
                </a:gridCol>
              </a:tblGrid>
              <a:tr h="1612320">
                <a:tc>
                  <a:txBody>
                    <a:bodyPr/>
                    <a:lstStyle/>
                    <a:p>
                      <a:pPr algn="l"/>
                      <a:endParaRPr lang="es-VE" sz="2400" b="1" noProof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Agilizando el proceso de registro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Reduciendo errores de datos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Facilitando acceso a la información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Otros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335263"/>
                  </a:ext>
                </a:extLst>
              </a:tr>
              <a:tr h="11021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363254"/>
                  </a:ext>
                </a:extLst>
              </a:tr>
              <a:tr h="11035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54371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221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80607-ED21-302F-72C8-B9DEE06E0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3A778-C558-2A3A-4925-C88CE4615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074" y="1831332"/>
            <a:ext cx="9234252" cy="701731"/>
          </a:xfrm>
        </p:spPr>
        <p:txBody>
          <a:bodyPr wrap="square">
            <a:spAutoFit/>
          </a:bodyPr>
          <a:lstStyle/>
          <a:p>
            <a:r>
              <a:rPr lang="es-VE" sz="4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Cuantificación De Los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95BE47-9B6A-C269-BBB7-F2A21ACC7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02" y="2636690"/>
            <a:ext cx="12618720" cy="757130"/>
          </a:xfrm>
        </p:spPr>
        <p:txBody>
          <a:bodyPr>
            <a:spAutoFit/>
          </a:bodyPr>
          <a:lstStyle/>
          <a:p>
            <a:r>
              <a:rPr lang="es-E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Ítem 4. ¿Qué funcionalidades consideras imprescindibles en un sistema automatizado para el registro y control de datos en un entorno hospitalario?</a:t>
            </a:r>
            <a:endParaRPr lang="es-VE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FAA64D15-ED50-3AC5-A3CD-77181C3963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3904903"/>
              </p:ext>
            </p:extLst>
          </p:nvPr>
        </p:nvGraphicFramePr>
        <p:xfrm>
          <a:off x="11339529" y="4023360"/>
          <a:ext cx="2836758" cy="2939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A7922D96-3DA1-45EC-A4CD-0B8E767A2A17}"/>
              </a:ext>
            </a:extLst>
          </p:cNvPr>
          <p:cNvSpPr>
            <a:spLocks/>
          </p:cNvSpPr>
          <p:nvPr/>
        </p:nvSpPr>
        <p:spPr>
          <a:xfrm>
            <a:off x="3807028" y="440437"/>
            <a:ext cx="7016344" cy="115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defTabSz="1463040">
              <a:lnSpc>
                <a:spcPts val="8960"/>
              </a:lnSpc>
              <a:buClr>
                <a:srgbClr val="000000"/>
              </a:buClr>
            </a:pPr>
            <a:r>
              <a:rPr lang="es-VE" sz="8640" b="1" kern="0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  <a:sym typeface="Arial"/>
              </a:rPr>
              <a:t>CAPITULO IV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60F73B4-810F-BD14-7D71-2B2F10333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838314"/>
              </p:ext>
            </p:extLst>
          </p:nvPr>
        </p:nvGraphicFramePr>
        <p:xfrm>
          <a:off x="305351" y="3497447"/>
          <a:ext cx="10907702" cy="381810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216144">
                  <a:extLst>
                    <a:ext uri="{9D8B030D-6E8A-4147-A177-3AD203B41FA5}">
                      <a16:colId xmlns:a16="http://schemas.microsoft.com/office/drawing/2014/main" val="1918817957"/>
                    </a:ext>
                  </a:extLst>
                </a:gridCol>
                <a:gridCol w="2645537">
                  <a:extLst>
                    <a:ext uri="{9D8B030D-6E8A-4147-A177-3AD203B41FA5}">
                      <a16:colId xmlns:a16="http://schemas.microsoft.com/office/drawing/2014/main" val="780229548"/>
                    </a:ext>
                  </a:extLst>
                </a:gridCol>
                <a:gridCol w="2673470">
                  <a:extLst>
                    <a:ext uri="{9D8B030D-6E8A-4147-A177-3AD203B41FA5}">
                      <a16:colId xmlns:a16="http://schemas.microsoft.com/office/drawing/2014/main" val="487339448"/>
                    </a:ext>
                  </a:extLst>
                </a:gridCol>
                <a:gridCol w="3109571">
                  <a:extLst>
                    <a:ext uri="{9D8B030D-6E8A-4147-A177-3AD203B41FA5}">
                      <a16:colId xmlns:a16="http://schemas.microsoft.com/office/drawing/2014/main" val="1934454738"/>
                    </a:ext>
                  </a:extLst>
                </a:gridCol>
                <a:gridCol w="1262980">
                  <a:extLst>
                    <a:ext uri="{9D8B030D-6E8A-4147-A177-3AD203B41FA5}">
                      <a16:colId xmlns:a16="http://schemas.microsoft.com/office/drawing/2014/main" val="457859776"/>
                    </a:ext>
                  </a:extLst>
                </a:gridCol>
              </a:tblGrid>
              <a:tr h="1612320">
                <a:tc>
                  <a:txBody>
                    <a:bodyPr/>
                    <a:lstStyle/>
                    <a:p>
                      <a:pPr algn="l"/>
                      <a:endParaRPr lang="es-VE" sz="2400" b="1" noProof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Generación de reportes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Seguridad y confidencialidad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Interfaz amigable e intuitiva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Otros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335263"/>
                  </a:ext>
                </a:extLst>
              </a:tr>
              <a:tr h="11021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363254"/>
                  </a:ext>
                </a:extLst>
              </a:tr>
              <a:tr h="11035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54371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802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3D875-E295-7C35-C796-C23F5B67F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EA346-4412-64B2-4BF5-833A12729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074" y="1831332"/>
            <a:ext cx="9234252" cy="701731"/>
          </a:xfrm>
        </p:spPr>
        <p:txBody>
          <a:bodyPr wrap="square">
            <a:spAutoFit/>
          </a:bodyPr>
          <a:lstStyle/>
          <a:p>
            <a:r>
              <a:rPr lang="es-VE" sz="4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Cuantificación De Los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A0B3F0-079F-1AAD-FFD9-CD46DD678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02" y="2636690"/>
            <a:ext cx="12618720" cy="757130"/>
          </a:xfrm>
        </p:spPr>
        <p:txBody>
          <a:bodyPr>
            <a:spAutoFit/>
          </a:bodyPr>
          <a:lstStyle/>
          <a:p>
            <a:r>
              <a:rPr lang="es-E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Ítem 5. ¿Cuáles son los principales desafíos que enfrentan actualmente en el proceso de registro y control de datos?</a:t>
            </a:r>
            <a:endParaRPr lang="es-VE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383A12FD-4882-8567-15B5-82103E4DBE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150988"/>
              </p:ext>
            </p:extLst>
          </p:nvPr>
        </p:nvGraphicFramePr>
        <p:xfrm>
          <a:off x="11339529" y="4023360"/>
          <a:ext cx="2836758" cy="2939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4261B029-3080-BCF1-169A-4CFFE6838619}"/>
              </a:ext>
            </a:extLst>
          </p:cNvPr>
          <p:cNvSpPr>
            <a:spLocks/>
          </p:cNvSpPr>
          <p:nvPr/>
        </p:nvSpPr>
        <p:spPr>
          <a:xfrm>
            <a:off x="3807028" y="440437"/>
            <a:ext cx="7016344" cy="115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defTabSz="1463040">
              <a:lnSpc>
                <a:spcPts val="8960"/>
              </a:lnSpc>
              <a:buClr>
                <a:srgbClr val="000000"/>
              </a:buClr>
            </a:pPr>
            <a:r>
              <a:rPr lang="es-VE" sz="8640" b="1" kern="0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  <a:sym typeface="Arial"/>
              </a:rPr>
              <a:t>CAPITULO IV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28AABC6-B9A6-7D62-4390-4B7257469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400352"/>
              </p:ext>
            </p:extLst>
          </p:nvPr>
        </p:nvGraphicFramePr>
        <p:xfrm>
          <a:off x="305351" y="3497447"/>
          <a:ext cx="10907702" cy="381810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216144">
                  <a:extLst>
                    <a:ext uri="{9D8B030D-6E8A-4147-A177-3AD203B41FA5}">
                      <a16:colId xmlns:a16="http://schemas.microsoft.com/office/drawing/2014/main" val="1918817957"/>
                    </a:ext>
                  </a:extLst>
                </a:gridCol>
                <a:gridCol w="2645537">
                  <a:extLst>
                    <a:ext uri="{9D8B030D-6E8A-4147-A177-3AD203B41FA5}">
                      <a16:colId xmlns:a16="http://schemas.microsoft.com/office/drawing/2014/main" val="780229548"/>
                    </a:ext>
                  </a:extLst>
                </a:gridCol>
                <a:gridCol w="2673470">
                  <a:extLst>
                    <a:ext uri="{9D8B030D-6E8A-4147-A177-3AD203B41FA5}">
                      <a16:colId xmlns:a16="http://schemas.microsoft.com/office/drawing/2014/main" val="487339448"/>
                    </a:ext>
                  </a:extLst>
                </a:gridCol>
                <a:gridCol w="3109571">
                  <a:extLst>
                    <a:ext uri="{9D8B030D-6E8A-4147-A177-3AD203B41FA5}">
                      <a16:colId xmlns:a16="http://schemas.microsoft.com/office/drawing/2014/main" val="1934454738"/>
                    </a:ext>
                  </a:extLst>
                </a:gridCol>
                <a:gridCol w="1262980">
                  <a:extLst>
                    <a:ext uri="{9D8B030D-6E8A-4147-A177-3AD203B41FA5}">
                      <a16:colId xmlns:a16="http://schemas.microsoft.com/office/drawing/2014/main" val="457859776"/>
                    </a:ext>
                  </a:extLst>
                </a:gridCol>
              </a:tblGrid>
              <a:tr h="1612320">
                <a:tc>
                  <a:txBody>
                    <a:bodyPr/>
                    <a:lstStyle/>
                    <a:p>
                      <a:pPr algn="l"/>
                      <a:endParaRPr lang="es-VE" sz="2400" b="1" noProof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Falta de tiempo para registrar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Dificultad para acceder a la información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Errores humanos en el proceso de registro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Otros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335263"/>
                  </a:ext>
                </a:extLst>
              </a:tr>
              <a:tr h="11021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363254"/>
                  </a:ext>
                </a:extLst>
              </a:tr>
              <a:tr h="11035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371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656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D45C0-59D9-B33B-3C1D-C13E1841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F6348-FF23-9724-7F5B-596DC035C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074" y="1831332"/>
            <a:ext cx="9234252" cy="701731"/>
          </a:xfrm>
        </p:spPr>
        <p:txBody>
          <a:bodyPr wrap="square">
            <a:spAutoFit/>
          </a:bodyPr>
          <a:lstStyle/>
          <a:p>
            <a:r>
              <a:rPr lang="es-VE" sz="4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Cuantificación De Los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66056D-BA9E-79DA-2DDC-860BB7BF8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02" y="2636690"/>
            <a:ext cx="12618720" cy="757130"/>
          </a:xfrm>
        </p:spPr>
        <p:txBody>
          <a:bodyPr>
            <a:spAutoFit/>
          </a:bodyPr>
          <a:lstStyle/>
          <a:p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Ítem 6. ¿Qué preocupaciones o reservas tendrías respecto a la implementación de un sistema automatizado en el departamento de estadística de salud?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10F9D77-03A7-6DDC-EDF5-B2E0BB628ECA}"/>
              </a:ext>
            </a:extLst>
          </p:cNvPr>
          <p:cNvGraphicFramePr>
            <a:graphicFrameLocks noGrp="1"/>
          </p:cNvGraphicFramePr>
          <p:nvPr/>
        </p:nvGraphicFramePr>
        <p:xfrm>
          <a:off x="432436" y="3632958"/>
          <a:ext cx="10907702" cy="4332527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216144">
                  <a:extLst>
                    <a:ext uri="{9D8B030D-6E8A-4147-A177-3AD203B41FA5}">
                      <a16:colId xmlns:a16="http://schemas.microsoft.com/office/drawing/2014/main" val="1127648128"/>
                    </a:ext>
                  </a:extLst>
                </a:gridCol>
                <a:gridCol w="2645537">
                  <a:extLst>
                    <a:ext uri="{9D8B030D-6E8A-4147-A177-3AD203B41FA5}">
                      <a16:colId xmlns:a16="http://schemas.microsoft.com/office/drawing/2014/main" val="1061974371"/>
                    </a:ext>
                  </a:extLst>
                </a:gridCol>
                <a:gridCol w="2673470">
                  <a:extLst>
                    <a:ext uri="{9D8B030D-6E8A-4147-A177-3AD203B41FA5}">
                      <a16:colId xmlns:a16="http://schemas.microsoft.com/office/drawing/2014/main" val="576324791"/>
                    </a:ext>
                  </a:extLst>
                </a:gridCol>
                <a:gridCol w="3109571">
                  <a:extLst>
                    <a:ext uri="{9D8B030D-6E8A-4147-A177-3AD203B41FA5}">
                      <a16:colId xmlns:a16="http://schemas.microsoft.com/office/drawing/2014/main" val="1648439541"/>
                    </a:ext>
                  </a:extLst>
                </a:gridCol>
                <a:gridCol w="1262980">
                  <a:extLst>
                    <a:ext uri="{9D8B030D-6E8A-4147-A177-3AD203B41FA5}">
                      <a16:colId xmlns:a16="http://schemas.microsoft.com/office/drawing/2014/main" val="3329865360"/>
                    </a:ext>
                  </a:extLst>
                </a:gridCol>
              </a:tblGrid>
              <a:tr h="1612320">
                <a:tc>
                  <a:txBody>
                    <a:bodyPr/>
                    <a:lstStyle/>
                    <a:p>
                      <a:pPr algn="l"/>
                      <a:endParaRPr lang="es-VE" sz="2400" b="1" noProof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Resistencia al cambio por parte de los usuarios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Posible pérdida de información durante la transición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Costos asociados a la implementación y mantenimiento del sistema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b="1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Otros</a:t>
                      </a:r>
                      <a:endParaRPr lang="es-VE" sz="2400" b="1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7784662"/>
                  </a:ext>
                </a:extLst>
              </a:tr>
              <a:tr h="11021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600491"/>
                  </a:ext>
                </a:extLst>
              </a:tr>
              <a:tr h="11035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24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s-VE" sz="24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6703" marR="967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14704794"/>
                  </a:ext>
                </a:extLst>
              </a:tr>
            </a:tbl>
          </a:graphicData>
        </a:graphic>
      </p:graphicFrame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DB8721B-AA21-24CE-BE6E-B5544BD73935}"/>
              </a:ext>
            </a:extLst>
          </p:cNvPr>
          <p:cNvGraphicFramePr/>
          <p:nvPr/>
        </p:nvGraphicFramePr>
        <p:xfrm>
          <a:off x="11516140" y="4311017"/>
          <a:ext cx="2872191" cy="2976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0C3C539A-DB8E-3B12-9BFB-BAA81109F666}"/>
              </a:ext>
            </a:extLst>
          </p:cNvPr>
          <p:cNvSpPr>
            <a:spLocks/>
          </p:cNvSpPr>
          <p:nvPr/>
        </p:nvSpPr>
        <p:spPr>
          <a:xfrm>
            <a:off x="3807028" y="440437"/>
            <a:ext cx="7016344" cy="115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defTabSz="1463040">
              <a:lnSpc>
                <a:spcPts val="8960"/>
              </a:lnSpc>
              <a:buClr>
                <a:srgbClr val="000000"/>
              </a:buClr>
            </a:pPr>
            <a:r>
              <a:rPr lang="es-VE" sz="8640" b="1" kern="0" noProof="0" dirty="0">
                <a:solidFill>
                  <a:srgbClr val="3D3DFF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  <a:sym typeface="Arial"/>
              </a:rPr>
              <a:t>CAPITULO IV</a:t>
            </a:r>
          </a:p>
        </p:txBody>
      </p:sp>
    </p:spTree>
    <p:extLst>
      <p:ext uri="{BB962C8B-B14F-4D97-AF65-F5344CB8AC3E}">
        <p14:creationId xmlns:p14="http://schemas.microsoft.com/office/powerpoint/2010/main" val="641133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8ED4A-A24F-84FB-9706-300EC88AF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882622"/>
            <a:ext cx="6678328" cy="701731"/>
          </a:xfr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VE" sz="4400" b="1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 Funcionales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D970FE-7AF0-7B8A-9B4A-1985EA6CF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028825"/>
            <a:ext cx="12618720" cy="5762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VE" b="1" noProof="0" dirty="0"/>
              <a:t>💡 </a:t>
            </a:r>
            <a:r>
              <a:rPr lang="es-VE" b="1" dirty="0"/>
              <a:t>Registro de directores</a:t>
            </a:r>
            <a:r>
              <a:rPr lang="es-VE" b="1" noProof="0" dirty="0"/>
              <a:t>		💡 Autenticación de usuarios</a:t>
            </a:r>
          </a:p>
          <a:p>
            <a:pPr marL="0" indent="0">
              <a:buNone/>
            </a:pPr>
            <a:r>
              <a:rPr lang="es-VE" b="1" noProof="0" dirty="0"/>
              <a:t>	</a:t>
            </a:r>
            <a:endParaRPr lang="es-VE" noProof="0" dirty="0"/>
          </a:p>
          <a:p>
            <a:pPr marL="0" indent="0">
              <a:buNone/>
            </a:pPr>
            <a:r>
              <a:rPr lang="es-VE" b="1" noProof="0" dirty="0"/>
              <a:t>💡 Selección de departamento	💡 Registro de consultas</a:t>
            </a:r>
          </a:p>
          <a:p>
            <a:pPr marL="0" indent="0">
              <a:buNone/>
            </a:pPr>
            <a:endParaRPr lang="es-VE" noProof="0" dirty="0"/>
          </a:p>
          <a:p>
            <a:pPr marL="0" indent="0">
              <a:buNone/>
            </a:pPr>
            <a:r>
              <a:rPr lang="es-VE" b="1" noProof="0" dirty="0"/>
              <a:t>💡 Registro de pacientes</a:t>
            </a:r>
            <a:r>
              <a:rPr lang="es-VE" noProof="0" dirty="0"/>
              <a:t>		💡 </a:t>
            </a:r>
            <a:r>
              <a:rPr lang="es-VE" b="1" noProof="0" dirty="0"/>
              <a:t>Registro de hospitalizaciones</a:t>
            </a:r>
          </a:p>
          <a:p>
            <a:pPr marL="0" indent="0">
              <a:buNone/>
            </a:pPr>
            <a:endParaRPr lang="es-VE" noProof="0" dirty="0"/>
          </a:p>
          <a:p>
            <a:pPr marL="0" indent="0">
              <a:buNone/>
            </a:pPr>
            <a:r>
              <a:rPr lang="es-VE" b="1" noProof="0" dirty="0"/>
              <a:t>💡 Registro de doctores</a:t>
            </a:r>
            <a:r>
              <a:rPr lang="es-VE" noProof="0" dirty="0"/>
              <a:t>			💡 </a:t>
            </a:r>
            <a:r>
              <a:rPr lang="es-VE" b="1" noProof="0" dirty="0"/>
              <a:t>Respaldo y restauración</a:t>
            </a:r>
          </a:p>
          <a:p>
            <a:pPr marL="0" indent="0">
              <a:buNone/>
            </a:pPr>
            <a:endParaRPr lang="es-VE" b="1" dirty="0"/>
          </a:p>
          <a:p>
            <a:pPr marL="0" indent="0">
              <a:buNone/>
            </a:pPr>
            <a:r>
              <a:rPr lang="es-VE" dirty="0"/>
              <a:t>💡 </a:t>
            </a:r>
            <a:r>
              <a:rPr lang="es-VE" b="1" dirty="0"/>
              <a:t>Generar reportes EPI-11 y EPI-15	</a:t>
            </a:r>
            <a:r>
              <a:rPr lang="es-VE" dirty="0"/>
              <a:t>💡 </a:t>
            </a:r>
            <a:r>
              <a:rPr lang="es-VE" b="1" dirty="0"/>
              <a:t>Exportar reportes en PDF</a:t>
            </a:r>
            <a:endParaRPr lang="es-VE" noProof="0" dirty="0"/>
          </a:p>
        </p:txBody>
      </p:sp>
      <p:pic>
        <p:nvPicPr>
          <p:cNvPr id="2050" name="Picture 2" descr="Requisitos - Iconos gratis de computadora">
            <a:extLst>
              <a:ext uri="{FF2B5EF4-FFF2-40B4-BE49-F238E27FC236}">
                <a16:creationId xmlns:a16="http://schemas.microsoft.com/office/drawing/2014/main" id="{43A0DB88-EB2F-F4B7-8921-77BF38541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4520" y="169544"/>
            <a:ext cx="1859282" cy="185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810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B13C1-0654-CED7-C6FA-4FBC27993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7512518" cy="15906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VE" sz="4400" b="1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 No Funcionales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AC99CDB-38F0-B6D7-88FB-4129818C7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04075"/>
              </p:ext>
            </p:extLst>
          </p:nvPr>
        </p:nvGraphicFramePr>
        <p:xfrm>
          <a:off x="411483" y="2196470"/>
          <a:ext cx="4968234" cy="41106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57738">
                  <a:extLst>
                    <a:ext uri="{9D8B030D-6E8A-4147-A177-3AD203B41FA5}">
                      <a16:colId xmlns:a16="http://schemas.microsoft.com/office/drawing/2014/main" val="773328077"/>
                    </a:ext>
                  </a:extLst>
                </a:gridCol>
                <a:gridCol w="3010496">
                  <a:extLst>
                    <a:ext uri="{9D8B030D-6E8A-4147-A177-3AD203B41FA5}">
                      <a16:colId xmlns:a16="http://schemas.microsoft.com/office/drawing/2014/main" val="2056880038"/>
                    </a:ext>
                  </a:extLst>
                </a:gridCol>
              </a:tblGrid>
              <a:tr h="60206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ID RNF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>
                    <a:solidFill>
                      <a:srgbClr val="3D3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Nombre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>
                    <a:solidFill>
                      <a:srgbClr val="3D3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407903"/>
                  </a:ext>
                </a:extLst>
              </a:tr>
              <a:tr h="7070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RNF-01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Transparencia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extLst>
                  <a:ext uri="{0D108BD9-81ED-4DB2-BD59-A6C34878D82A}">
                    <a16:rowId xmlns:a16="http://schemas.microsoft.com/office/drawing/2014/main" val="2959814948"/>
                  </a:ext>
                </a:extLst>
              </a:tr>
              <a:tr h="7070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RNF-02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Seguridad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extLst>
                  <a:ext uri="{0D108BD9-81ED-4DB2-BD59-A6C34878D82A}">
                    <a16:rowId xmlns:a16="http://schemas.microsoft.com/office/drawing/2014/main" val="1870654282"/>
                  </a:ext>
                </a:extLst>
              </a:tr>
              <a:tr h="7070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RNF-03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Rendimiento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extLst>
                  <a:ext uri="{0D108BD9-81ED-4DB2-BD59-A6C34878D82A}">
                    <a16:rowId xmlns:a16="http://schemas.microsoft.com/office/drawing/2014/main" val="1419736823"/>
                  </a:ext>
                </a:extLst>
              </a:tr>
              <a:tr h="7070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RNF-04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Auditoria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extLst>
                  <a:ext uri="{0D108BD9-81ED-4DB2-BD59-A6C34878D82A}">
                    <a16:rowId xmlns:a16="http://schemas.microsoft.com/office/drawing/2014/main" val="4190538515"/>
                  </a:ext>
                </a:extLst>
              </a:tr>
              <a:tr h="60206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RNF-05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Recuperabilidad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extLst>
                  <a:ext uri="{0D108BD9-81ED-4DB2-BD59-A6C34878D82A}">
                    <a16:rowId xmlns:a16="http://schemas.microsoft.com/office/drawing/2014/main" val="1675684587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59B0F98-C713-F8EB-E6CE-4B9B2FB1C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496125"/>
              </p:ext>
            </p:extLst>
          </p:nvPr>
        </p:nvGraphicFramePr>
        <p:xfrm>
          <a:off x="5730240" y="2196470"/>
          <a:ext cx="4678680" cy="34694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43639">
                  <a:extLst>
                    <a:ext uri="{9D8B030D-6E8A-4147-A177-3AD203B41FA5}">
                      <a16:colId xmlns:a16="http://schemas.microsoft.com/office/drawing/2014/main" val="773328077"/>
                    </a:ext>
                  </a:extLst>
                </a:gridCol>
                <a:gridCol w="2835041">
                  <a:extLst>
                    <a:ext uri="{9D8B030D-6E8A-4147-A177-3AD203B41FA5}">
                      <a16:colId xmlns:a16="http://schemas.microsoft.com/office/drawing/2014/main" val="2056880038"/>
                    </a:ext>
                  </a:extLst>
                </a:gridCol>
              </a:tblGrid>
              <a:tr h="60206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ID RNF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>
                    <a:solidFill>
                      <a:srgbClr val="3D3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Nombre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>
                    <a:solidFill>
                      <a:srgbClr val="3D3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407903"/>
                  </a:ext>
                </a:extLst>
              </a:tr>
              <a:tr h="7070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RNF-06</a:t>
                      </a:r>
                    </a:p>
                  </a:txBody>
                  <a:tcPr marL="36248" marR="3624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Portabilidad</a:t>
                      </a:r>
                    </a:p>
                  </a:txBody>
                  <a:tcPr marL="36248" marR="36248" marT="0" marB="0" anchor="ctr"/>
                </a:tc>
                <a:extLst>
                  <a:ext uri="{0D108BD9-81ED-4DB2-BD59-A6C34878D82A}">
                    <a16:rowId xmlns:a16="http://schemas.microsoft.com/office/drawing/2014/main" val="954688905"/>
                  </a:ext>
                </a:extLst>
              </a:tr>
              <a:tr h="7070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RNF-07</a:t>
                      </a:r>
                    </a:p>
                  </a:txBody>
                  <a:tcPr marL="36248" marR="3624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Compatibilidad</a:t>
                      </a:r>
                    </a:p>
                  </a:txBody>
                  <a:tcPr marL="36248" marR="36248" marT="0" marB="0" anchor="ctr"/>
                </a:tc>
                <a:extLst>
                  <a:ext uri="{0D108BD9-81ED-4DB2-BD59-A6C34878D82A}">
                    <a16:rowId xmlns:a16="http://schemas.microsoft.com/office/drawing/2014/main" val="3314110045"/>
                  </a:ext>
                </a:extLst>
              </a:tr>
              <a:tr h="7070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RNF-08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Usabilidad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extLst>
                  <a:ext uri="{0D108BD9-81ED-4DB2-BD59-A6C34878D82A}">
                    <a16:rowId xmlns:a16="http://schemas.microsoft.com/office/drawing/2014/main" val="2959814948"/>
                  </a:ext>
                </a:extLst>
              </a:tr>
              <a:tr h="7070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RNF-09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VE" sz="3200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Disponibilidad</a:t>
                      </a:r>
                      <a:endParaRPr lang="es-VE" sz="32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6248" marR="36248" marT="0" marB="0" anchor="ctr"/>
                </a:tc>
                <a:extLst>
                  <a:ext uri="{0D108BD9-81ED-4DB2-BD59-A6C34878D82A}">
                    <a16:rowId xmlns:a16="http://schemas.microsoft.com/office/drawing/2014/main" val="1870654282"/>
                  </a:ext>
                </a:extLst>
              </a:tr>
            </a:tbl>
          </a:graphicData>
        </a:graphic>
      </p:graphicFrame>
      <p:pic>
        <p:nvPicPr>
          <p:cNvPr id="1028" name="Picture 4" descr="requerimientos no funcionales software">
            <a:extLst>
              <a:ext uri="{FF2B5EF4-FFF2-40B4-BE49-F238E27FC236}">
                <a16:creationId xmlns:a16="http://schemas.microsoft.com/office/drawing/2014/main" id="{13F21C17-3588-711F-B5D3-DF2B24EE43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1" r="9375"/>
          <a:stretch>
            <a:fillRect/>
          </a:stretch>
        </p:blipFill>
        <p:spPr bwMode="auto">
          <a:xfrm>
            <a:off x="10546081" y="3562719"/>
            <a:ext cx="3845044" cy="442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xamen - Iconos gratis de educación">
            <a:extLst>
              <a:ext uri="{FF2B5EF4-FFF2-40B4-BE49-F238E27FC236}">
                <a16:creationId xmlns:a16="http://schemas.microsoft.com/office/drawing/2014/main" id="{98C5DA3D-0DF7-B653-9B13-D36C114CD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2718" y="662941"/>
            <a:ext cx="2731770" cy="273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744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C5CF9-D8EB-3667-6334-B44679568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3118"/>
            <a:ext cx="5183160" cy="1590676"/>
          </a:xfrm>
        </p:spPr>
        <p:txBody>
          <a:bodyPr>
            <a:normAutofit/>
          </a:bodyPr>
          <a:lstStyle/>
          <a:p>
            <a:pPr algn="ctr"/>
            <a:r>
              <a:rPr lang="es-VE" sz="4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Diagrama General De Casos De Uso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524DD8-6463-6C23-4751-03625F9B0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062" y="40745"/>
            <a:ext cx="7821125" cy="81888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136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079CFEC-721A-7DCE-A376-32A018109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4"/>
          <a:stretch>
            <a:fillRect/>
          </a:stretch>
        </p:blipFill>
        <p:spPr bwMode="auto">
          <a:xfrm>
            <a:off x="92422" y="3032567"/>
            <a:ext cx="6001239" cy="34369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C67BBAD3-AD94-B970-05D9-393CE24F1943}"/>
              </a:ext>
            </a:extLst>
          </p:cNvPr>
          <p:cNvSpPr txBox="1">
            <a:spLocks/>
          </p:cNvSpPr>
          <p:nvPr/>
        </p:nvSpPr>
        <p:spPr>
          <a:xfrm>
            <a:off x="1827317" y="389243"/>
            <a:ext cx="9602683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972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VE" sz="4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Ejemplar De Caso De Uso</a:t>
            </a:r>
          </a:p>
          <a:p>
            <a:pPr algn="ctr"/>
            <a:r>
              <a:rPr lang="es-VE" sz="4400" b="1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Consultar Paciente</a:t>
            </a:r>
            <a:endParaRPr lang="es-VE" sz="4400" b="1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9388B65-8210-6C50-5FB8-496D4D2F1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358876"/>
              </p:ext>
            </p:extLst>
          </p:nvPr>
        </p:nvGraphicFramePr>
        <p:xfrm>
          <a:off x="6093661" y="2291744"/>
          <a:ext cx="8052603" cy="53070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9377">
                  <a:extLst>
                    <a:ext uri="{9D8B030D-6E8A-4147-A177-3AD203B41FA5}">
                      <a16:colId xmlns:a16="http://schemas.microsoft.com/office/drawing/2014/main" val="3503176437"/>
                    </a:ext>
                  </a:extLst>
                </a:gridCol>
                <a:gridCol w="509842">
                  <a:extLst>
                    <a:ext uri="{9D8B030D-6E8A-4147-A177-3AD203B41FA5}">
                      <a16:colId xmlns:a16="http://schemas.microsoft.com/office/drawing/2014/main" val="1367439382"/>
                    </a:ext>
                  </a:extLst>
                </a:gridCol>
                <a:gridCol w="6343384">
                  <a:extLst>
                    <a:ext uri="{9D8B030D-6E8A-4147-A177-3AD203B41FA5}">
                      <a16:colId xmlns:a16="http://schemas.microsoft.com/office/drawing/2014/main" val="1840021048"/>
                    </a:ext>
                  </a:extLst>
                </a:gridCol>
              </a:tblGrid>
              <a:tr h="23448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 dirty="0">
                          <a:effectLst/>
                        </a:rPr>
                        <a:t>Caso de uso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>
                    <a:solidFill>
                      <a:srgbClr val="3D3D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 dirty="0" err="1">
                          <a:effectLst/>
                        </a:rPr>
                        <a:t>CU06</a:t>
                      </a:r>
                      <a:r>
                        <a:rPr lang="es-VE" sz="1200" kern="100" dirty="0">
                          <a:effectLst/>
                        </a:rPr>
                        <a:t>-Consultar paciente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>
                    <a:solidFill>
                      <a:srgbClr val="3D3D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3181"/>
                  </a:ext>
                </a:extLst>
              </a:tr>
              <a:tr h="23448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 dirty="0">
                          <a:effectLst/>
                        </a:rPr>
                        <a:t>Actores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>
                    <a:solidFill>
                      <a:srgbClr val="3D3D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Secretario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tc h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53520"/>
                  </a:ext>
                </a:extLst>
              </a:tr>
              <a:tr h="50198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Descripción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>
                    <a:solidFill>
                      <a:srgbClr val="3D3D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El secretario y cargos superiores pueden consultar los pacientes y ver las consultas y hospitalizaciones anexadas a su historial médico.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tc h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545866"/>
                  </a:ext>
                </a:extLst>
              </a:tr>
              <a:tr h="50198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 dirty="0">
                          <a:effectLst/>
                        </a:rPr>
                        <a:t>Precondición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>
                    <a:solidFill>
                      <a:srgbClr val="3D3D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- El secretario debe haber iniciado sesión en el sistema.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- El paciente debe haber sido registrado en el sistema.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tc h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549526"/>
                  </a:ext>
                </a:extLst>
              </a:tr>
              <a:tr h="23448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Postcondición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>
                    <a:solidFill>
                      <a:srgbClr val="3D3D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El secretario obtiene una vista sobre los pacientes con la posibilidad de ver sus detalles.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tc h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342617"/>
                  </a:ext>
                </a:extLst>
              </a:tr>
              <a:tr h="234489">
                <a:tc row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 dirty="0">
                          <a:effectLst/>
                        </a:rPr>
                        <a:t>Flujo normal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>
                    <a:solidFill>
                      <a:srgbClr val="3D3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Paso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Acción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extLst>
                  <a:ext uri="{0D108BD9-81ED-4DB2-BD59-A6C34878D82A}">
                    <a16:rowId xmlns:a16="http://schemas.microsoft.com/office/drawing/2014/main" val="1998940162"/>
                  </a:ext>
                </a:extLst>
              </a:tr>
              <a:tr h="501980">
                <a:tc v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1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El secretario selecciona la opción “Pacientes” del menú de navegación.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extLst>
                  <a:ext uri="{0D108BD9-81ED-4DB2-BD59-A6C34878D82A}">
                    <a16:rowId xmlns:a16="http://schemas.microsoft.com/office/drawing/2014/main" val="1661469951"/>
                  </a:ext>
                </a:extLst>
              </a:tr>
              <a:tr h="501980">
                <a:tc v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2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El sistema muestra un listado de pacientes con sus filtros por nombre o cédula del paciente.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extLst>
                  <a:ext uri="{0D108BD9-81ED-4DB2-BD59-A6C34878D82A}">
                    <a16:rowId xmlns:a16="http://schemas.microsoft.com/office/drawing/2014/main" val="774094469"/>
                  </a:ext>
                </a:extLst>
              </a:tr>
              <a:tr h="769471">
                <a:tc v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3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Al ingresar el nombre o cédula en los filtros, el listado mostrará los resultados solicitados con la opción de ver los detalles de los pacientes.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extLst>
                  <a:ext uri="{0D108BD9-81ED-4DB2-BD59-A6C34878D82A}">
                    <a16:rowId xmlns:a16="http://schemas.microsoft.com/office/drawing/2014/main" val="1082475588"/>
                  </a:ext>
                </a:extLst>
              </a:tr>
              <a:tr h="234489">
                <a:tc row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 dirty="0">
                          <a:effectLst/>
                        </a:rPr>
                        <a:t>Flujo de error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>
                    <a:solidFill>
                      <a:srgbClr val="3D3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Paso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Acción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extLst>
                  <a:ext uri="{0D108BD9-81ED-4DB2-BD59-A6C34878D82A}">
                    <a16:rowId xmlns:a16="http://schemas.microsoft.com/office/drawing/2014/main" val="3678480234"/>
                  </a:ext>
                </a:extLst>
              </a:tr>
              <a:tr h="769471">
                <a:tc v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2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>
                          <a:effectLst/>
                        </a:rPr>
                        <a:t>El sistema debe notificar si no hay registros existentes de acuerdo al nombre o la cédula ingresada.</a:t>
                      </a:r>
                      <a:endParaRPr lang="es-VE" sz="12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extLst>
                  <a:ext uri="{0D108BD9-81ED-4DB2-BD59-A6C34878D82A}">
                    <a16:rowId xmlns:a16="http://schemas.microsoft.com/office/drawing/2014/main" val="3131266"/>
                  </a:ext>
                </a:extLst>
              </a:tr>
              <a:tr h="50198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 dirty="0">
                          <a:effectLst/>
                        </a:rPr>
                        <a:t>Observaciones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>
                    <a:solidFill>
                      <a:srgbClr val="3D3D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VE" sz="1200" kern="100" dirty="0">
                          <a:effectLst/>
                        </a:rPr>
                        <a:t>La consulta de pacientes debe tener un filtro por nombre y cédula para obtener resultados más específicos.</a:t>
                      </a:r>
                      <a:endParaRPr lang="es-VE" sz="12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73" marR="66873" marT="0" marB="0"/>
                </a:tc>
                <a:tc h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126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3502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12718-CE3E-B1F4-5AB9-CD8941BBE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4E30BE0-2B3C-D39E-25FB-87301CA65579}"/>
              </a:ext>
            </a:extLst>
          </p:cNvPr>
          <p:cNvSpPr txBox="1">
            <a:spLocks/>
          </p:cNvSpPr>
          <p:nvPr/>
        </p:nvSpPr>
        <p:spPr>
          <a:xfrm>
            <a:off x="827161" y="3267766"/>
            <a:ext cx="533387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972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VE" sz="4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Diagrama De Secuencia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88AF7E-F504-A60A-5848-D2F7E3965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193473">
            <a:off x="-6025377" y="1464688"/>
            <a:ext cx="8948964" cy="12105059"/>
            <a:chOff x="4855953" y="-2833465"/>
            <a:chExt cx="8948964" cy="12105059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D1784369-6BDA-E018-6EA6-AE687260EF0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407CC62D-BEF9-3C0E-81F7-C65241B05DC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09EC20B8-12E5-ADBE-E871-AE717CF5A4AC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grpSp>
        <p:nvGrpSpPr>
          <p:cNvPr id="8" name="Group 1">
            <a:extLst>
              <a:ext uri="{FF2B5EF4-FFF2-40B4-BE49-F238E27FC236}">
                <a16:creationId xmlns:a16="http://schemas.microsoft.com/office/drawing/2014/main" id="{3AE06102-AE6E-83E5-B1FB-BE7A86A8C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6626713">
            <a:off x="-7265893" y="-5447888"/>
            <a:ext cx="8948964" cy="12105059"/>
            <a:chOff x="4855953" y="-2833465"/>
            <a:chExt cx="8948964" cy="12105059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BC826030-D95E-366A-92C1-F5198AAA21CA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CA4D9D57-D2D0-AACE-A480-ADD63F6B651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84A4E264-2F42-1AE5-438E-AC004B11893B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B6C05443-7309-E205-2E26-8ECF58972B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27" b="5591"/>
          <a:stretch>
            <a:fillRect/>
          </a:stretch>
        </p:blipFill>
        <p:spPr bwMode="auto">
          <a:xfrm>
            <a:off x="5864800" y="227855"/>
            <a:ext cx="6908155" cy="78516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62254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BEE55746-577D-8D8A-467E-0D30DCDC6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1956" y="277470"/>
            <a:ext cx="7527533" cy="701731"/>
          </a:xfrm>
        </p:spPr>
        <p:txBody>
          <a:bodyPr vert="horz" lIns="91440" tIns="45720" rIns="91440" bIns="45720" rtlCol="0" anchor="ctr">
            <a:spAutoFit/>
          </a:bodyPr>
          <a:lstStyle/>
          <a:p>
            <a:pPr algn="ctr" defTabSz="1097253"/>
            <a:r>
              <a:rPr lang="es-VE" sz="4400" b="1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Diagrama De Colaboración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9508EC0-CCD3-FA2C-3D2B-8A08BEC518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95" t="-2668" r="-2122" b="-1448"/>
          <a:stretch>
            <a:fillRect/>
          </a:stretch>
        </p:blipFill>
        <p:spPr bwMode="auto">
          <a:xfrm>
            <a:off x="2673151" y="971512"/>
            <a:ext cx="9284097" cy="72580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AA4D793-9D51-3792-C879-9D3D49BE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4616202">
            <a:off x="9487272" y="4179490"/>
            <a:ext cx="8948964" cy="12105059"/>
            <a:chOff x="4855953" y="-2833465"/>
            <a:chExt cx="8948964" cy="12105059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90D0B75A-00CE-7DC4-BBBD-7724A97E0336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D8D64C21-ADFA-F667-9689-37FAB280469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F6F0D41A-AFE2-9B7D-5820-7C850EB42E1A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grpSp>
        <p:nvGrpSpPr>
          <p:cNvPr id="7" name="Group 1">
            <a:extLst>
              <a:ext uri="{FF2B5EF4-FFF2-40B4-BE49-F238E27FC236}">
                <a16:creationId xmlns:a16="http://schemas.microsoft.com/office/drawing/2014/main" id="{058FE7A4-3FBF-D5FC-46A2-07DEB9AD3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9418830">
            <a:off x="-5234964" y="2822734"/>
            <a:ext cx="8948964" cy="12105059"/>
            <a:chOff x="4855953" y="-2833465"/>
            <a:chExt cx="8948964" cy="12105059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E1DBEA42-33C4-CF55-676A-B888D815331C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62D4C36F-E3D0-E8F0-5EB0-2C4D6F146C44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E27FC9F-1CD8-6039-5FC3-AA1B155DC82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615502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E98A-43E7-D46C-2776-C27DA617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86259DC0-CC14-CEF8-A6CE-E1EEF24C1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003" y="337942"/>
            <a:ext cx="7174956" cy="76407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F852779-4D5F-7A66-6C52-CF30B3F6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235" y="3040478"/>
            <a:ext cx="6612472" cy="15906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1097253"/>
            <a:r>
              <a:rPr lang="es-VE" sz="4400" b="1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Diagrama De Actividades</a:t>
            </a:r>
          </a:p>
        </p:txBody>
      </p:sp>
      <p:grpSp>
        <p:nvGrpSpPr>
          <p:cNvPr id="4" name="Group 1">
            <a:extLst>
              <a:ext uri="{FF2B5EF4-FFF2-40B4-BE49-F238E27FC236}">
                <a16:creationId xmlns:a16="http://schemas.microsoft.com/office/drawing/2014/main" id="{E5465844-CD46-F59B-EEBE-61C947FE5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4616202">
            <a:off x="10193472" y="4016059"/>
            <a:ext cx="8599856" cy="12105059"/>
            <a:chOff x="4855953" y="-2833465"/>
            <a:chExt cx="8948964" cy="12105059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D32A8AEE-D840-A414-D029-52DF0DD489C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AB5DC05C-2DC5-305F-9B5B-C15A74E7D2A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230CA154-8BE3-A211-CD99-94AA6C862A46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grpSp>
        <p:nvGrpSpPr>
          <p:cNvPr id="8" name="Group 1">
            <a:extLst>
              <a:ext uri="{FF2B5EF4-FFF2-40B4-BE49-F238E27FC236}">
                <a16:creationId xmlns:a16="http://schemas.microsoft.com/office/drawing/2014/main" id="{F64A4DCF-2B89-7940-DDD4-7A692E6FF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8833001">
            <a:off x="-5747586" y="2946248"/>
            <a:ext cx="8948964" cy="12105059"/>
            <a:chOff x="4855953" y="-2833465"/>
            <a:chExt cx="8948964" cy="12105059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CDEE48F4-854C-6207-5DFB-B68F0AEB0916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A66F2D0B-BCC5-EEC9-1BDA-D28EFC06078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CF709BAC-21DB-272C-8D6A-160564623AB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53361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C54CF29-ACE7-AD67-EA86-AD18228E2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517" y="1466980"/>
            <a:ext cx="9148868" cy="679488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324C9CF3-3BE2-D40C-21A4-C1B1DDA29AB2}"/>
              </a:ext>
            </a:extLst>
          </p:cNvPr>
          <p:cNvSpPr txBox="1">
            <a:spLocks/>
          </p:cNvSpPr>
          <p:nvPr/>
        </p:nvSpPr>
        <p:spPr>
          <a:xfrm>
            <a:off x="3753999" y="0"/>
            <a:ext cx="6900359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972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VE" sz="4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Diagrama De Clases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697E8D-92E3-0C92-7F0B-0CE55128A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4616202">
            <a:off x="9487272" y="4179490"/>
            <a:ext cx="8948964" cy="12105059"/>
            <a:chOff x="4855953" y="-2833465"/>
            <a:chExt cx="8948964" cy="12105059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AF528DB7-D05E-AFFA-1B48-1FDDC23622A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573A9AE0-C02B-5473-4A4A-6AF4D410292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BD9C329B-434D-9DD6-081B-5D119A4257D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grpSp>
        <p:nvGrpSpPr>
          <p:cNvPr id="8" name="Group 1">
            <a:extLst>
              <a:ext uri="{FF2B5EF4-FFF2-40B4-BE49-F238E27FC236}">
                <a16:creationId xmlns:a16="http://schemas.microsoft.com/office/drawing/2014/main" id="{A2CFA8DA-BB24-69F1-5BC2-5C0852630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9751703">
            <a:off x="-8106933" y="-7051787"/>
            <a:ext cx="8948964" cy="12105059"/>
            <a:chOff x="4855953" y="-2833465"/>
            <a:chExt cx="8948964" cy="12105059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7615075C-A854-5686-0767-C5CD11F820F6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2F135A9E-95D7-A553-F64B-2FE1FBEC6C15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891AE649-5532-FDD3-08B9-78C4D78D279C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066330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D1E4F-A666-2F01-7AC3-562A5CE7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E8357CA8-B764-9DDE-68E0-2AF657DC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4" y="335283"/>
            <a:ext cx="9467846" cy="1590676"/>
          </a:xfrm>
        </p:spPr>
        <p:txBody>
          <a:bodyPr>
            <a:normAutofit/>
          </a:bodyPr>
          <a:lstStyle/>
          <a:p>
            <a:pPr algn="ctr"/>
            <a:r>
              <a:rPr lang="es-VE" sz="4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Diagrama Entidad Relación (DER)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76DA5E-75A2-5B39-0578-475D5EA47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3971250">
            <a:off x="10688279" y="2749535"/>
            <a:ext cx="8948964" cy="12105059"/>
            <a:chOff x="4855953" y="-2833465"/>
            <a:chExt cx="8948964" cy="12105059"/>
          </a:xfrm>
        </p:grpSpPr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DD443462-1C63-A278-CEB4-3AD6F6CD3743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639AA97E-EFB3-1768-C336-179C33C18F2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3069C5BE-8D78-AEF9-EA1F-B2376EAA73D3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grpSp>
        <p:nvGrpSpPr>
          <p:cNvPr id="8" name="Group 1">
            <a:extLst>
              <a:ext uri="{FF2B5EF4-FFF2-40B4-BE49-F238E27FC236}">
                <a16:creationId xmlns:a16="http://schemas.microsoft.com/office/drawing/2014/main" id="{9161F2BB-43DD-9B01-96FC-C662F51EA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238810">
            <a:off x="12928925" y="-5272966"/>
            <a:ext cx="8948964" cy="12105059"/>
            <a:chOff x="4855953" y="-2833465"/>
            <a:chExt cx="8948964" cy="12105059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7A9DFBE5-11B2-AF1A-477A-0F555E5CC83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36F25D82-7865-E843-DB5D-3CF69426CFA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656721CF-3412-B1B5-3502-C0B14AEDA73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pic>
        <p:nvPicPr>
          <p:cNvPr id="20" name="Imagen 19">
            <a:extLst>
              <a:ext uri="{FF2B5EF4-FFF2-40B4-BE49-F238E27FC236}">
                <a16:creationId xmlns:a16="http://schemas.microsoft.com/office/drawing/2014/main" id="{6BF17D7E-E0CF-C5D5-09B4-DE19AEAC83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69" t="-1655" r="-1944" b="-1558"/>
          <a:stretch>
            <a:fillRect/>
          </a:stretch>
        </p:blipFill>
        <p:spPr bwMode="auto">
          <a:xfrm>
            <a:off x="2645700" y="1582755"/>
            <a:ext cx="6774538" cy="66781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2" name="Group 1">
            <a:extLst>
              <a:ext uri="{FF2B5EF4-FFF2-40B4-BE49-F238E27FC236}">
                <a16:creationId xmlns:a16="http://schemas.microsoft.com/office/drawing/2014/main" id="{4D5BD7AF-099F-7898-AD6E-8FF0B4889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9852877">
            <a:off x="-5680490" y="2730078"/>
            <a:ext cx="8948964" cy="12105059"/>
            <a:chOff x="4855953" y="-2833465"/>
            <a:chExt cx="8948964" cy="12105059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C6DC3B8F-4DC0-D434-4D4B-F673E0BE839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7260D94C-601C-62A6-8900-9D15FCF2373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BE1C68A-6DF1-6C6D-943B-55F10627400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grpSp>
        <p:nvGrpSpPr>
          <p:cNvPr id="16" name="Group 1">
            <a:extLst>
              <a:ext uri="{FF2B5EF4-FFF2-40B4-BE49-F238E27FC236}">
                <a16:creationId xmlns:a16="http://schemas.microsoft.com/office/drawing/2014/main" id="{7C675327-92B9-5AFC-7A02-AF0A33313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-7816378" y="-4425199"/>
            <a:ext cx="8948964" cy="12105059"/>
            <a:chOff x="4855953" y="-2833465"/>
            <a:chExt cx="8948964" cy="12105059"/>
          </a:xfrm>
        </p:grpSpPr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CC358F9-89BB-A762-2F02-8227CFDCE2FB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EDF3F51-4148-B635-9757-E94CAF762245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A845805-76F7-9BDA-090B-D3163C082F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505334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352E800-21AA-8BA7-68BA-7535A2ED41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76" y="1100516"/>
            <a:ext cx="12973516" cy="705551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B0727A07-FDF6-2B6C-0FDE-BE99CB43C088}"/>
              </a:ext>
            </a:extLst>
          </p:cNvPr>
          <p:cNvSpPr txBox="1">
            <a:spLocks/>
          </p:cNvSpPr>
          <p:nvPr/>
        </p:nvSpPr>
        <p:spPr>
          <a:xfrm>
            <a:off x="291546" y="-153232"/>
            <a:ext cx="8301309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972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VE" sz="4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Diccionario de Base de Datos</a:t>
            </a:r>
          </a:p>
        </p:txBody>
      </p:sp>
      <p:pic>
        <p:nvPicPr>
          <p:cNvPr id="7" name="Gráfico 6" descr="Database contorno">
            <a:extLst>
              <a:ext uri="{FF2B5EF4-FFF2-40B4-BE49-F238E27FC236}">
                <a16:creationId xmlns:a16="http://schemas.microsoft.com/office/drawing/2014/main" id="{D5037763-661F-8FE2-68F4-CD971AC87D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76298" y="5150734"/>
            <a:ext cx="2395960" cy="239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16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FFA8C61-6CD7-D21A-DB07-83E301EDBC62}"/>
              </a:ext>
            </a:extLst>
          </p:cNvPr>
          <p:cNvSpPr txBox="1">
            <a:spLocks/>
          </p:cNvSpPr>
          <p:nvPr/>
        </p:nvSpPr>
        <p:spPr>
          <a:xfrm>
            <a:off x="5357853" y="882193"/>
            <a:ext cx="3914693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10972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VE" sz="5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Modelado Del Negocio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9A4054D-D458-1089-C7EE-8FE52AF841E9}"/>
              </a:ext>
            </a:extLst>
          </p:cNvPr>
          <p:cNvSpPr/>
          <p:nvPr/>
        </p:nvSpPr>
        <p:spPr>
          <a:xfrm>
            <a:off x="1511138" y="3086262"/>
            <a:ext cx="2134434" cy="716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36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Objetivos</a:t>
            </a:r>
            <a:endParaRPr lang="es-VE" sz="3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8E52F109-BD1B-DB95-827A-B975B3B4B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7418562">
            <a:off x="5066686" y="5542855"/>
            <a:ext cx="8390147" cy="12105059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6290B6B-8CE9-24B4-6F78-4D880FD875E3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4C5F6C92-6A5E-3DE2-0B35-ED5DEADA1314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CD63EB59-22D0-D396-F880-554DA4068BA4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103019" y="-1950981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A53E0169-82EA-2A4A-42AB-349A1648C119}"/>
              </a:ext>
            </a:extLst>
          </p:cNvPr>
          <p:cNvSpPr/>
          <p:nvPr/>
        </p:nvSpPr>
        <p:spPr>
          <a:xfrm>
            <a:off x="6247982" y="3102630"/>
            <a:ext cx="2134434" cy="716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36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Procesos</a:t>
            </a:r>
            <a:endParaRPr lang="es-VE" sz="3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FB957B1-0C59-68E9-F637-CACBF4821E92}"/>
              </a:ext>
            </a:extLst>
          </p:cNvPr>
          <p:cNvSpPr/>
          <p:nvPr/>
        </p:nvSpPr>
        <p:spPr>
          <a:xfrm>
            <a:off x="10984826" y="3099595"/>
            <a:ext cx="1538690" cy="716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s-VE" sz="3600" b="1" noProof="0" dirty="0">
                <a:solidFill>
                  <a:srgbClr val="272525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Reglas</a:t>
            </a:r>
            <a:endParaRPr lang="es-VE" sz="3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02" name="Picture 6" descr="Reglas - Iconos gratis de negocio">
            <a:extLst>
              <a:ext uri="{FF2B5EF4-FFF2-40B4-BE49-F238E27FC236}">
                <a16:creationId xmlns:a16="http://schemas.microsoft.com/office/drawing/2014/main" id="{08EDB1DF-7CF5-078E-2A4F-BBFEC7785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107" y="3695141"/>
            <a:ext cx="3749040" cy="374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Objetivos - Iconos gratis de negocio">
            <a:extLst>
              <a:ext uri="{FF2B5EF4-FFF2-40B4-BE49-F238E27FC236}">
                <a16:creationId xmlns:a16="http://schemas.microsoft.com/office/drawing/2014/main" id="{B9008EA8-CCB1-BFBC-41AF-E8BF7FF6B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53" y="3623031"/>
            <a:ext cx="4373880" cy="437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roceso - Iconos gratis de negocio">
            <a:extLst>
              <a:ext uri="{FF2B5EF4-FFF2-40B4-BE49-F238E27FC236}">
                <a16:creationId xmlns:a16="http://schemas.microsoft.com/office/drawing/2014/main" id="{5C2E7DE3-E46C-B6D0-01C7-CB5F59FB5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038" y="3910685"/>
            <a:ext cx="3439693" cy="343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">
            <a:extLst>
              <a:ext uri="{FF2B5EF4-FFF2-40B4-BE49-F238E27FC236}">
                <a16:creationId xmlns:a16="http://schemas.microsoft.com/office/drawing/2014/main" id="{F5B98414-F07C-25A7-3D44-7CF95260E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6355238">
            <a:off x="-3439463" y="-8582237"/>
            <a:ext cx="8948964" cy="12105059"/>
            <a:chOff x="4855953" y="-2833465"/>
            <a:chExt cx="8948964" cy="12105059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8DEFCDC5-CCD0-BAE8-250E-ACD0AA902A96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0769F7C4-14DA-F293-D0D3-8E4695D803FC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C62DEBD-326D-F4DF-EBC9-0F7C318B61D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103019" y="-1950981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39970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7BE1012-88A4-051F-5C0F-860F94B77E4B}"/>
              </a:ext>
            </a:extLst>
          </p:cNvPr>
          <p:cNvSpPr txBox="1">
            <a:spLocks/>
          </p:cNvSpPr>
          <p:nvPr/>
        </p:nvSpPr>
        <p:spPr>
          <a:xfrm>
            <a:off x="6219826" y="209547"/>
            <a:ext cx="7098030" cy="78105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10972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097280">
              <a:spcAft>
                <a:spcPts val="600"/>
              </a:spcAft>
            </a:pPr>
            <a:r>
              <a:rPr lang="es-VE" sz="384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 De Actores Del Negocio</a:t>
            </a:r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7295B1B9-2633-ABCA-F181-D570045713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235474"/>
              </p:ext>
            </p:extLst>
          </p:nvPr>
        </p:nvGraphicFramePr>
        <p:xfrm>
          <a:off x="6219826" y="1184911"/>
          <a:ext cx="7406640" cy="5848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F56BA2E3-ED12-5E0A-1EE5-0A6C99AC8C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528" y="1885491"/>
            <a:ext cx="6175298" cy="4303675"/>
          </a:xfrm>
          <a:prstGeom prst="rect">
            <a:avLst/>
          </a:prstGeom>
        </p:spPr>
      </p:pic>
      <p:grpSp>
        <p:nvGrpSpPr>
          <p:cNvPr id="5" name="Group 1">
            <a:extLst>
              <a:ext uri="{FF2B5EF4-FFF2-40B4-BE49-F238E27FC236}">
                <a16:creationId xmlns:a16="http://schemas.microsoft.com/office/drawing/2014/main" id="{761D946B-909C-E203-8EF7-335D73601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7418562">
            <a:off x="4900023" y="5280817"/>
            <a:ext cx="8948964" cy="12105059"/>
            <a:chOff x="4855953" y="-2833465"/>
            <a:chExt cx="8948964" cy="12105059"/>
          </a:xfrm>
        </p:grpSpPr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1DAA70AC-3B17-413D-E6CC-5D7CBB90BEE0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8A9902E0-34C3-97A3-1F24-37924B32158B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D97BBD1-BB78-9786-87E4-D085AE7B886C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103019" y="-1950981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87814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30D55-93A7-7966-A488-DE7E69CB7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05AFAAA-EF45-EF01-CE81-9D691917AC68}"/>
              </a:ext>
            </a:extLst>
          </p:cNvPr>
          <p:cNvSpPr txBox="1">
            <a:spLocks/>
          </p:cNvSpPr>
          <p:nvPr/>
        </p:nvSpPr>
        <p:spPr>
          <a:xfrm>
            <a:off x="4883874" y="155008"/>
            <a:ext cx="75530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10972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VE" sz="5400" b="1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Especificaciones técnicas del sistema automatizado</a:t>
            </a:r>
            <a:endParaRPr lang="es-VE" sz="5400" b="1" noProof="0" dirty="0">
              <a:solidFill>
                <a:srgbClr val="3D3D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319A9544-3706-24DC-FA6A-D113F1186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7418562">
            <a:off x="5066686" y="5542855"/>
            <a:ext cx="8390147" cy="12105059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05175000-6BA9-D35A-63B6-385D0BE7029C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8CC015F0-7B48-149B-E55F-99EB344F41E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A641A7E7-2F89-9B93-FF7A-E9BB18CA9D4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103019" y="-1950981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grpSp>
        <p:nvGrpSpPr>
          <p:cNvPr id="17" name="Group 1">
            <a:extLst>
              <a:ext uri="{FF2B5EF4-FFF2-40B4-BE49-F238E27FC236}">
                <a16:creationId xmlns:a16="http://schemas.microsoft.com/office/drawing/2014/main" id="{858A068C-8B03-17EF-38A7-D288CB611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6355238">
            <a:off x="-3439463" y="-8582237"/>
            <a:ext cx="8948964" cy="12105059"/>
            <a:chOff x="4855953" y="-2833465"/>
            <a:chExt cx="8948964" cy="12105059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9695AE23-D8CE-4865-FEBB-24B92F26A01C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61D23E5-77DD-FA6E-68A6-03A3BF1BBDA4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E3E22891-06B7-49BF-4A20-1033BB85A9C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103019" y="-1950981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pic>
        <p:nvPicPr>
          <p:cNvPr id="24" name="Imagen 23">
            <a:extLst>
              <a:ext uri="{FF2B5EF4-FFF2-40B4-BE49-F238E27FC236}">
                <a16:creationId xmlns:a16="http://schemas.microsoft.com/office/drawing/2014/main" id="{2B9115BC-C82D-30EE-8CE9-912A87261C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7" r="4387"/>
          <a:stretch>
            <a:fillRect/>
          </a:stretch>
        </p:blipFill>
        <p:spPr>
          <a:xfrm>
            <a:off x="189499" y="1454631"/>
            <a:ext cx="14328605" cy="659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92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5E52A-DFCE-034A-3EB1-D37231BB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2D75EB18-3C22-6A98-2405-60FE7EB9DB87}"/>
              </a:ext>
            </a:extLst>
          </p:cNvPr>
          <p:cNvSpPr txBox="1">
            <a:spLocks/>
          </p:cNvSpPr>
          <p:nvPr/>
        </p:nvSpPr>
        <p:spPr>
          <a:xfrm>
            <a:off x="790770" y="1067265"/>
            <a:ext cx="498930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972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VE" sz="5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9A19A7EA-58BF-163D-BAB7-93E3713C8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7418562">
            <a:off x="5066686" y="5542855"/>
            <a:ext cx="8390147" cy="12105059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4B55E3B5-7D78-4CDA-FE35-9DC1B25B3E6C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B3E1E96E-66F0-C45A-A704-A78233C5B470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1FD04A08-C1D8-2D8E-4FBD-C66503DBD60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103019" y="-1950981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grpSp>
        <p:nvGrpSpPr>
          <p:cNvPr id="17" name="Group 1">
            <a:extLst>
              <a:ext uri="{FF2B5EF4-FFF2-40B4-BE49-F238E27FC236}">
                <a16:creationId xmlns:a16="http://schemas.microsoft.com/office/drawing/2014/main" id="{F54EB759-6163-FB5E-C771-B63ED05C3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6355238">
            <a:off x="-3439463" y="-8582237"/>
            <a:ext cx="8948964" cy="12105059"/>
            <a:chOff x="4855953" y="-2833465"/>
            <a:chExt cx="8948964" cy="12105059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A51511C0-E1C5-0B0D-CD89-7A7DA6C3DAC3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21FA47AA-B497-6925-4569-1B3BAA8250F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42B759B3-B762-8D39-9083-31CA2E65B7B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103019" y="-1950981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D1C7223-2C77-4D28-360A-5A9C02F45235}"/>
              </a:ext>
            </a:extLst>
          </p:cNvPr>
          <p:cNvSpPr txBox="1">
            <a:spLocks/>
          </p:cNvSpPr>
          <p:nvPr/>
        </p:nvSpPr>
        <p:spPr>
          <a:xfrm>
            <a:off x="7533659" y="1067265"/>
            <a:ext cx="637203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972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VE" sz="5400" b="1" noProof="0" dirty="0">
                <a:solidFill>
                  <a:srgbClr val="3D3D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Recomendaciones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7B33AC-9670-D386-6601-5932F067726F}"/>
              </a:ext>
            </a:extLst>
          </p:cNvPr>
          <p:cNvSpPr txBox="1"/>
          <p:nvPr/>
        </p:nvSpPr>
        <p:spPr>
          <a:xfrm>
            <a:off x="613942" y="2373882"/>
            <a:ext cx="586911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🏥 Modernización del sistema estadístico del HAJU</a:t>
            </a:r>
          </a:p>
          <a:p>
            <a:endParaRPr lang="es-ES" sz="3200" dirty="0"/>
          </a:p>
          <a:p>
            <a:r>
              <a:rPr lang="es-ES" sz="3200" dirty="0"/>
              <a:t>⚙️ Solución eficiente basada en RUP y Marco Lógico</a:t>
            </a:r>
          </a:p>
          <a:p>
            <a:endParaRPr lang="es-ES" sz="3200" dirty="0"/>
          </a:p>
          <a:p>
            <a:r>
              <a:rPr lang="es-ES" sz="3200" dirty="0"/>
              <a:t>📈 Reportes más rápidos y datos precisos</a:t>
            </a:r>
          </a:p>
          <a:p>
            <a:endParaRPr lang="es-ES" sz="3200" dirty="0"/>
          </a:p>
          <a:p>
            <a:r>
              <a:rPr lang="es-ES" sz="3200" dirty="0"/>
              <a:t>🤝 Éxito gracias al trabajo colaborativo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6D5BA03-EEFC-6BAC-80AC-FAFF40563DD4}"/>
              </a:ext>
            </a:extLst>
          </p:cNvPr>
          <p:cNvSpPr txBox="1"/>
          <p:nvPr/>
        </p:nvSpPr>
        <p:spPr>
          <a:xfrm>
            <a:off x="7543108" y="2373882"/>
            <a:ext cx="586911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🧠 Capacitación semestral sobre reportes y seguridad</a:t>
            </a:r>
          </a:p>
          <a:p>
            <a:endParaRPr lang="es-ES" sz="3200" dirty="0"/>
          </a:p>
          <a:p>
            <a:r>
              <a:rPr lang="es-ES" sz="3200" dirty="0"/>
              <a:t>🛠️ Equipo interno de soporte y gestión de incidencias</a:t>
            </a:r>
          </a:p>
          <a:p>
            <a:endParaRPr lang="es-ES" sz="3200" dirty="0"/>
          </a:p>
          <a:p>
            <a:r>
              <a:rPr lang="es-ES" sz="3200" dirty="0"/>
              <a:t>📤 Automatización de reportes con alertas integradas</a:t>
            </a:r>
          </a:p>
          <a:p>
            <a:endParaRPr lang="es-ES" sz="3200" dirty="0"/>
          </a:p>
          <a:p>
            <a:r>
              <a:rPr lang="es-ES" sz="3200" dirty="0"/>
              <a:t>🔒 Reforzar uso seguro y motivar adopción del sistema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5BC570F-4E2A-BDAC-0A97-AF788095EA97}"/>
              </a:ext>
            </a:extLst>
          </p:cNvPr>
          <p:cNvCxnSpPr/>
          <p:nvPr/>
        </p:nvCxnSpPr>
        <p:spPr>
          <a:xfrm>
            <a:off x="6749869" y="272716"/>
            <a:ext cx="0" cy="7610366"/>
          </a:xfrm>
          <a:prstGeom prst="line">
            <a:avLst/>
          </a:prstGeom>
          <a:ln w="76200">
            <a:solidFill>
              <a:srgbClr val="3D3DFF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5526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20D7189-89C5-5299-63FD-B14FC30212BF}"/>
              </a:ext>
            </a:extLst>
          </p:cNvPr>
          <p:cNvSpPr txBox="1"/>
          <p:nvPr/>
        </p:nvSpPr>
        <p:spPr>
          <a:xfrm rot="20394360">
            <a:off x="1863094" y="2240283"/>
            <a:ext cx="1020699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9900" b="1" noProof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3D3D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FACE6D-178F-D17E-6F18-24F0429E7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3971250">
            <a:off x="8399254" y="1594138"/>
            <a:ext cx="8948964" cy="12105059"/>
            <a:chOff x="4855953" y="-2833465"/>
            <a:chExt cx="8948964" cy="12105059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17CAED4C-00D4-195F-BF1E-1AAD570D992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EDB61169-49C6-E14E-DB19-90C840B163B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EDE8DE62-2090-7AD1-BA83-4F2DFEEA447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VE" noProof="0" dirty="0"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FB7A0705-800D-AD16-3005-0DAC86FA3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02513">
            <a:off x="-1448680" y="-3853583"/>
            <a:ext cx="6876464" cy="865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3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13C0CE-08D3-4FCA-820C-D4E1A73BC44C}">
  <we:reference id="wa200005566" version="3.0.0.3" store="es-MX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</TotalTime>
  <Words>1573</Words>
  <Application>Microsoft Office PowerPoint</Application>
  <PresentationFormat>Personalizado</PresentationFormat>
  <Paragraphs>366</Paragraphs>
  <Slides>36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2" baseType="lpstr">
      <vt:lpstr>Calibri Light</vt:lpstr>
      <vt:lpstr>Viga</vt:lpstr>
      <vt:lpstr>Arial</vt:lpstr>
      <vt:lpstr>Kumbh Sans</vt:lpstr>
      <vt:lpstr>Calibri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Cuantificación De Los Resultados</vt:lpstr>
      <vt:lpstr>Cuantificación De Los Resultados</vt:lpstr>
      <vt:lpstr>Cuantificación De Los Resultados</vt:lpstr>
      <vt:lpstr>Cuantificación De Los Resultados</vt:lpstr>
      <vt:lpstr>Cuantificación De Los Resultados</vt:lpstr>
      <vt:lpstr>Cuantificación De Los Resultados</vt:lpstr>
      <vt:lpstr>Requisitos Funcionales</vt:lpstr>
      <vt:lpstr>Requisitos No Funcionales</vt:lpstr>
      <vt:lpstr>Diagrama General De Casos De Uso</vt:lpstr>
      <vt:lpstr>Presentación de PowerPoint</vt:lpstr>
      <vt:lpstr>Presentación de PowerPoint</vt:lpstr>
      <vt:lpstr>Diagrama De Colaboración</vt:lpstr>
      <vt:lpstr>Diagrama De Actividades</vt:lpstr>
      <vt:lpstr>Presentación de PowerPoint</vt:lpstr>
      <vt:lpstr>Diagrama Entidad Relación (DER)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HAJU</dc:title>
  <dc:subject>PptxGenJS Presentation</dc:subject>
  <dc:creator>PptxGenJS</dc:creator>
  <cp:lastModifiedBy>Franyer Sanchez Guillen</cp:lastModifiedBy>
  <cp:revision>59</cp:revision>
  <dcterms:created xsi:type="dcterms:W3CDTF">2025-04-25T23:50:15Z</dcterms:created>
  <dcterms:modified xsi:type="dcterms:W3CDTF">2025-07-02T13:16:56Z</dcterms:modified>
</cp:coreProperties>
</file>